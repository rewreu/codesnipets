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12aba14f194355" /><Relationship Type="http://schemas.openxmlformats.org/officeDocument/2006/relationships/extended-properties" Target="/docProps/app.xml" Id="R9dfd847f520f4976" /><Relationship Type="http://schemas.openxmlformats.org/officeDocument/2006/relationships/officeDocument" Target="/ppt/presentation.xml" Id="R8afb06adad984033" /></Relationships>
</file>

<file path=ppt/presentation.xml><?xml version="1.0" encoding="utf-8"?>
<p:presentation xmlns:p="http://schemas.openxmlformats.org/presentationml/2006/main">
  <p:sldMasterIdLst>
    <p:sldMasterId xmlns:r="http://schemas.openxmlformats.org/officeDocument/2006/relationships" id="2147483648" r:id="R2a949eff62ef4d33"/>
  </p:sldMasterIdLst>
  <p:notesMasterIdLst>
    <p:notesMasterId xmlns:r="http://schemas.openxmlformats.org/officeDocument/2006/relationships" r:id="R5ea11c596497446a"/>
  </p:notesMasterIdLst>
  <p:sldIdLst>
    <p:sldId xmlns:r="http://schemas.openxmlformats.org/officeDocument/2006/relationships" id="256" r:id="R69f58be7eff543d5"/>
    <p:sldId xmlns:r="http://schemas.openxmlformats.org/officeDocument/2006/relationships" id="257" r:id="Rb4c4f778e7dc4fd1"/>
    <p:sldId xmlns:r="http://schemas.openxmlformats.org/officeDocument/2006/relationships" id="258" r:id="R273e4fb7dfb14c51"/>
    <p:sldId xmlns:r="http://schemas.openxmlformats.org/officeDocument/2006/relationships" id="259" r:id="R958cab5c949c4090"/>
    <p:sldId xmlns:r="http://schemas.openxmlformats.org/officeDocument/2006/relationships" id="260" r:id="R14920d33f3d447c9"/>
    <p:sldId xmlns:r="http://schemas.openxmlformats.org/officeDocument/2006/relationships" id="261" r:id="R6869f1411421489a"/>
    <p:sldId xmlns:r="http://schemas.openxmlformats.org/officeDocument/2006/relationships" id="262" r:id="Rc0e7f0cdafd3456b"/>
    <p:sldId xmlns:r="http://schemas.openxmlformats.org/officeDocument/2006/relationships" id="263" r:id="R6dfceca848594a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159615ec174764" /><Relationship Type="http://schemas.openxmlformats.org/officeDocument/2006/relationships/slideMaster" Target="/ppt/slideMasters/slideMaster1.xml" Id="R2a949eff62ef4d33" /><Relationship Type="http://schemas.openxmlformats.org/officeDocument/2006/relationships/notesMaster" Target="/ppt/notesMasters/notesMaster1.xml" Id="R5ea11c596497446a" /><Relationship Type="http://schemas.openxmlformats.org/officeDocument/2006/relationships/presProps" Target="/ppt/presProps.xml" Id="R6c449975ccf24453" /><Relationship Type="http://schemas.openxmlformats.org/officeDocument/2006/relationships/tableStyles" Target="/ppt/tableStyles.xml" Id="R85dd7512565a468b" /><Relationship Type="http://schemas.openxmlformats.org/officeDocument/2006/relationships/slide" Target="/ppt/slides/slide1.xml" Id="R69f58be7eff543d5" /><Relationship Type="http://schemas.openxmlformats.org/officeDocument/2006/relationships/slide" Target="/ppt/slides/slide2.xml" Id="Rb4c4f778e7dc4fd1" /><Relationship Type="http://schemas.openxmlformats.org/officeDocument/2006/relationships/slide" Target="/ppt/slides/slide3.xml" Id="R273e4fb7dfb14c51" /><Relationship Type="http://schemas.openxmlformats.org/officeDocument/2006/relationships/slide" Target="/ppt/slides/slide4.xml" Id="R958cab5c949c4090" /><Relationship Type="http://schemas.openxmlformats.org/officeDocument/2006/relationships/slide" Target="/ppt/slides/slide5.xml" Id="R14920d33f3d447c9" /><Relationship Type="http://schemas.openxmlformats.org/officeDocument/2006/relationships/slide" Target="/ppt/slides/slide6.xml" Id="R6869f1411421489a" /><Relationship Type="http://schemas.openxmlformats.org/officeDocument/2006/relationships/slide" Target="/ppt/slides/slide7.xml" Id="Rc0e7f0cdafd3456b" /><Relationship Type="http://schemas.openxmlformats.org/officeDocument/2006/relationships/slide" Target="/ppt/slides/slide8.xml" Id="R6dfceca848594a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83709c647146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c2e655c5e94f13" /><Relationship Type="http://schemas.openxmlformats.org/officeDocument/2006/relationships/notesMaster" Target="/ppt/notesMasters/notesMaster1.xml" Id="R360b367d334544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88733bdb3d400c" /><Relationship Type="http://schemas.openxmlformats.org/officeDocument/2006/relationships/notesMaster" Target="/ppt/notesMasters/notesMaster1.xml" Id="R55b673eae85f43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025eadb9f54762" /><Relationship Type="http://schemas.openxmlformats.org/officeDocument/2006/relationships/notesMaster" Target="/ppt/notesMasters/notesMaster1.xml" Id="Rece3286b2f834d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15b4358a9b4fc5" /><Relationship Type="http://schemas.openxmlformats.org/officeDocument/2006/relationships/notesMaster" Target="/ppt/notesMasters/notesMaster1.xml" Id="R4df38b1fab6849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d41b140c7146b9" /><Relationship Type="http://schemas.openxmlformats.org/officeDocument/2006/relationships/notesMaster" Target="/ppt/notesMasters/notesMaster1.xml" Id="Rdab349ddcd8345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90ca8b6e9a4f61" /><Relationship Type="http://schemas.openxmlformats.org/officeDocument/2006/relationships/notesMaster" Target="/ppt/notesMasters/notesMaster1.xml" Id="Rca70488d41a442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6183a25283432e" /><Relationship Type="http://schemas.openxmlformats.org/officeDocument/2006/relationships/notesMaster" Target="/ppt/notesMasters/notesMaster1.xml" Id="R99ea4401f4e946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2ca40d84ef453e" /><Relationship Type="http://schemas.openxmlformats.org/officeDocument/2006/relationships/notesMaster" Target="/ppt/notesMasters/notesMaster1.xml" Id="Rf9fb18f6728645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framing: both systems use in-context learning at prediction time, but they place relational reasoning in different parts of the pipeline. OpenRFM learns a reusable relational encoder and adds a batch-level ICL head; TabPFN-Rel flattens the database with deep feature synthesis and applies a frozen tabular foundation model. The papers use different task suites and evaluation protocols, so this is a mechanism comparison, not a head-to-head leaderboard.</a:t>
            </a:r>
          </a:p>
          <a:p xmlns:a="http://schemas.openxmlformats.org/drawingml/2006/main">
            <a:r>
              <a:t/>
            </a:r>
          </a:p>
          <a:p xmlns:a="http://schemas.openxmlformats.org/drawingml/2006/main">
            <a:r>
              <a:t>[Sources]</a:t>
            </a:r>
          </a:p>
          <a:p xmlns:a="http://schemas.openxmlformats.org/drawingml/2006/main">
            <a:r>
              <a:t>- OpenRFM — https://arxiv.org/abs/2606.04320</a:t>
            </a:r>
          </a:p>
          <a:p xmlns:a="http://schemas.openxmlformats.org/drawingml/2006/main">
            <a:r>
              <a:t>- RelArena-α / TabPFN-Rel — https://arxiv.org/abs/2608.16319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OpenRFM uses two axes of ICL: relation-level attention within each query context and batch-level attention across independently sampled support/query examples. TabPFN-Rel uses deep feature synthesis to materialize a single table and then asks TabPFN-3 to perform conventional tabular ICL. The two approaches could be composed: learned relational embeddings and engineered aggregates can become two feature branches feeding one batch-level ICL head.</a:t>
            </a:r>
          </a:p>
          <a:p xmlns:a="http://schemas.openxmlformats.org/drawingml/2006/main">
            <a:r>
              <a:t/>
            </a:r>
          </a:p>
          <a:p xmlns:a="http://schemas.openxmlformats.org/drawingml/2006/main">
            <a:r>
              <a:t>[Sources]</a:t>
            </a:r>
          </a:p>
          <a:p xmlns:a="http://schemas.openxmlformats.org/drawingml/2006/main">
            <a:r>
              <a:t>- OpenRFM Sections 3–4 — https://arxiv.org/html/2606.04320</a:t>
            </a:r>
          </a:p>
          <a:p xmlns:a="http://schemas.openxmlformats.org/drawingml/2006/main">
            <a:r>
              <a:t>- TabPFN-Rel Section 2.2 — https://arxiv.org/html/2608.16319v1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OpenRFM interprets the Relational Transformer as a kernel-regression-like in-context learner over labels encountered in each BFS relational walk. Low label reachability leaves an underdetermined support set. The reported examples illustrate the correlation rather than prove causality by themselves. Feature and label corruption experiments then show that PluRel-style synthetic pretraining often leaves the model in a lazy regime where relational features are weakly used.</a:t>
            </a:r>
          </a:p>
          <a:p xmlns:a="http://schemas.openxmlformats.org/drawingml/2006/main">
            <a:r>
              <a:t/>
            </a:r>
          </a:p>
          <a:p xmlns:a="http://schemas.openxmlformats.org/drawingml/2006/main">
            <a:r>
              <a:t>[Sources]</a:t>
            </a:r>
          </a:p>
          <a:p xmlns:a="http://schemas.openxmlformats.org/drawingml/2006/main">
            <a:r>
              <a:t>- OpenRFM Sections 3.1–3.2 and Table 3 — https://arxiv.org/html/2606.04320</a:t>
            </a:r>
          </a:p>
          <a:p xmlns:a="http://schemas.openxmlformats.org/drawingml/2006/main">
            <a:r>
              <a:t>- OpenRFM paper — https://arxiv.org/abs/2606.04320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deployed design is a practical bridge rather than one monolithic 2D Transformer. The paper reports that full end-to-end 2D attention reached low training loss but failed on downstream regression with R-squared around minus 4.3 and near-constant predictions. The stable recipe uses pooled relational embeddings, normalization and the original TabICL encoder/ICL stack; interleaving ICL layers between relational blocks gives limited task-dependent gains. TabICLv2 limits context to 2048 rows, so OpenRFM uses support-side ensembling over disjoint draws.</a:t>
            </a:r>
          </a:p>
          <a:p xmlns:a="http://schemas.openxmlformats.org/drawingml/2006/main">
            <a:r>
              <a:t/>
            </a:r>
          </a:p>
          <a:p xmlns:a="http://schemas.openxmlformats.org/drawingml/2006/main">
            <a:r>
              <a:t>[Sources]</a:t>
            </a:r>
          </a:p>
          <a:p xmlns:a="http://schemas.openxmlformats.org/drawingml/2006/main">
            <a:r>
              <a:t>- OpenRFM Section 4 and Figure 2 — https://arxiv.org/html/2606.04320</a:t>
            </a:r>
          </a:p>
          <a:p xmlns:a="http://schemas.openxmlformats.org/drawingml/2006/main">
            <a:r>
              <a:t>- Embedded figure crop — /Users/zhewu/Documents/Research/tmp/openrfm_tabpfn_deepdive_20260821/assets/openrfm_fig2_stack.png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 5 is cumulative. Adding the batch-level TabICL head raises binary AUC from 0.66 to 0.76—the largest single classification gain. Adding real data naively hurts; the prototype objective recovers performance. Eight support ensembles matter most for regression. Figure 3 reports OpenRFM at 4.92 mean rank over a 24-task mixed suite. Efficiency numbers are from one rel-stack benchmark on a single A6000; JUICE's displayed 13.6 minutes excludes 14 minutes of text encoding according to the caption. These results should not be compared numerically to RelArena Elo.</a:t>
            </a:r>
          </a:p>
          <a:p xmlns:a="http://schemas.openxmlformats.org/drawingml/2006/main">
            <a:r>
              <a:t/>
            </a:r>
          </a:p>
          <a:p xmlns:a="http://schemas.openxmlformats.org/drawingml/2006/main">
            <a:r>
              <a:t>[Sources]</a:t>
            </a:r>
          </a:p>
          <a:p xmlns:a="http://schemas.openxmlformats.org/drawingml/2006/main">
            <a:r>
              <a:t>- OpenRFM Figure 3 and Tables 4–6 — https://arxiv.org/html/2606.04320</a:t>
            </a:r>
          </a:p>
          <a:p xmlns:a="http://schemas.openxmlformats.org/drawingml/2006/main">
            <a:r>
              <a:t>- OpenRFM paper — https://arxiv.org/abs/2606.04320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TabPFN-Rel freezes the relational database at a temporal cutoff, enumerates primary-key/foreign-key join paths with deep feature synthesis and materializes one flat row per entity-cutoff. TabPFN-3 receives labeled context rows and unlabeled queries. Depth is selected from 2, 3 or 4 using an inner database frozen at the validation cutoff; final evaluation uses a database frozen at the test cutoff. The released setup uses eight estimators, each with 100,000 context rows sampled from the 400,000 most recent candidates. Thus it is no-gradient adaptation, but not zero-label adaptation.</a:t>
            </a:r>
          </a:p>
          <a:p xmlns:a="http://schemas.openxmlformats.org/drawingml/2006/main">
            <a:r>
              <a:t/>
            </a:r>
          </a:p>
          <a:p xmlns:a="http://schemas.openxmlformats.org/drawingml/2006/main">
            <a:r>
              <a:t>[Sources]</a:t>
            </a:r>
          </a:p>
          <a:p xmlns:a="http://schemas.openxmlformats.org/drawingml/2006/main">
            <a:r>
              <a:t>- TabPFN-Rel Section 2.2 and Figure 1 — https://arxiv.org/html/2608.16319v1</a:t>
            </a:r>
          </a:p>
          <a:p xmlns:a="http://schemas.openxmlformats.org/drawingml/2006/main">
            <a:r>
              <a:t>- Embedded official figure — /Users/zhewu/Documents/Research/tmp/openrfm_tabpfn_deepdive_20260821/assets/tabpfn_pipeline.png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panel is the standardized model leaderboard: TabPFN-Rel API ranks first at 1821 Elo, followed by OSS at 1706, GraphSAGE at 1658 and RelGT at 1575. The right panel includes separately categorized systems; RT-PluRel is 1861 and TabPFN-Rel API 1826. Elo is anchored at 1000 and relative to the submitted field. The paper emphasizes that text columns are critical mainly on rel-event/user-ignore and rel-avito/user-clicks. It also reports that preprocessing is expensive and excluded from its main runtime comparison. Temporal-boundary behavior is not yet perfectly uniform across method families.</a:t>
            </a:r>
          </a:p>
          <a:p xmlns:a="http://schemas.openxmlformats.org/drawingml/2006/main">
            <a:r>
              <a:t/>
            </a:r>
          </a:p>
          <a:p xmlns:a="http://schemas.openxmlformats.org/drawingml/2006/main">
            <a:r>
              <a:t>[Sources]</a:t>
            </a:r>
          </a:p>
          <a:p xmlns:a="http://schemas.openxmlformats.org/drawingml/2006/main">
            <a:r>
              <a:t>- RelArena-α Figure 2 and Sections 3.2–3.3 — https://arxiv.org/html/2608.16319v1</a:t>
            </a:r>
          </a:p>
          <a:p xmlns:a="http://schemas.openxmlformats.org/drawingml/2006/main">
            <a:r>
              <a:t>- Embedded official figure — /Users/zhewu/Documents/Research/tmp/openrfm_tabpfn_deepdive_20260821/assets/tabpfn_elo.png</a:t>
            </a:r>
          </a:p>
          <a:p xmlns:a="http://schemas.openxmlformats.org/drawingml/2006/main">
            <a:r>
              <a:t>- RelArena repository — https://github.com/PriorLabs/relarena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final slide separates evidence from hypothesis. OpenRFM and TabPFN-Rel are not presently comparable: OpenRFM predates TabPFN-Rel, uses a filtered 24-task mixed suite and a much smaller context; TabPFN-Rel uses the 21-task RelArena entity-forecasting suite with up to 800,000 context-row uses across eight estimators. A decisive experiment would lock identical snapshots, task definitions, support budgets and full pipeline wall-clock, then add held-out-database tests and task families where flattening is structurally lossy. The proposed RelGT-FM hybrid borrows OpenRFM's normalized batch-ICL bridge and keeps TabPFN-Rel-style aggregates as a residual/control branch. The predicted regime split is an inference, not a published result.</a:t>
            </a:r>
          </a:p>
          <a:p xmlns:a="http://schemas.openxmlformats.org/drawingml/2006/main">
            <a:r>
              <a:t/>
            </a:r>
          </a:p>
          <a:p xmlns:a="http://schemas.openxmlformats.org/drawingml/2006/main">
            <a:r>
              <a:t>[Sources]</a:t>
            </a:r>
          </a:p>
          <a:p xmlns:a="http://schemas.openxmlformats.org/drawingml/2006/main">
            <a:r>
              <a:t>- OpenRFM — https://arxiv.org/abs/2606.04320</a:t>
            </a:r>
          </a:p>
          <a:p xmlns:a="http://schemas.openxmlformats.org/drawingml/2006/main">
            <a:r>
              <a:t>- RelArena-α / TabPFN-Rel — https://arxiv.org/abs/2608.16319</a:t>
            </a:r>
          </a:p>
          <a:p xmlns:a="http://schemas.openxmlformats.org/drawingml/2006/main">
            <a:r>
              <a:t>- RelGT — https://arxiv.org/abs/2505.10960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e6720715344a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35fc3628d34b67" /><Relationship Type="http://schemas.openxmlformats.org/officeDocument/2006/relationships/slideLayout" Target="/ppt/slideLayouts/slideLayout1.xml" Id="Rb76116a189994b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6116a189994b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bbad4fa546449a" /><Relationship Type="http://schemas.openxmlformats.org/officeDocument/2006/relationships/notesSlide" Target="/ppt/notesSlides/notesSlide1.xml" Id="R12b2716f335144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87f6bf5bda4729" /><Relationship Type="http://schemas.openxmlformats.org/officeDocument/2006/relationships/notesSlide" Target="/ppt/notesSlides/notesSlide2.xml" Id="R794dc4d3e3604e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a52f95c7674c3c" /><Relationship Type="http://schemas.openxmlformats.org/officeDocument/2006/relationships/notesSlide" Target="/ppt/notesSlides/notesSlide3.xml" Id="R100eadc6e2834a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95bf8f832c448c" /><Relationship Type="http://schemas.openxmlformats.org/officeDocument/2006/relationships/image" Target="/ppt/media/image.png" Id="R3b09febda4f74151" /><Relationship Type="http://schemas.openxmlformats.org/officeDocument/2006/relationships/notesSlide" Target="/ppt/notesSlides/notesSlide4.xml" Id="R9908fb4b63964b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7f9ed3c20f4c4e" /><Relationship Type="http://schemas.openxmlformats.org/officeDocument/2006/relationships/notesSlide" Target="/ppt/notesSlides/notesSlide5.xml" Id="R5006d3bd6ad24b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27ca74288642ee" /><Relationship Type="http://schemas.openxmlformats.org/officeDocument/2006/relationships/image" Target="/ppt/media/image2.png" Id="R8bed6b4ee0d94db7" /><Relationship Type="http://schemas.openxmlformats.org/officeDocument/2006/relationships/notesSlide" Target="/ppt/notesSlides/notesSlide6.xml" Id="Rd3e09c05c1eb40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0b0ba03a504e64" /><Relationship Type="http://schemas.openxmlformats.org/officeDocument/2006/relationships/image" Target="/ppt/media/image3.png" Id="Rf6e8c77149334645" /><Relationship Type="http://schemas.openxmlformats.org/officeDocument/2006/relationships/notesSlide" Target="/ppt/notesSlides/notesSlide7.xml" Id="Rd19525348fb44e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7b13e8aa4440a3" /><Relationship Type="http://schemas.openxmlformats.org/officeDocument/2006/relationships/notesSlide" Target="/ppt/notesSlides/notesSlide8.xml" Id="Rae33f276adfa467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DEDEA2-759C-4112-AEFE-692335F3B79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
            <a:extLst xmlns:a="http://schemas.openxmlformats.org/drawingml/2006/main">
              <a:ext uri="{FF2B5EF4-FFF2-40B4-BE49-F238E27FC236}">
                <a16:creationId xmlns:a16="http://schemas.microsoft.com/office/drawing/2014/main" id="{5E7CEA53-5E8F-47A3-AB65-FC59C119A8E5}"/>
              </a:ext>
            </a:extLst>
          </p:cNvPr>
          <p:cNvSpPr>
            <a:spLocks xmlns:a="http://schemas.openxmlformats.org/drawingml/2006/main" noGrp="1"/>
          </p:cNvSpPr>
          <p:nvPr/>
        </p:nvSpPr>
        <p:spPr>
          <a:xfrm xmlns:a="http://schemas.openxmlformats.org/drawingml/2006/main">
            <a:off x="685800" y="5143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616873"/>
                </a:solidFill>
                <a:latin typeface="Helvetica Neue"/>
                <a:ea typeface="Helvetica Neue"/>
                <a:cs typeface="Helvetica Neue"/>
              </a:defRPr>
            </a:pPr>
            <a:r>
              <a:rPr sz="1200" b="1" i="0">
                <a:solidFill>
                  <a:srgbClr val="616873"/>
                </a:solidFill>
                <a:latin typeface="Helvetica Neue"/>
                <a:ea typeface="Helvetica Neue"/>
                <a:cs typeface="Helvetica Neue"/>
              </a:rPr>
              <a:t>PAPER DEEP DIVE · AUGUST 2026</a:t>
            </a:r>
          </a:p>
        </p:txBody>
      </p:sp>
      <p:sp>
        <p:nvSpPr>
          <p:cNvPr id="3" name="">
            <a:extLst xmlns:a="http://schemas.openxmlformats.org/drawingml/2006/main">
              <a:ext uri="{FF2B5EF4-FFF2-40B4-BE49-F238E27FC236}">
                <a16:creationId xmlns:a16="http://schemas.microsoft.com/office/drawing/2014/main" id="{615CDF7B-52FB-4AEF-A878-EFF06E9FE3FD}"/>
              </a:ext>
            </a:extLst>
          </p:cNvPr>
          <p:cNvSpPr>
            <a:spLocks xmlns:a="http://schemas.openxmlformats.org/drawingml/2006/main" noGrp="1"/>
          </p:cNvSpPr>
          <p:nvPr/>
        </p:nvSpPr>
        <p:spPr>
          <a:xfrm xmlns:a="http://schemas.openxmlformats.org/drawingml/2006/main">
            <a:off x="685800" y="1143000"/>
            <a:ext cx="6191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i="0">
                <a:solidFill>
                  <a:srgbClr val="000000"/>
                </a:solidFill>
                <a:latin typeface="Helvetica Neue"/>
                <a:ea typeface="Helvetica Neue"/>
                <a:cs typeface="Helvetica Neue"/>
              </a:defRPr>
            </a:pPr>
            <a:r>
              <a:rPr sz="5100" b="1" i="0">
                <a:solidFill>
                  <a:srgbClr val="000000"/>
                </a:solidFill>
                <a:latin typeface="Helvetica Neue"/>
                <a:ea typeface="Helvetica Neue"/>
                <a:cs typeface="Helvetica Neue"/>
              </a:rPr>
              <a:t>OpenRFM vs</a:t>
            </a:r>
          </a:p>
          <a:p xmlns:a="http://schemas.openxmlformats.org/drawingml/2006/main">
            <a:pPr algn="l">
              <a:defRPr sz="5100" b="1" i="0">
                <a:solidFill>
                  <a:srgbClr val="000000"/>
                </a:solidFill>
                <a:latin typeface="Helvetica Neue"/>
                <a:ea typeface="Helvetica Neue"/>
                <a:cs typeface="Helvetica Neue"/>
              </a:defRPr>
            </a:pPr>
            <a:r>
              <a:rPr sz="5100" b="1" i="0">
                <a:solidFill>
                  <a:srgbClr val="000000"/>
                </a:solidFill>
                <a:latin typeface="Helvetica Neue"/>
                <a:ea typeface="Helvetica Neue"/>
                <a:cs typeface="Helvetica Neue"/>
              </a:rPr>
              <a:t>TabPFN-Rel</a:t>
            </a:r>
          </a:p>
        </p:txBody>
      </p:sp>
      <p:sp>
        <p:nvSpPr>
          <p:cNvPr id="4" name="">
            <a:extLst xmlns:a="http://schemas.openxmlformats.org/drawingml/2006/main">
              <a:ext uri="{FF2B5EF4-FFF2-40B4-BE49-F238E27FC236}">
                <a16:creationId xmlns:a16="http://schemas.microsoft.com/office/drawing/2014/main" id="{FB1E7BD3-7D0C-4F92-9896-7BBFF0EDEF35}"/>
              </a:ext>
            </a:extLst>
          </p:cNvPr>
          <p:cNvSpPr>
            <a:spLocks xmlns:a="http://schemas.openxmlformats.org/drawingml/2006/main" noGrp="1"/>
          </p:cNvSpPr>
          <p:nvPr/>
        </p:nvSpPr>
        <p:spPr>
          <a:xfrm xmlns:a="http://schemas.openxmlformats.org/drawingml/2006/main">
            <a:off x="704850" y="3048000"/>
            <a:ext cx="5810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0" i="0">
                <a:solidFill>
                  <a:srgbClr val="22252B"/>
                </a:solidFill>
                <a:latin typeface="Helvetica Neue"/>
                <a:ea typeface="Helvetica Neue"/>
                <a:cs typeface="Helvetica Neue"/>
              </a:defRPr>
            </a:pPr>
            <a:r>
              <a:rPr sz="2250" b="0" i="0">
                <a:solidFill>
                  <a:srgbClr val="22252B"/>
                </a:solidFill>
                <a:latin typeface="Helvetica Neue"/>
                <a:ea typeface="Helvetica Neue"/>
                <a:cs typeface="Helvetica Neue"/>
              </a:rPr>
              <a:t>Two routes to relational in-context learning</a:t>
            </a:r>
          </a:p>
        </p:txBody>
      </p:sp>
      <p:sp>
        <p:nvSpPr>
          <p:cNvPr id="5" name="">
            <a:extLst xmlns:a="http://schemas.openxmlformats.org/drawingml/2006/main">
              <a:ext uri="{FF2B5EF4-FFF2-40B4-BE49-F238E27FC236}">
                <a16:creationId xmlns:a16="http://schemas.microsoft.com/office/drawing/2014/main" id="{0CDB0C67-A223-431B-B84E-57C2F7753190}"/>
              </a:ext>
            </a:extLst>
          </p:cNvPr>
          <p:cNvSpPr>
            <a:spLocks xmlns:a="http://schemas.openxmlformats.org/drawingml/2006/main" noGrp="1"/>
          </p:cNvSpPr>
          <p:nvPr/>
        </p:nvSpPr>
        <p:spPr>
          <a:xfrm xmlns:a="http://schemas.openxmlformats.org/drawingml/2006/main">
            <a:off x="704850" y="40957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16873"/>
                </a:solidFill>
                <a:latin typeface="Helvetica Neue"/>
                <a:ea typeface="Helvetica Neue"/>
                <a:cs typeface="Helvetica Neue"/>
              </a:defRPr>
            </a:pPr>
            <a:r>
              <a:rPr sz="1350" b="0" i="0">
                <a:solidFill>
                  <a:srgbClr val="616873"/>
                </a:solidFill>
                <a:latin typeface="Helvetica Neue"/>
                <a:ea typeface="Helvetica Neue"/>
                <a:cs typeface="Helvetica Neue"/>
              </a:rPr>
              <a:t>Research-group discussion deck</a:t>
            </a:r>
          </a:p>
        </p:txBody>
      </p:sp>
      <p:sp>
        <p:nvSpPr>
          <p:cNvPr id="6" name="">
            <a:extLst xmlns:a="http://schemas.openxmlformats.org/drawingml/2006/main">
              <a:ext uri="{FF2B5EF4-FFF2-40B4-BE49-F238E27FC236}">
                <a16:creationId xmlns:a16="http://schemas.microsoft.com/office/drawing/2014/main" id="{C6E641BF-ACD1-47F2-8B03-A82703AC7A4E}"/>
              </a:ext>
            </a:extLst>
          </p:cNvPr>
          <p:cNvSpPr>
            <a:spLocks xmlns:a="http://schemas.openxmlformats.org/drawingml/2006/main" noGrp="1"/>
          </p:cNvSpPr>
          <p:nvPr/>
        </p:nvSpPr>
        <p:spPr>
          <a:xfrm xmlns:a="http://schemas.openxmlformats.org/drawingml/2006/main">
            <a:off x="7239000" y="838200"/>
            <a:ext cx="4171950" cy="4838700"/>
          </a:xfrm>
          <a:prstGeom xmlns:a="http://schemas.openxmlformats.org/drawingml/2006/main" prst="roundRect">
            <a:avLst>
              <a:gd name="adj" fmla="val 5479"/>
            </a:avLst>
          </a:prstGeom>
          <a:solidFill xmlns:a="http://schemas.openxmlformats.org/drawingml/2006/main">
            <a:srgbClr val="F6F7F9"/>
          </a:solidFill>
          <a:ln xmlns:a="http://schemas.openxmlformats.org/drawingml/2006/main" w="9525">
            <a:solidFill>
              <a:srgbClr val="E6E8EC"/>
            </a:solidFill>
            <a:prstDash val="solid"/>
          </a:ln>
        </p:spPr>
      </p:sp>
      <p:sp>
        <p:nvSpPr>
          <p:cNvPr id="7" name="">
            <a:extLst xmlns:a="http://schemas.openxmlformats.org/drawingml/2006/main">
              <a:ext uri="{FF2B5EF4-FFF2-40B4-BE49-F238E27FC236}">
                <a16:creationId xmlns:a16="http://schemas.microsoft.com/office/drawing/2014/main" id="{98AA3102-40BB-4411-92BB-AFCD572D7B72}"/>
              </a:ext>
            </a:extLst>
          </p:cNvPr>
          <p:cNvSpPr>
            <a:spLocks xmlns:a="http://schemas.openxmlformats.org/drawingml/2006/main" noGrp="1"/>
          </p:cNvSpPr>
          <p:nvPr/>
        </p:nvSpPr>
        <p:spPr>
          <a:xfrm xmlns:a="http://schemas.openxmlformats.org/drawingml/2006/main">
            <a:off x="7600950" y="11906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318"/>
                </a:solidFill>
                <a:latin typeface="Helvetica Neue"/>
                <a:ea typeface="Helvetica Neue"/>
                <a:cs typeface="Helvetica Neue"/>
              </a:defRPr>
            </a:pPr>
            <a:r>
              <a:rPr sz="1800" b="1" i="0">
                <a:solidFill>
                  <a:srgbClr val="111318"/>
                </a:solidFill>
                <a:latin typeface="Helvetica Neue"/>
                <a:ea typeface="Helvetica Neue"/>
                <a:cs typeface="Helvetica Neue"/>
              </a:rPr>
              <a:t>The architectural fork</a:t>
            </a:r>
          </a:p>
        </p:txBody>
      </p:sp>
      <p:sp>
        <p:nvSpPr>
          <p:cNvPr id="8" name="">
            <a:extLst xmlns:a="http://schemas.openxmlformats.org/drawingml/2006/main">
              <a:ext uri="{FF2B5EF4-FFF2-40B4-BE49-F238E27FC236}">
                <a16:creationId xmlns:a16="http://schemas.microsoft.com/office/drawing/2014/main" id="{A8CBC0AB-E80E-4B54-91C7-036B3BFD1747}"/>
              </a:ext>
            </a:extLst>
          </p:cNvPr>
          <p:cNvSpPr>
            <a:spLocks xmlns:a="http://schemas.openxmlformats.org/drawingml/2006/main" noGrp="1"/>
          </p:cNvSpPr>
          <p:nvPr/>
        </p:nvSpPr>
        <p:spPr>
          <a:xfrm xmlns:a="http://schemas.openxmlformats.org/drawingml/2006/main">
            <a:off x="7620000" y="1866900"/>
            <a:ext cx="1200150" cy="295275"/>
          </a:xfrm>
          <a:prstGeom xmlns:a="http://schemas.openxmlformats.org/drawingml/2006/main" prst="roundRect">
            <a:avLst>
              <a:gd name="adj" fmla="val 48387"/>
            </a:avLst>
          </a:prstGeom>
          <a:solidFill xmlns:a="http://schemas.openxmlformats.org/drawingml/2006/main">
            <a:srgbClr val="E8F6FD"/>
          </a:solidFill>
          <a:ln xmlns:a="http://schemas.openxmlformats.org/drawingml/2006/main" w="9525">
            <a:solidFill>
              <a:srgbClr val="E8F6FD"/>
            </a:solidFill>
            <a:prstDash val="solid"/>
          </a:ln>
        </p:spPr>
      </p:sp>
      <p:sp>
        <p:nvSpPr>
          <p:cNvPr id="9" name="">
            <a:extLst xmlns:a="http://schemas.openxmlformats.org/drawingml/2006/main">
              <a:ext uri="{FF2B5EF4-FFF2-40B4-BE49-F238E27FC236}">
                <a16:creationId xmlns:a16="http://schemas.microsoft.com/office/drawing/2014/main" id="{8FD59122-ABB1-4D3A-AF04-282A2C935366}"/>
              </a:ext>
            </a:extLst>
          </p:cNvPr>
          <p:cNvSpPr>
            <a:spLocks xmlns:a="http://schemas.openxmlformats.org/drawingml/2006/main" noGrp="1"/>
          </p:cNvSpPr>
          <p:nvPr/>
        </p:nvSpPr>
        <p:spPr>
          <a:xfrm xmlns:a="http://schemas.openxmlformats.org/drawingml/2006/main">
            <a:off x="7696200" y="1914525"/>
            <a:ext cx="1047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3D8DFF"/>
                </a:solidFill>
                <a:latin typeface="Helvetica Neue"/>
                <a:ea typeface="Helvetica Neue"/>
                <a:cs typeface="Helvetica Neue"/>
              </a:defRPr>
            </a:pPr>
            <a:r>
              <a:rPr sz="1050" b="1" i="0">
                <a:solidFill>
                  <a:srgbClr val="3D8DFF"/>
                </a:solidFill>
                <a:latin typeface="Helvetica Neue"/>
                <a:ea typeface="Helvetica Neue"/>
                <a:cs typeface="Helvetica Neue"/>
              </a:rPr>
              <a:t>OpenRFM</a:t>
            </a:r>
          </a:p>
        </p:txBody>
      </p:sp>
      <p:sp>
        <p:nvSpPr>
          <p:cNvPr id="10" name="">
            <a:extLst xmlns:a="http://schemas.openxmlformats.org/drawingml/2006/main">
              <a:ext uri="{FF2B5EF4-FFF2-40B4-BE49-F238E27FC236}">
                <a16:creationId xmlns:a16="http://schemas.microsoft.com/office/drawing/2014/main" id="{795AB7F4-9313-4F4A-93B0-57D3B12127AA}"/>
              </a:ext>
            </a:extLst>
          </p:cNvPr>
          <p:cNvSpPr>
            <a:spLocks xmlns:a="http://schemas.openxmlformats.org/drawingml/2006/main" noGrp="1"/>
          </p:cNvSpPr>
          <p:nvPr/>
        </p:nvSpPr>
        <p:spPr>
          <a:xfrm xmlns:a="http://schemas.openxmlformats.org/drawingml/2006/main">
            <a:off x="7620000" y="230505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Learn the relational representation</a:t>
            </a:r>
          </a:p>
        </p:txBody>
      </p:sp>
      <p:sp>
        <p:nvSpPr>
          <p:cNvPr id="11" name="">
            <a:extLst xmlns:a="http://schemas.openxmlformats.org/drawingml/2006/main">
              <a:ext uri="{FF2B5EF4-FFF2-40B4-BE49-F238E27FC236}">
                <a16:creationId xmlns:a16="http://schemas.microsoft.com/office/drawing/2014/main" id="{2607B66D-61A0-4528-9B52-FB7AAE483070}"/>
              </a:ext>
            </a:extLst>
          </p:cNvPr>
          <p:cNvSpPr>
            <a:spLocks xmlns:a="http://schemas.openxmlformats.org/drawingml/2006/main" noGrp="1"/>
          </p:cNvSpPr>
          <p:nvPr/>
        </p:nvSpPr>
        <p:spPr>
          <a:xfrm xmlns:a="http://schemas.openxmlformats.org/drawingml/2006/main">
            <a:off x="7620000" y="3105150"/>
            <a:ext cx="33909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12" name="">
            <a:extLst xmlns:a="http://schemas.openxmlformats.org/drawingml/2006/main">
              <a:ext uri="{FF2B5EF4-FFF2-40B4-BE49-F238E27FC236}">
                <a16:creationId xmlns:a16="http://schemas.microsoft.com/office/drawing/2014/main" id="{CA587957-D20F-463E-A445-8E12274054E2}"/>
              </a:ext>
            </a:extLst>
          </p:cNvPr>
          <p:cNvSpPr>
            <a:spLocks xmlns:a="http://schemas.openxmlformats.org/drawingml/2006/main" noGrp="1"/>
          </p:cNvSpPr>
          <p:nvPr/>
        </p:nvSpPr>
        <p:spPr>
          <a:xfrm xmlns:a="http://schemas.openxmlformats.org/drawingml/2006/main">
            <a:off x="7620000" y="3390900"/>
            <a:ext cx="1352550" cy="295275"/>
          </a:xfrm>
          <a:prstGeom xmlns:a="http://schemas.openxmlformats.org/drawingml/2006/main" prst="roundRect">
            <a:avLst>
              <a:gd name="adj" fmla="val 48387"/>
            </a:avLst>
          </a:prstGeom>
          <a:solidFill xmlns:a="http://schemas.openxmlformats.org/drawingml/2006/main">
            <a:srgbClr val="F6E7EF"/>
          </a:solidFill>
          <a:ln xmlns:a="http://schemas.openxmlformats.org/drawingml/2006/main" w="9525">
            <a:solidFill>
              <a:srgbClr val="F6E7EF"/>
            </a:solidFill>
            <a:prstDash val="solid"/>
          </a:ln>
        </p:spPr>
      </p:sp>
      <p:sp>
        <p:nvSpPr>
          <p:cNvPr id="13" name="">
            <a:extLst xmlns:a="http://schemas.openxmlformats.org/drawingml/2006/main">
              <a:ext uri="{FF2B5EF4-FFF2-40B4-BE49-F238E27FC236}">
                <a16:creationId xmlns:a16="http://schemas.microsoft.com/office/drawing/2014/main" id="{7946C93F-F6EA-4E25-BE24-5C652DB9732C}"/>
              </a:ext>
            </a:extLst>
          </p:cNvPr>
          <p:cNvSpPr>
            <a:spLocks xmlns:a="http://schemas.openxmlformats.org/drawingml/2006/main" noGrp="1"/>
          </p:cNvSpPr>
          <p:nvPr/>
        </p:nvSpPr>
        <p:spPr>
          <a:xfrm xmlns:a="http://schemas.openxmlformats.org/drawingml/2006/main">
            <a:off x="7696200" y="3438525"/>
            <a:ext cx="1200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B76591"/>
                </a:solidFill>
                <a:latin typeface="Helvetica Neue"/>
                <a:ea typeface="Helvetica Neue"/>
                <a:cs typeface="Helvetica Neue"/>
              </a:defRPr>
            </a:pPr>
            <a:r>
              <a:rPr sz="1050" b="1" i="0">
                <a:solidFill>
                  <a:srgbClr val="B76591"/>
                </a:solidFill>
                <a:latin typeface="Helvetica Neue"/>
                <a:ea typeface="Helvetica Neue"/>
                <a:cs typeface="Helvetica Neue"/>
              </a:rPr>
              <a:t>TabPFN-Rel</a:t>
            </a:r>
          </a:p>
        </p:txBody>
      </p:sp>
      <p:sp>
        <p:nvSpPr>
          <p:cNvPr id="14" name="">
            <a:extLst xmlns:a="http://schemas.openxmlformats.org/drawingml/2006/main">
              <a:ext uri="{FF2B5EF4-FFF2-40B4-BE49-F238E27FC236}">
                <a16:creationId xmlns:a16="http://schemas.microsoft.com/office/drawing/2014/main" id="{AE7D0702-CE9E-40B8-9A9D-8DCF026F43B0}"/>
              </a:ext>
            </a:extLst>
          </p:cNvPr>
          <p:cNvSpPr>
            <a:spLocks xmlns:a="http://schemas.openxmlformats.org/drawingml/2006/main" noGrp="1"/>
          </p:cNvSpPr>
          <p:nvPr/>
        </p:nvSpPr>
        <p:spPr>
          <a:xfrm xmlns:a="http://schemas.openxmlformats.org/drawingml/2006/main">
            <a:off x="7620000" y="382905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11318"/>
                </a:solidFill>
                <a:latin typeface="Helvetica Neue"/>
                <a:ea typeface="Helvetica Neue"/>
                <a:cs typeface="Helvetica Neue"/>
              </a:defRPr>
            </a:pPr>
            <a:r>
              <a:rPr sz="1875" b="1" i="0">
                <a:solidFill>
                  <a:srgbClr val="111318"/>
                </a:solidFill>
                <a:latin typeface="Helvetica Neue"/>
                <a:ea typeface="Helvetica Neue"/>
                <a:cs typeface="Helvetica Neue"/>
              </a:rPr>
              <a:t>Engineer the relational view</a:t>
            </a:r>
          </a:p>
        </p:txBody>
      </p:sp>
      <p:sp>
        <p:nvSpPr>
          <p:cNvPr id="15" name="">
            <a:extLst xmlns:a="http://schemas.openxmlformats.org/drawingml/2006/main">
              <a:ext uri="{FF2B5EF4-FFF2-40B4-BE49-F238E27FC236}">
                <a16:creationId xmlns:a16="http://schemas.microsoft.com/office/drawing/2014/main" id="{054914F9-3C46-4715-9111-CEA0653DBA58}"/>
              </a:ext>
            </a:extLst>
          </p:cNvPr>
          <p:cNvSpPr>
            <a:spLocks xmlns:a="http://schemas.openxmlformats.org/drawingml/2006/main" noGrp="1"/>
          </p:cNvSpPr>
          <p:nvPr/>
        </p:nvSpPr>
        <p:spPr>
          <a:xfrm xmlns:a="http://schemas.openxmlformats.org/drawingml/2006/main">
            <a:off x="7620000" y="4810125"/>
            <a:ext cx="3390900" cy="5143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8C8829D5-CC4A-4188-805D-2DC2233F8380}"/>
              </a:ext>
            </a:extLst>
          </p:cNvPr>
          <p:cNvSpPr>
            <a:spLocks xmlns:a="http://schemas.openxmlformats.org/drawingml/2006/main" noGrp="1"/>
          </p:cNvSpPr>
          <p:nvPr/>
        </p:nvSpPr>
        <p:spPr>
          <a:xfrm xmlns:a="http://schemas.openxmlformats.org/drawingml/2006/main">
            <a:off x="7791450" y="496252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Both finish with tabular ICL</a:t>
            </a:r>
          </a:p>
        </p:txBody>
      </p:sp>
      <p:sp>
        <p:nvSpPr>
          <p:cNvPr id="17" name="">
            <a:extLst xmlns:a="http://schemas.openxmlformats.org/drawingml/2006/main">
              <a:ext uri="{FF2B5EF4-FFF2-40B4-BE49-F238E27FC236}">
                <a16:creationId xmlns:a16="http://schemas.microsoft.com/office/drawing/2014/main" id="{34D94A4A-40BB-4B81-8EFA-B68799B7B99D}"/>
              </a:ext>
            </a:extLst>
          </p:cNvPr>
          <p:cNvSpPr>
            <a:spLocks xmlns:a="http://schemas.openxmlformats.org/drawingml/2006/main" noGrp="1"/>
          </p:cNvSpPr>
          <p:nvPr/>
        </p:nvSpPr>
        <p:spPr>
          <a:xfrm xmlns:a="http://schemas.openxmlformats.org/drawingml/2006/main">
            <a:off x="704850" y="6153150"/>
            <a:ext cx="981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OpenRFM · arXiv:2606.04320    |    TabPFN-Rel / RelArena-α · arXiv:2608.16319</a:t>
            </a:r>
          </a:p>
        </p:txBody>
      </p:sp>
      <p:sp>
        <p:nvSpPr>
          <p:cNvPr id="18" name="">
            <a:extLst xmlns:a="http://schemas.openxmlformats.org/drawingml/2006/main">
              <a:ext uri="{FF2B5EF4-FFF2-40B4-BE49-F238E27FC236}">
                <a16:creationId xmlns:a16="http://schemas.microsoft.com/office/drawing/2014/main" id="{C668D2ED-0E56-4DC4-BEFB-87F8867DFD81}"/>
              </a:ext>
            </a:extLst>
          </p:cNvPr>
          <p:cNvSpPr>
            <a:spLocks xmlns:a="http://schemas.openxmlformats.org/drawingml/2006/main" noGrp="1"/>
          </p:cNvSpPr>
          <p:nvPr/>
        </p:nvSpPr>
        <p:spPr>
          <a:xfrm xmlns:a="http://schemas.openxmlformats.org/drawingml/2006/main">
            <a:off x="10972800" y="61531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B8BCC4"/>
                </a:solidFill>
                <a:latin typeface="Helvetica Neue"/>
                <a:ea typeface="Helvetica Neue"/>
                <a:cs typeface="Helvetica Neue"/>
              </a:defRPr>
            </a:pPr>
            <a:r>
              <a:rPr sz="1125" b="1" i="0">
                <a:solidFill>
                  <a:srgbClr val="B8BCC4"/>
                </a:solidFill>
                <a:latin typeface="Helvetica Neue"/>
                <a:ea typeface="Helvetica Neue"/>
                <a:cs typeface="Helvetica Neue"/>
              </a:rPr>
              <a:t>01</a:t>
            </a:r>
          </a:p>
        </p:txBody>
      </p:sp>
    </p:spTree>
    <p:extLst>
      <p:ext uri="{BB962C8B-B14F-4D97-AF65-F5344CB8AC3E}">
        <p14:creationId xmlns:p14="http://schemas.microsoft.com/office/powerpoint/2010/main" val="16000324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30D7287-7F69-46E7-9395-92A85206FFEA}"/>
              </a:ext>
            </a:extLst>
          </p:cNvPr>
          <p:cNvSpPr>
            <a:spLocks xmlns:a="http://schemas.openxmlformats.org/drawingml/2006/main" noGrp="1"/>
          </p:cNvSpPr>
          <p:nvPr/>
        </p:nvSpPr>
        <p:spPr>
          <a:xfrm xmlns:a="http://schemas.openxmlformats.org/drawingml/2006/main">
            <a:off x="647700" y="3238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16873"/>
                </a:solidFill>
                <a:latin typeface="Helvetica Neue"/>
                <a:ea typeface="Helvetica Neue"/>
                <a:cs typeface="Helvetica Neue"/>
              </a:defRPr>
            </a:pPr>
            <a:r>
              <a:rPr sz="1050" b="1" i="0">
                <a:solidFill>
                  <a:srgbClr val="616873"/>
                </a:solidFill>
                <a:latin typeface="Helvetica Neue"/>
                <a:ea typeface="Helvetica Neue"/>
                <a:cs typeface="Helvetica Neue"/>
              </a:rPr>
              <a:t>CORE COMPARISON</a:t>
            </a:r>
          </a:p>
        </p:txBody>
      </p:sp>
      <p:sp>
        <p:nvSpPr>
          <p:cNvPr id="2" name="">
            <a:extLst xmlns:a="http://schemas.openxmlformats.org/drawingml/2006/main">
              <a:ext uri="{FF2B5EF4-FFF2-40B4-BE49-F238E27FC236}">
                <a16:creationId xmlns:a16="http://schemas.microsoft.com/office/drawing/2014/main" id="{186D5F84-C60E-4447-AA41-6F0948339A02}"/>
              </a:ext>
            </a:extLst>
          </p:cNvPr>
          <p:cNvSpPr>
            <a:spLocks xmlns:a="http://schemas.openxmlformats.org/drawingml/2006/main" noGrp="1"/>
          </p:cNvSpPr>
          <p:nvPr/>
        </p:nvSpPr>
        <p:spPr>
          <a:xfrm xmlns:a="http://schemas.openxmlformats.org/drawingml/2006/main">
            <a:off x="647700" y="60960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000000"/>
                </a:solidFill>
                <a:latin typeface="Helvetica Neue"/>
                <a:ea typeface="Helvetica Neue"/>
                <a:cs typeface="Helvetica Neue"/>
              </a:defRPr>
            </a:pPr>
            <a:r>
              <a:rPr sz="3225" b="1" i="0">
                <a:solidFill>
                  <a:srgbClr val="000000"/>
                </a:solidFill>
                <a:latin typeface="Helvetica Neue"/>
                <a:ea typeface="Helvetica Neue"/>
                <a:cs typeface="Helvetica Neue"/>
              </a:rPr>
              <a:t>Same goal, different place for relational reasoning</a:t>
            </a:r>
          </a:p>
        </p:txBody>
      </p:sp>
      <p:sp>
        <p:nvSpPr>
          <p:cNvPr id="3" name="">
            <a:extLst xmlns:a="http://schemas.openxmlformats.org/drawingml/2006/main">
              <a:ext uri="{FF2B5EF4-FFF2-40B4-BE49-F238E27FC236}">
                <a16:creationId xmlns:a16="http://schemas.microsoft.com/office/drawing/2014/main" id="{99DFE5E1-3B9F-49AD-8089-E23DB19107E1}"/>
              </a:ext>
            </a:extLst>
          </p:cNvPr>
          <p:cNvSpPr>
            <a:spLocks xmlns:a="http://schemas.openxmlformats.org/drawingml/2006/main" noGrp="1"/>
          </p:cNvSpPr>
          <p:nvPr/>
        </p:nvSpPr>
        <p:spPr>
          <a:xfrm xmlns:a="http://schemas.openxmlformats.org/drawingml/2006/main">
            <a:off x="647700" y="11715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616873"/>
                </a:solidFill>
                <a:latin typeface="Helvetica Neue"/>
                <a:ea typeface="Helvetica Neue"/>
                <a:cs typeface="Helvetica Neue"/>
              </a:defRPr>
            </a:pPr>
            <a:r>
              <a:rPr sz="1425" b="0" i="0">
                <a:solidFill>
                  <a:srgbClr val="616873"/>
                </a:solidFill>
                <a:latin typeface="Helvetica Neue"/>
                <a:ea typeface="Helvetica Neue"/>
                <a:cs typeface="Helvetica Neue"/>
              </a:rPr>
              <a:t>The key distinction is not ‘Transformer vs Transformer’—it is learned structure vs engineered structure.</a:t>
            </a:r>
          </a:p>
        </p:txBody>
      </p:sp>
      <p:sp>
        <p:nvSpPr>
          <p:cNvPr id="4" name="">
            <a:extLst xmlns:a="http://schemas.openxmlformats.org/drawingml/2006/main">
              <a:ext uri="{FF2B5EF4-FFF2-40B4-BE49-F238E27FC236}">
                <a16:creationId xmlns:a16="http://schemas.microsoft.com/office/drawing/2014/main" id="{D995FB83-F52E-4807-B3B1-C29964F5876B}"/>
              </a:ext>
            </a:extLst>
          </p:cNvPr>
          <p:cNvSpPr>
            <a:spLocks xmlns:a="http://schemas.openxmlformats.org/drawingml/2006/main" noGrp="1"/>
          </p:cNvSpPr>
          <p:nvPr/>
        </p:nvSpPr>
        <p:spPr>
          <a:xfrm xmlns:a="http://schemas.openxmlformats.org/drawingml/2006/main">
            <a:off x="647700" y="1533525"/>
            <a:ext cx="108966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5" name="">
            <a:extLst xmlns:a="http://schemas.openxmlformats.org/drawingml/2006/main">
              <a:ext uri="{FF2B5EF4-FFF2-40B4-BE49-F238E27FC236}">
                <a16:creationId xmlns:a16="http://schemas.microsoft.com/office/drawing/2014/main" id="{1E52EEA7-795E-437B-A5C7-C50DD579E8E5}"/>
              </a:ext>
            </a:extLst>
          </p:cNvPr>
          <p:cNvSpPr>
            <a:spLocks xmlns:a="http://schemas.openxmlformats.org/drawingml/2006/main" noGrp="1"/>
          </p:cNvSpPr>
          <p:nvPr/>
        </p:nvSpPr>
        <p:spPr>
          <a:xfrm xmlns:a="http://schemas.openxmlformats.org/drawingml/2006/main">
            <a:off x="11068050" y="63912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B8BCC4"/>
                </a:solidFill>
                <a:latin typeface="Helvetica Neue"/>
                <a:ea typeface="Helvetica Neue"/>
                <a:cs typeface="Helvetica Neue"/>
              </a:defRPr>
            </a:pPr>
            <a:r>
              <a:rPr sz="1050" b="1" i="0">
                <a:solidFill>
                  <a:srgbClr val="B8BCC4"/>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6DFB9462-CCA6-4FF8-8C3B-1C8BA4AFF14A}"/>
              </a:ext>
            </a:extLst>
          </p:cNvPr>
          <p:cNvSpPr>
            <a:spLocks xmlns:a="http://schemas.openxmlformats.org/drawingml/2006/main" noGrp="1"/>
          </p:cNvSpPr>
          <p:nvPr/>
        </p:nvSpPr>
        <p:spPr>
          <a:xfrm xmlns:a="http://schemas.openxmlformats.org/drawingml/2006/main">
            <a:off x="800100" y="186690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OPENRFM</a:t>
            </a:r>
          </a:p>
        </p:txBody>
      </p:sp>
      <p:sp>
        <p:nvSpPr>
          <p:cNvPr id="7" name="">
            <a:extLst xmlns:a="http://schemas.openxmlformats.org/drawingml/2006/main">
              <a:ext uri="{FF2B5EF4-FFF2-40B4-BE49-F238E27FC236}">
                <a16:creationId xmlns:a16="http://schemas.microsoft.com/office/drawing/2014/main" id="{AE6B44EF-0E9A-4F5C-9430-A2A5903A3B2A}"/>
              </a:ext>
            </a:extLst>
          </p:cNvPr>
          <p:cNvSpPr>
            <a:spLocks xmlns:a="http://schemas.openxmlformats.org/drawingml/2006/main" noGrp="1"/>
          </p:cNvSpPr>
          <p:nvPr/>
        </p:nvSpPr>
        <p:spPr>
          <a:xfrm xmlns:a="http://schemas.openxmlformats.org/drawingml/2006/main">
            <a:off x="800100" y="2238375"/>
            <a:ext cx="1695450" cy="1257300"/>
          </a:xfrm>
          <a:prstGeom xmlns:a="http://schemas.openxmlformats.org/drawingml/2006/main" prst="roundRect">
            <a:avLst>
              <a:gd name="adj" fmla="val 12121"/>
            </a:avLst>
          </a:prstGeom>
          <a:solidFill xmlns:a="http://schemas.openxmlformats.org/drawingml/2006/main">
            <a:srgbClr val="F6F7F9"/>
          </a:solidFill>
          <a:ln xmlns:a="http://schemas.openxmlformats.org/drawingml/2006/main" w="11430">
            <a:solidFill>
              <a:srgbClr val="E6E8EC"/>
            </a:solidFill>
            <a:prstDash val="solid"/>
          </a:ln>
        </p:spPr>
      </p:sp>
      <p:sp>
        <p:nvSpPr>
          <p:cNvPr id="8" name="">
            <a:extLst xmlns:a="http://schemas.openxmlformats.org/drawingml/2006/main">
              <a:ext uri="{FF2B5EF4-FFF2-40B4-BE49-F238E27FC236}">
                <a16:creationId xmlns:a16="http://schemas.microsoft.com/office/drawing/2014/main" id="{E08C4D5C-5DAC-4572-8F46-D143506559C7}"/>
              </a:ext>
            </a:extLst>
          </p:cNvPr>
          <p:cNvSpPr>
            <a:spLocks xmlns:a="http://schemas.openxmlformats.org/drawingml/2006/main" noGrp="1"/>
          </p:cNvSpPr>
          <p:nvPr/>
        </p:nvSpPr>
        <p:spPr>
          <a:xfrm xmlns:a="http://schemas.openxmlformats.org/drawingml/2006/main">
            <a:off x="952500" y="23812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Relational DB</a:t>
            </a:r>
          </a:p>
        </p:txBody>
      </p:sp>
      <p:sp>
        <p:nvSpPr>
          <p:cNvPr id="9" name="">
            <a:extLst xmlns:a="http://schemas.openxmlformats.org/drawingml/2006/main">
              <a:ext uri="{FF2B5EF4-FFF2-40B4-BE49-F238E27FC236}">
                <a16:creationId xmlns:a16="http://schemas.microsoft.com/office/drawing/2014/main" id="{6FBC7028-94F2-488A-9659-29A822DDB02E}"/>
              </a:ext>
            </a:extLst>
          </p:cNvPr>
          <p:cNvSpPr>
            <a:spLocks xmlns:a="http://schemas.openxmlformats.org/drawingml/2006/main" noGrp="1"/>
          </p:cNvSpPr>
          <p:nvPr/>
        </p:nvSpPr>
        <p:spPr>
          <a:xfrm xmlns:a="http://schemas.openxmlformats.org/drawingml/2006/main">
            <a:off x="952500" y="27336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sampled BFS</a:t>
            </a:r>
          </a:p>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query context</a:t>
            </a:r>
          </a:p>
        </p:txBody>
      </p:sp>
      <p:sp>
        <p:nvSpPr>
          <p:cNvPr id="10" name="">
            <a:extLst xmlns:a="http://schemas.openxmlformats.org/drawingml/2006/main">
              <a:ext uri="{FF2B5EF4-FFF2-40B4-BE49-F238E27FC236}">
                <a16:creationId xmlns:a16="http://schemas.microsoft.com/office/drawing/2014/main" id="{C600C167-538C-49C6-9397-C91D25F4C4C4}"/>
              </a:ext>
            </a:extLst>
          </p:cNvPr>
          <p:cNvSpPr>
            <a:spLocks xmlns:a="http://schemas.openxmlformats.org/drawingml/2006/main" noGrp="1"/>
          </p:cNvSpPr>
          <p:nvPr/>
        </p:nvSpPr>
        <p:spPr>
          <a:xfrm xmlns:a="http://schemas.openxmlformats.org/drawingml/2006/main">
            <a:off x="2571750" y="26860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B8BCC4"/>
                </a:solidFill>
                <a:latin typeface="Helvetica Neue"/>
                <a:ea typeface="Helvetica Neue"/>
                <a:cs typeface="Helvetica Neue"/>
              </a:defRPr>
            </a:pPr>
            <a:r>
              <a:rPr sz="2250" b="1" i="0">
                <a:solidFill>
                  <a:srgbClr val="B8BCC4"/>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BFC246B3-56ED-4995-A98E-7BD266AEB8F6}"/>
              </a:ext>
            </a:extLst>
          </p:cNvPr>
          <p:cNvSpPr>
            <a:spLocks xmlns:a="http://schemas.openxmlformats.org/drawingml/2006/main" noGrp="1"/>
          </p:cNvSpPr>
          <p:nvPr/>
        </p:nvSpPr>
        <p:spPr>
          <a:xfrm xmlns:a="http://schemas.openxmlformats.org/drawingml/2006/main">
            <a:off x="3009900" y="2238375"/>
            <a:ext cx="1809750" cy="1257300"/>
          </a:xfrm>
          <a:prstGeom xmlns:a="http://schemas.openxmlformats.org/drawingml/2006/main" prst="roundRect">
            <a:avLst>
              <a:gd name="adj" fmla="val 12121"/>
            </a:avLst>
          </a:prstGeom>
          <a:solidFill xmlns:a="http://schemas.openxmlformats.org/drawingml/2006/main">
            <a:srgbClr val="E8F6FD"/>
          </a:solidFill>
          <a:ln xmlns:a="http://schemas.openxmlformats.org/drawingml/2006/main" w="11430">
            <a:solidFill>
              <a:srgbClr val="6DCBF4"/>
            </a:solidFill>
            <a:prstDash val="solid"/>
          </a:ln>
        </p:spPr>
      </p:sp>
      <p:sp>
        <p:nvSpPr>
          <p:cNvPr id="12" name="">
            <a:extLst xmlns:a="http://schemas.openxmlformats.org/drawingml/2006/main">
              <a:ext uri="{FF2B5EF4-FFF2-40B4-BE49-F238E27FC236}">
                <a16:creationId xmlns:a16="http://schemas.microsoft.com/office/drawing/2014/main" id="{BF8F9601-DDB1-4CD5-BC30-930128FF14F8}"/>
              </a:ext>
            </a:extLst>
          </p:cNvPr>
          <p:cNvSpPr>
            <a:spLocks xmlns:a="http://schemas.openxmlformats.org/drawingml/2006/main" noGrp="1"/>
          </p:cNvSpPr>
          <p:nvPr/>
        </p:nvSpPr>
        <p:spPr>
          <a:xfrm xmlns:a="http://schemas.openxmlformats.org/drawingml/2006/main">
            <a:off x="3162300" y="23812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RT encoder</a:t>
            </a:r>
          </a:p>
        </p:txBody>
      </p:sp>
      <p:sp>
        <p:nvSpPr>
          <p:cNvPr id="13" name="">
            <a:extLst xmlns:a="http://schemas.openxmlformats.org/drawingml/2006/main">
              <a:ext uri="{FF2B5EF4-FFF2-40B4-BE49-F238E27FC236}">
                <a16:creationId xmlns:a16="http://schemas.microsoft.com/office/drawing/2014/main" id="{DF4AEB3E-1F23-4756-AD86-6E28FF87F712}"/>
              </a:ext>
            </a:extLst>
          </p:cNvPr>
          <p:cNvSpPr>
            <a:spLocks xmlns:a="http://schemas.openxmlformats.org/drawingml/2006/main" noGrp="1"/>
          </p:cNvSpPr>
          <p:nvPr/>
        </p:nvSpPr>
        <p:spPr>
          <a:xfrm xmlns:a="http://schemas.openxmlformats.org/drawingml/2006/main">
            <a:off x="3162300" y="2733675"/>
            <a:ext cx="1504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pretrained on</a:t>
            </a:r>
          </a:p>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relational corpora</a:t>
            </a:r>
          </a:p>
        </p:txBody>
      </p:sp>
      <p:sp>
        <p:nvSpPr>
          <p:cNvPr id="14" name="">
            <a:extLst xmlns:a="http://schemas.openxmlformats.org/drawingml/2006/main">
              <a:ext uri="{FF2B5EF4-FFF2-40B4-BE49-F238E27FC236}">
                <a16:creationId xmlns:a16="http://schemas.microsoft.com/office/drawing/2014/main" id="{2149BABD-6674-44BB-9C00-915E203A1A3C}"/>
              </a:ext>
            </a:extLst>
          </p:cNvPr>
          <p:cNvSpPr>
            <a:spLocks xmlns:a="http://schemas.openxmlformats.org/drawingml/2006/main" noGrp="1"/>
          </p:cNvSpPr>
          <p:nvPr/>
        </p:nvSpPr>
        <p:spPr>
          <a:xfrm xmlns:a="http://schemas.openxmlformats.org/drawingml/2006/main">
            <a:off x="4895850" y="26860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B8BCC4"/>
                </a:solidFill>
                <a:latin typeface="Helvetica Neue"/>
                <a:ea typeface="Helvetica Neue"/>
                <a:cs typeface="Helvetica Neue"/>
              </a:defRPr>
            </a:pPr>
            <a:r>
              <a:rPr sz="2250" b="1" i="0">
                <a:solidFill>
                  <a:srgbClr val="B8BCC4"/>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0B05D117-B402-4986-900F-F633C927CF6D}"/>
              </a:ext>
            </a:extLst>
          </p:cNvPr>
          <p:cNvSpPr>
            <a:spLocks xmlns:a="http://schemas.openxmlformats.org/drawingml/2006/main" noGrp="1"/>
          </p:cNvSpPr>
          <p:nvPr/>
        </p:nvSpPr>
        <p:spPr>
          <a:xfrm xmlns:a="http://schemas.openxmlformats.org/drawingml/2006/main">
            <a:off x="5334000" y="2238375"/>
            <a:ext cx="1847850" cy="1257300"/>
          </a:xfrm>
          <a:prstGeom xmlns:a="http://schemas.openxmlformats.org/drawingml/2006/main" prst="roundRect">
            <a:avLst>
              <a:gd name="adj" fmla="val 12121"/>
            </a:avLst>
          </a:prstGeom>
          <a:solidFill xmlns:a="http://schemas.openxmlformats.org/drawingml/2006/main">
            <a:srgbClr val="E8F5ED"/>
          </a:solidFill>
          <a:ln xmlns:a="http://schemas.openxmlformats.org/drawingml/2006/main" w="11430">
            <a:solidFill>
              <a:srgbClr val="2D8A5B"/>
            </a:solidFill>
            <a:prstDash val="solid"/>
          </a:ln>
        </p:spPr>
      </p:sp>
      <p:sp>
        <p:nvSpPr>
          <p:cNvPr id="16" name="">
            <a:extLst xmlns:a="http://schemas.openxmlformats.org/drawingml/2006/main">
              <a:ext uri="{FF2B5EF4-FFF2-40B4-BE49-F238E27FC236}">
                <a16:creationId xmlns:a16="http://schemas.microsoft.com/office/drawing/2014/main" id="{16AAE88A-BBA8-4536-9C9E-B8BC1D41D9F4}"/>
              </a:ext>
            </a:extLst>
          </p:cNvPr>
          <p:cNvSpPr>
            <a:spLocks xmlns:a="http://schemas.openxmlformats.org/drawingml/2006/main" noGrp="1"/>
          </p:cNvSpPr>
          <p:nvPr/>
        </p:nvSpPr>
        <p:spPr>
          <a:xfrm xmlns:a="http://schemas.openxmlformats.org/drawingml/2006/main">
            <a:off x="5486400" y="238125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Batch ICL</a:t>
            </a:r>
          </a:p>
        </p:txBody>
      </p:sp>
      <p:sp>
        <p:nvSpPr>
          <p:cNvPr id="17" name="">
            <a:extLst xmlns:a="http://schemas.openxmlformats.org/drawingml/2006/main">
              <a:ext uri="{FF2B5EF4-FFF2-40B4-BE49-F238E27FC236}">
                <a16:creationId xmlns:a16="http://schemas.microsoft.com/office/drawing/2014/main" id="{29F6BCB0-D414-4DEE-A5E0-5B93AA45CB96}"/>
              </a:ext>
            </a:extLst>
          </p:cNvPr>
          <p:cNvSpPr>
            <a:spLocks xmlns:a="http://schemas.openxmlformats.org/drawingml/2006/main" noGrp="1"/>
          </p:cNvSpPr>
          <p:nvPr/>
        </p:nvSpPr>
        <p:spPr>
          <a:xfrm xmlns:a="http://schemas.openxmlformats.org/drawingml/2006/main">
            <a:off x="5486400" y="2733675"/>
            <a:ext cx="1543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TabICL / TabPFN</a:t>
            </a:r>
          </a:p>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over query embeddings</a:t>
            </a:r>
          </a:p>
        </p:txBody>
      </p:sp>
      <p:sp>
        <p:nvSpPr>
          <p:cNvPr id="18" name="">
            <a:extLst xmlns:a="http://schemas.openxmlformats.org/drawingml/2006/main">
              <a:ext uri="{FF2B5EF4-FFF2-40B4-BE49-F238E27FC236}">
                <a16:creationId xmlns:a16="http://schemas.microsoft.com/office/drawing/2014/main" id="{BB865053-96FA-4680-8814-8B27DFB6051A}"/>
              </a:ext>
            </a:extLst>
          </p:cNvPr>
          <p:cNvSpPr>
            <a:spLocks xmlns:a="http://schemas.openxmlformats.org/drawingml/2006/main" noGrp="1"/>
          </p:cNvSpPr>
          <p:nvPr/>
        </p:nvSpPr>
        <p:spPr>
          <a:xfrm xmlns:a="http://schemas.openxmlformats.org/drawingml/2006/main">
            <a:off x="800100" y="3676650"/>
            <a:ext cx="638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Topology remains inside the model</a:t>
            </a:r>
          </a:p>
        </p:txBody>
      </p:sp>
      <p:sp>
        <p:nvSpPr>
          <p:cNvPr id="19" name="">
            <a:extLst xmlns:a="http://schemas.openxmlformats.org/drawingml/2006/main">
              <a:ext uri="{FF2B5EF4-FFF2-40B4-BE49-F238E27FC236}">
                <a16:creationId xmlns:a16="http://schemas.microsoft.com/office/drawing/2014/main" id="{5519466B-19CF-4640-A082-EA41361DD9D4}"/>
              </a:ext>
            </a:extLst>
          </p:cNvPr>
          <p:cNvSpPr>
            <a:spLocks xmlns:a="http://schemas.openxmlformats.org/drawingml/2006/main" noGrp="1"/>
          </p:cNvSpPr>
          <p:nvPr/>
        </p:nvSpPr>
        <p:spPr>
          <a:xfrm xmlns:a="http://schemas.openxmlformats.org/drawingml/2006/main">
            <a:off x="7639050" y="18669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B76591"/>
                </a:solidFill>
                <a:latin typeface="Helvetica Neue"/>
                <a:ea typeface="Helvetica Neue"/>
                <a:cs typeface="Helvetica Neue"/>
              </a:defRPr>
            </a:pPr>
            <a:r>
              <a:rPr sz="1200" b="1" i="0">
                <a:solidFill>
                  <a:srgbClr val="B76591"/>
                </a:solidFill>
                <a:latin typeface="Helvetica Neue"/>
                <a:ea typeface="Helvetica Neue"/>
                <a:cs typeface="Helvetica Neue"/>
              </a:rPr>
              <a:t>TABPFN-REL</a:t>
            </a:r>
          </a:p>
        </p:txBody>
      </p:sp>
      <p:sp>
        <p:nvSpPr>
          <p:cNvPr id="20" name="">
            <a:extLst xmlns:a="http://schemas.openxmlformats.org/drawingml/2006/main">
              <a:ext uri="{FF2B5EF4-FFF2-40B4-BE49-F238E27FC236}">
                <a16:creationId xmlns:a16="http://schemas.microsoft.com/office/drawing/2014/main" id="{EF3FA73F-62D3-4843-975A-39A882B3EAD8}"/>
              </a:ext>
            </a:extLst>
          </p:cNvPr>
          <p:cNvSpPr>
            <a:spLocks xmlns:a="http://schemas.openxmlformats.org/drawingml/2006/main" noGrp="1"/>
          </p:cNvSpPr>
          <p:nvPr/>
        </p:nvSpPr>
        <p:spPr>
          <a:xfrm xmlns:a="http://schemas.openxmlformats.org/drawingml/2006/main">
            <a:off x="7639050" y="2238375"/>
            <a:ext cx="1619250" cy="1257300"/>
          </a:xfrm>
          <a:prstGeom xmlns:a="http://schemas.openxmlformats.org/drawingml/2006/main" prst="roundRect">
            <a:avLst>
              <a:gd name="adj" fmla="val 12121"/>
            </a:avLst>
          </a:prstGeom>
          <a:solidFill xmlns:a="http://schemas.openxmlformats.org/drawingml/2006/main">
            <a:srgbClr val="F6F7F9"/>
          </a:solidFill>
          <a:ln xmlns:a="http://schemas.openxmlformats.org/drawingml/2006/main" w="11430">
            <a:solidFill>
              <a:srgbClr val="E6E8EC"/>
            </a:solidFill>
            <a:prstDash val="solid"/>
          </a:ln>
        </p:spPr>
      </p:sp>
      <p:sp>
        <p:nvSpPr>
          <p:cNvPr id="21" name="">
            <a:extLst xmlns:a="http://schemas.openxmlformats.org/drawingml/2006/main">
              <a:ext uri="{FF2B5EF4-FFF2-40B4-BE49-F238E27FC236}">
                <a16:creationId xmlns:a16="http://schemas.microsoft.com/office/drawing/2014/main" id="{6FBF0A2D-5D1F-464C-B3F1-477E515DFB23}"/>
              </a:ext>
            </a:extLst>
          </p:cNvPr>
          <p:cNvSpPr>
            <a:spLocks xmlns:a="http://schemas.openxmlformats.org/drawingml/2006/main" noGrp="1"/>
          </p:cNvSpPr>
          <p:nvPr/>
        </p:nvSpPr>
        <p:spPr>
          <a:xfrm xmlns:a="http://schemas.openxmlformats.org/drawingml/2006/main">
            <a:off x="77914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Relational DB</a:t>
            </a:r>
          </a:p>
        </p:txBody>
      </p:sp>
      <p:sp>
        <p:nvSpPr>
          <p:cNvPr id="22" name="">
            <a:extLst xmlns:a="http://schemas.openxmlformats.org/drawingml/2006/main">
              <a:ext uri="{FF2B5EF4-FFF2-40B4-BE49-F238E27FC236}">
                <a16:creationId xmlns:a16="http://schemas.microsoft.com/office/drawing/2014/main" id="{B32BF8C0-D9B3-4922-8DA1-A26FC54CA29C}"/>
              </a:ext>
            </a:extLst>
          </p:cNvPr>
          <p:cNvSpPr>
            <a:spLocks xmlns:a="http://schemas.openxmlformats.org/drawingml/2006/main" noGrp="1"/>
          </p:cNvSpPr>
          <p:nvPr/>
        </p:nvSpPr>
        <p:spPr>
          <a:xfrm xmlns:a="http://schemas.openxmlformats.org/drawingml/2006/main">
            <a:off x="7791450" y="2733675"/>
            <a:ext cx="1314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frozen at the</a:t>
            </a:r>
          </a:p>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cutoff time</a:t>
            </a:r>
          </a:p>
        </p:txBody>
      </p:sp>
      <p:sp>
        <p:nvSpPr>
          <p:cNvPr id="23" name="">
            <a:extLst xmlns:a="http://schemas.openxmlformats.org/drawingml/2006/main">
              <a:ext uri="{FF2B5EF4-FFF2-40B4-BE49-F238E27FC236}">
                <a16:creationId xmlns:a16="http://schemas.microsoft.com/office/drawing/2014/main" id="{8CE83E65-5EFD-430A-B126-B6FF6009D5BB}"/>
              </a:ext>
            </a:extLst>
          </p:cNvPr>
          <p:cNvSpPr>
            <a:spLocks xmlns:a="http://schemas.openxmlformats.org/drawingml/2006/main" noGrp="1"/>
          </p:cNvSpPr>
          <p:nvPr/>
        </p:nvSpPr>
        <p:spPr>
          <a:xfrm xmlns:a="http://schemas.openxmlformats.org/drawingml/2006/main">
            <a:off x="9315450" y="26860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B8BCC4"/>
                </a:solidFill>
                <a:latin typeface="Helvetica Neue"/>
                <a:ea typeface="Helvetica Neue"/>
                <a:cs typeface="Helvetica Neue"/>
              </a:defRPr>
            </a:pPr>
            <a:r>
              <a:rPr sz="2250" b="1" i="0">
                <a:solidFill>
                  <a:srgbClr val="B8BCC4"/>
                </a:solidFill>
                <a:latin typeface="Helvetica Neue"/>
                <a:ea typeface="Helvetica Neue"/>
                <a:cs typeface="Helvetica Neue"/>
              </a:rPr>
              <a:t>→</a:t>
            </a:r>
          </a:p>
        </p:txBody>
      </p:sp>
      <p:sp>
        <p:nvSpPr>
          <p:cNvPr id="24" name="">
            <a:extLst xmlns:a="http://schemas.openxmlformats.org/drawingml/2006/main">
              <a:ext uri="{FF2B5EF4-FFF2-40B4-BE49-F238E27FC236}">
                <a16:creationId xmlns:a16="http://schemas.microsoft.com/office/drawing/2014/main" id="{BA1DDBC5-C754-4471-B701-E4856BDF678C}"/>
              </a:ext>
            </a:extLst>
          </p:cNvPr>
          <p:cNvSpPr>
            <a:spLocks xmlns:a="http://schemas.openxmlformats.org/drawingml/2006/main" noGrp="1"/>
          </p:cNvSpPr>
          <p:nvPr/>
        </p:nvSpPr>
        <p:spPr>
          <a:xfrm xmlns:a="http://schemas.openxmlformats.org/drawingml/2006/main">
            <a:off x="9734550" y="2238375"/>
            <a:ext cx="1619250" cy="1257300"/>
          </a:xfrm>
          <a:prstGeom xmlns:a="http://schemas.openxmlformats.org/drawingml/2006/main" prst="roundRect">
            <a:avLst>
              <a:gd name="adj" fmla="val 12121"/>
            </a:avLst>
          </a:prstGeom>
          <a:solidFill xmlns:a="http://schemas.openxmlformats.org/drawingml/2006/main">
            <a:srgbClr val="F6E7EF"/>
          </a:solidFill>
          <a:ln xmlns:a="http://schemas.openxmlformats.org/drawingml/2006/main" w="11430">
            <a:solidFill>
              <a:srgbClr val="B76591"/>
            </a:solidFill>
            <a:prstDash val="solid"/>
          </a:ln>
        </p:spPr>
      </p:sp>
      <p:sp>
        <p:nvSpPr>
          <p:cNvPr id="25" name="">
            <a:extLst xmlns:a="http://schemas.openxmlformats.org/drawingml/2006/main">
              <a:ext uri="{FF2B5EF4-FFF2-40B4-BE49-F238E27FC236}">
                <a16:creationId xmlns:a16="http://schemas.microsoft.com/office/drawing/2014/main" id="{58F16A3B-9B15-44E8-BD32-1C9E6656AA50}"/>
              </a:ext>
            </a:extLst>
          </p:cNvPr>
          <p:cNvSpPr>
            <a:spLocks xmlns:a="http://schemas.openxmlformats.org/drawingml/2006/main" noGrp="1"/>
          </p:cNvSpPr>
          <p:nvPr/>
        </p:nvSpPr>
        <p:spPr>
          <a:xfrm xmlns:a="http://schemas.openxmlformats.org/drawingml/2006/main">
            <a:off x="98869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DFS → table</a:t>
            </a:r>
          </a:p>
        </p:txBody>
      </p:sp>
      <p:sp>
        <p:nvSpPr>
          <p:cNvPr id="26" name="">
            <a:extLst xmlns:a="http://schemas.openxmlformats.org/drawingml/2006/main">
              <a:ext uri="{FF2B5EF4-FFF2-40B4-BE49-F238E27FC236}">
                <a16:creationId xmlns:a16="http://schemas.microsoft.com/office/drawing/2014/main" id="{B16FF187-352A-4D4A-9E87-64B47CDF5BD7}"/>
              </a:ext>
            </a:extLst>
          </p:cNvPr>
          <p:cNvSpPr>
            <a:spLocks xmlns:a="http://schemas.openxmlformats.org/drawingml/2006/main" noGrp="1"/>
          </p:cNvSpPr>
          <p:nvPr/>
        </p:nvSpPr>
        <p:spPr>
          <a:xfrm xmlns:a="http://schemas.openxmlformats.org/drawingml/2006/main">
            <a:off x="9886950" y="2733675"/>
            <a:ext cx="1314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aggregates over</a:t>
            </a:r>
          </a:p>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join paths</a:t>
            </a:r>
          </a:p>
        </p:txBody>
      </p:sp>
      <p:sp>
        <p:nvSpPr>
          <p:cNvPr id="27" name="">
            <a:extLst xmlns:a="http://schemas.openxmlformats.org/drawingml/2006/main">
              <a:ext uri="{FF2B5EF4-FFF2-40B4-BE49-F238E27FC236}">
                <a16:creationId xmlns:a16="http://schemas.microsoft.com/office/drawing/2014/main" id="{0DCE4CFF-9241-4E6E-A73B-541D013E65F4}"/>
              </a:ext>
            </a:extLst>
          </p:cNvPr>
          <p:cNvSpPr>
            <a:spLocks xmlns:a="http://schemas.openxmlformats.org/drawingml/2006/main" noGrp="1"/>
          </p:cNvSpPr>
          <p:nvPr/>
        </p:nvSpPr>
        <p:spPr>
          <a:xfrm xmlns:a="http://schemas.openxmlformats.org/drawingml/2006/main">
            <a:off x="9944100" y="36099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B76591"/>
                </a:solidFill>
                <a:latin typeface="Helvetica Neue"/>
                <a:ea typeface="Helvetica Neue"/>
                <a:cs typeface="Helvetica Neue"/>
              </a:defRPr>
            </a:pPr>
            <a:r>
              <a:rPr sz="2250" b="1" i="0">
                <a:solidFill>
                  <a:srgbClr val="B76591"/>
                </a:solidFill>
                <a:latin typeface="Helvetica Neue"/>
                <a:ea typeface="Helvetica Neue"/>
                <a:cs typeface="Helvetica Neue"/>
              </a:rPr>
              <a:t>→</a:t>
            </a:r>
          </a:p>
        </p:txBody>
      </p:sp>
      <p:sp>
        <p:nvSpPr>
          <p:cNvPr id="28" name="">
            <a:extLst xmlns:a="http://schemas.openxmlformats.org/drawingml/2006/main">
              <a:ext uri="{FF2B5EF4-FFF2-40B4-BE49-F238E27FC236}">
                <a16:creationId xmlns:a16="http://schemas.microsoft.com/office/drawing/2014/main" id="{D996D5B0-12A9-4946-A3D6-46BD8BA89761}"/>
              </a:ext>
            </a:extLst>
          </p:cNvPr>
          <p:cNvSpPr>
            <a:spLocks xmlns:a="http://schemas.openxmlformats.org/drawingml/2006/main" noGrp="1"/>
          </p:cNvSpPr>
          <p:nvPr/>
        </p:nvSpPr>
        <p:spPr>
          <a:xfrm xmlns:a="http://schemas.openxmlformats.org/drawingml/2006/main">
            <a:off x="8724900" y="4067175"/>
            <a:ext cx="2095500" cy="1000125"/>
          </a:xfrm>
          <a:prstGeom xmlns:a="http://schemas.openxmlformats.org/drawingml/2006/main" prst="roundRect">
            <a:avLst>
              <a:gd name="adj" fmla="val 15238"/>
            </a:avLst>
          </a:prstGeom>
          <a:solidFill xmlns:a="http://schemas.openxmlformats.org/drawingml/2006/main">
            <a:srgbClr val="E9E7FF"/>
          </a:solidFill>
          <a:ln xmlns:a="http://schemas.openxmlformats.org/drawingml/2006/main" w="11430">
            <a:solidFill>
              <a:srgbClr val="17136F"/>
            </a:solidFill>
            <a:prstDash val="solid"/>
          </a:ln>
        </p:spPr>
      </p:sp>
      <p:sp>
        <p:nvSpPr>
          <p:cNvPr id="29" name="">
            <a:extLst xmlns:a="http://schemas.openxmlformats.org/drawingml/2006/main">
              <a:ext uri="{FF2B5EF4-FFF2-40B4-BE49-F238E27FC236}">
                <a16:creationId xmlns:a16="http://schemas.microsoft.com/office/drawing/2014/main" id="{73CCCB05-0AB2-43CC-AF50-2CE1CE52CF7B}"/>
              </a:ext>
            </a:extLst>
          </p:cNvPr>
          <p:cNvSpPr>
            <a:spLocks xmlns:a="http://schemas.openxmlformats.org/drawingml/2006/main" noGrp="1"/>
          </p:cNvSpPr>
          <p:nvPr/>
        </p:nvSpPr>
        <p:spPr>
          <a:xfrm xmlns:a="http://schemas.openxmlformats.org/drawingml/2006/main">
            <a:off x="8877300" y="42100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Frozen TabPFN-3</a:t>
            </a:r>
          </a:p>
        </p:txBody>
      </p:sp>
      <p:sp>
        <p:nvSpPr>
          <p:cNvPr id="30" name="">
            <a:extLst xmlns:a="http://schemas.openxmlformats.org/drawingml/2006/main">
              <a:ext uri="{FF2B5EF4-FFF2-40B4-BE49-F238E27FC236}">
                <a16:creationId xmlns:a16="http://schemas.microsoft.com/office/drawing/2014/main" id="{14D95BB8-E799-4718-B390-F6B78514B63A}"/>
              </a:ext>
            </a:extLst>
          </p:cNvPr>
          <p:cNvSpPr>
            <a:spLocks xmlns:a="http://schemas.openxmlformats.org/drawingml/2006/main" noGrp="1"/>
          </p:cNvSpPr>
          <p:nvPr/>
        </p:nvSpPr>
        <p:spPr>
          <a:xfrm xmlns:a="http://schemas.openxmlformats.org/drawingml/2006/main">
            <a:off x="8877300" y="4562475"/>
            <a:ext cx="1790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ICL over flat rows</a:t>
            </a:r>
          </a:p>
        </p:txBody>
      </p:sp>
      <p:sp>
        <p:nvSpPr>
          <p:cNvPr id="31" name="">
            <a:extLst xmlns:a="http://schemas.openxmlformats.org/drawingml/2006/main">
              <a:ext uri="{FF2B5EF4-FFF2-40B4-BE49-F238E27FC236}">
                <a16:creationId xmlns:a16="http://schemas.microsoft.com/office/drawing/2014/main" id="{67EE776E-BDCF-4C59-AA11-9C72AB0D089F}"/>
              </a:ext>
            </a:extLst>
          </p:cNvPr>
          <p:cNvSpPr>
            <a:spLocks xmlns:a="http://schemas.openxmlformats.org/drawingml/2006/main" noGrp="1"/>
          </p:cNvSpPr>
          <p:nvPr/>
        </p:nvSpPr>
        <p:spPr>
          <a:xfrm xmlns:a="http://schemas.openxmlformats.org/drawingml/2006/main">
            <a:off x="7639050" y="5257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B76591"/>
                </a:solidFill>
                <a:latin typeface="Helvetica Neue"/>
                <a:ea typeface="Helvetica Neue"/>
                <a:cs typeface="Helvetica Neue"/>
              </a:defRPr>
            </a:pPr>
            <a:r>
              <a:rPr sz="1425" b="1" i="0">
                <a:solidFill>
                  <a:srgbClr val="B76591"/>
                </a:solidFill>
                <a:latin typeface="Helvetica Neue"/>
                <a:ea typeface="Helvetica Neue"/>
                <a:cs typeface="Helvetica Neue"/>
              </a:rPr>
              <a:t>Topology collapses before the model</a:t>
            </a:r>
          </a:p>
        </p:txBody>
      </p:sp>
      <p:sp>
        <p:nvSpPr>
          <p:cNvPr id="32" name="">
            <a:extLst xmlns:a="http://schemas.openxmlformats.org/drawingml/2006/main">
              <a:ext uri="{FF2B5EF4-FFF2-40B4-BE49-F238E27FC236}">
                <a16:creationId xmlns:a16="http://schemas.microsoft.com/office/drawing/2014/main" id="{553B1257-0DCC-4675-A002-DCAE73D13413}"/>
              </a:ext>
            </a:extLst>
          </p:cNvPr>
          <p:cNvSpPr>
            <a:spLocks xmlns:a="http://schemas.openxmlformats.org/drawingml/2006/main" noGrp="1"/>
          </p:cNvSpPr>
          <p:nvPr/>
        </p:nvSpPr>
        <p:spPr>
          <a:xfrm xmlns:a="http://schemas.openxmlformats.org/drawingml/2006/main">
            <a:off x="647700" y="5743575"/>
            <a:ext cx="10744200" cy="5143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2A0FAF88-3252-4970-B687-D6767F4D8EC4}"/>
              </a:ext>
            </a:extLst>
          </p:cNvPr>
          <p:cNvSpPr>
            <a:spLocks xmlns:a="http://schemas.openxmlformats.org/drawingml/2006/main" noGrp="1"/>
          </p:cNvSpPr>
          <p:nvPr/>
        </p:nvSpPr>
        <p:spPr>
          <a:xfrm xmlns:a="http://schemas.openxmlformats.org/drawingml/2006/main">
            <a:off x="876300" y="58959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6DCBF4"/>
                </a:solidFill>
                <a:latin typeface="Helvetica Neue"/>
                <a:ea typeface="Helvetica Neue"/>
                <a:cs typeface="Helvetica Neue"/>
              </a:defRPr>
            </a:pPr>
            <a:r>
              <a:rPr sz="1275" b="1" i="0">
                <a:solidFill>
                  <a:srgbClr val="6DCBF4"/>
                </a:solidFill>
                <a:latin typeface="Helvetica Neue"/>
                <a:ea typeface="Helvetica Neue"/>
                <a:cs typeface="Helvetica Neue"/>
              </a:rPr>
              <a:t>Shared idea</a:t>
            </a:r>
          </a:p>
        </p:txBody>
      </p:sp>
      <p:sp>
        <p:nvSpPr>
          <p:cNvPr id="34" name="">
            <a:extLst xmlns:a="http://schemas.openxmlformats.org/drawingml/2006/main">
              <a:ext uri="{FF2B5EF4-FFF2-40B4-BE49-F238E27FC236}">
                <a16:creationId xmlns:a16="http://schemas.microsoft.com/office/drawing/2014/main" id="{50CBB446-4AE4-421A-B471-674215C374AC}"/>
              </a:ext>
            </a:extLst>
          </p:cNvPr>
          <p:cNvSpPr>
            <a:spLocks xmlns:a="http://schemas.openxmlformats.org/drawingml/2006/main" noGrp="1"/>
          </p:cNvSpPr>
          <p:nvPr/>
        </p:nvSpPr>
        <p:spPr>
          <a:xfrm xmlns:a="http://schemas.openxmlformats.org/drawingml/2006/main">
            <a:off x="2114550" y="58674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536"/>
          </a:bodyPr>
          <a:lstStyle xmlns:a="http://schemas.openxmlformats.org/drawingml/2006/main"/>
          <a:p xmlns:a="http://schemas.openxmlformats.org/drawingml/2006/main">
            <a:pPr algn="l">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Prediction is conditional on labeled support rows; the disagreement is how each row should encode its relational world.</a:t>
            </a:r>
          </a:p>
        </p:txBody>
      </p:sp>
      <p:sp>
        <p:nvSpPr>
          <p:cNvPr id="35" name="">
            <a:extLst xmlns:a="http://schemas.openxmlformats.org/drawingml/2006/main">
              <a:ext uri="{FF2B5EF4-FFF2-40B4-BE49-F238E27FC236}">
                <a16:creationId xmlns:a16="http://schemas.microsoft.com/office/drawing/2014/main" id="{3EC6E7B0-5F9F-45F4-8B8D-9E7D41D97F70}"/>
              </a:ext>
            </a:extLst>
          </p:cNvPr>
          <p:cNvSpPr>
            <a:spLocks xmlns:a="http://schemas.openxmlformats.org/drawingml/2006/main" noGrp="1"/>
          </p:cNvSpPr>
          <p:nvPr/>
        </p:nvSpPr>
        <p:spPr>
          <a:xfrm xmlns:a="http://schemas.openxmlformats.org/drawingml/2006/main">
            <a:off x="647700" y="64198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Sources and methodological caveats are in speaker notes</a:t>
            </a:r>
          </a:p>
        </p:txBody>
      </p:sp>
    </p:spTree>
    <p:extLst>
      <p:ext uri="{BB962C8B-B14F-4D97-AF65-F5344CB8AC3E}">
        <p14:creationId xmlns:p14="http://schemas.microsoft.com/office/powerpoint/2010/main" val="17598536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D133D2C-075A-49A9-90C0-6829B227136C}"/>
              </a:ext>
            </a:extLst>
          </p:cNvPr>
          <p:cNvSpPr>
            <a:spLocks xmlns:a="http://schemas.openxmlformats.org/drawingml/2006/main" noGrp="1"/>
          </p:cNvSpPr>
          <p:nvPr/>
        </p:nvSpPr>
        <p:spPr>
          <a:xfrm xmlns:a="http://schemas.openxmlformats.org/drawingml/2006/main">
            <a:off x="647700" y="3238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16873"/>
                </a:solidFill>
                <a:latin typeface="Helvetica Neue"/>
                <a:ea typeface="Helvetica Neue"/>
                <a:cs typeface="Helvetica Neue"/>
              </a:defRPr>
            </a:pPr>
            <a:r>
              <a:rPr sz="1050" b="1" i="0">
                <a:solidFill>
                  <a:srgbClr val="616873"/>
                </a:solidFill>
                <a:latin typeface="Helvetica Neue"/>
                <a:ea typeface="Helvetica Neue"/>
                <a:cs typeface="Helvetica Neue"/>
              </a:rPr>
              <a:t>OPENRFM · DIAGNOSIS</a:t>
            </a:r>
          </a:p>
        </p:txBody>
      </p:sp>
      <p:sp>
        <p:nvSpPr>
          <p:cNvPr id="2" name="">
            <a:extLst xmlns:a="http://schemas.openxmlformats.org/drawingml/2006/main">
              <a:ext uri="{FF2B5EF4-FFF2-40B4-BE49-F238E27FC236}">
                <a16:creationId xmlns:a16="http://schemas.microsoft.com/office/drawing/2014/main" id="{6F46F5D2-1B2F-4E81-AB5C-5CD9D727B85E}"/>
              </a:ext>
            </a:extLst>
          </p:cNvPr>
          <p:cNvSpPr>
            <a:spLocks xmlns:a="http://schemas.openxmlformats.org/drawingml/2006/main" noGrp="1"/>
          </p:cNvSpPr>
          <p:nvPr/>
        </p:nvSpPr>
        <p:spPr>
          <a:xfrm xmlns:a="http://schemas.openxmlformats.org/drawingml/2006/main">
            <a:off x="647700" y="60960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000000"/>
                </a:solidFill>
                <a:latin typeface="Helvetica Neue"/>
                <a:ea typeface="Helvetica Neue"/>
                <a:cs typeface="Helvetica Neue"/>
              </a:defRPr>
            </a:pPr>
            <a:r>
              <a:rPr sz="3225" b="1" i="0">
                <a:solidFill>
                  <a:srgbClr val="000000"/>
                </a:solidFill>
                <a:latin typeface="Helvetica Neue"/>
                <a:ea typeface="Helvetica Neue"/>
                <a:cs typeface="Helvetica Neue"/>
              </a:rPr>
              <a:t>RT’s ‘zero-shot’ prediction is relation-level ICL</a:t>
            </a:r>
          </a:p>
        </p:txBody>
      </p:sp>
      <p:sp>
        <p:nvSpPr>
          <p:cNvPr id="3" name="">
            <a:extLst xmlns:a="http://schemas.openxmlformats.org/drawingml/2006/main">
              <a:ext uri="{FF2B5EF4-FFF2-40B4-BE49-F238E27FC236}">
                <a16:creationId xmlns:a16="http://schemas.microsoft.com/office/drawing/2014/main" id="{52168556-468F-46F0-BC79-C356D3391A54}"/>
              </a:ext>
            </a:extLst>
          </p:cNvPr>
          <p:cNvSpPr>
            <a:spLocks xmlns:a="http://schemas.openxmlformats.org/drawingml/2006/main" noGrp="1"/>
          </p:cNvSpPr>
          <p:nvPr/>
        </p:nvSpPr>
        <p:spPr>
          <a:xfrm xmlns:a="http://schemas.openxmlformats.org/drawingml/2006/main">
            <a:off x="647700" y="11715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997"/>
          </a:bodyPr>
          <a:lstStyle xmlns:a="http://schemas.openxmlformats.org/drawingml/2006/main"/>
          <a:p xmlns:a="http://schemas.openxmlformats.org/drawingml/2006/main">
            <a:pPr algn="l">
              <a:defRPr sz="1425" b="0" i="0">
                <a:solidFill>
                  <a:srgbClr val="616873"/>
                </a:solidFill>
                <a:latin typeface="Helvetica Neue"/>
                <a:ea typeface="Helvetica Neue"/>
                <a:cs typeface="Helvetica Neue"/>
              </a:defRPr>
            </a:pPr>
            <a:r>
              <a:rPr sz="1425" b="0" i="0">
                <a:solidFill>
                  <a:srgbClr val="616873"/>
                </a:solidFill>
                <a:latin typeface="Helvetica Neue"/>
                <a:ea typeface="Helvetica Neue"/>
                <a:cs typeface="Helvetica Neue"/>
              </a:rPr>
              <a:t>A query succeeds only when its sampled relational walk exposes enough labeled support—and the prior teaches the model to use it.</a:t>
            </a:r>
          </a:p>
        </p:txBody>
      </p:sp>
      <p:sp>
        <p:nvSpPr>
          <p:cNvPr id="4" name="">
            <a:extLst xmlns:a="http://schemas.openxmlformats.org/drawingml/2006/main">
              <a:ext uri="{FF2B5EF4-FFF2-40B4-BE49-F238E27FC236}">
                <a16:creationId xmlns:a16="http://schemas.microsoft.com/office/drawing/2014/main" id="{54449A06-F670-4B1A-9B06-E16F1686A0B1}"/>
              </a:ext>
            </a:extLst>
          </p:cNvPr>
          <p:cNvSpPr>
            <a:spLocks xmlns:a="http://schemas.openxmlformats.org/drawingml/2006/main" noGrp="1"/>
          </p:cNvSpPr>
          <p:nvPr/>
        </p:nvSpPr>
        <p:spPr>
          <a:xfrm xmlns:a="http://schemas.openxmlformats.org/drawingml/2006/main">
            <a:off x="647700" y="1533525"/>
            <a:ext cx="108966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5" name="">
            <a:extLst xmlns:a="http://schemas.openxmlformats.org/drawingml/2006/main">
              <a:ext uri="{FF2B5EF4-FFF2-40B4-BE49-F238E27FC236}">
                <a16:creationId xmlns:a16="http://schemas.microsoft.com/office/drawing/2014/main" id="{2B2795A0-0F31-4353-B61F-71BC8FC7CC7E}"/>
              </a:ext>
            </a:extLst>
          </p:cNvPr>
          <p:cNvSpPr>
            <a:spLocks xmlns:a="http://schemas.openxmlformats.org/drawingml/2006/main" noGrp="1"/>
          </p:cNvSpPr>
          <p:nvPr/>
        </p:nvSpPr>
        <p:spPr>
          <a:xfrm xmlns:a="http://schemas.openxmlformats.org/drawingml/2006/main">
            <a:off x="11068050" y="63912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B8BCC4"/>
                </a:solidFill>
                <a:latin typeface="Helvetica Neue"/>
                <a:ea typeface="Helvetica Neue"/>
                <a:cs typeface="Helvetica Neue"/>
              </a:defRPr>
            </a:pPr>
            <a:r>
              <a:rPr sz="1050" b="1" i="0">
                <a:solidFill>
                  <a:srgbClr val="B8BCC4"/>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5C719508-A531-4C7C-84A9-A186DD220D78}"/>
              </a:ext>
            </a:extLst>
          </p:cNvPr>
          <p:cNvSpPr>
            <a:spLocks xmlns:a="http://schemas.openxmlformats.org/drawingml/2006/main" noGrp="1"/>
          </p:cNvSpPr>
          <p:nvPr/>
        </p:nvSpPr>
        <p:spPr>
          <a:xfrm xmlns:a="http://schemas.openxmlformats.org/drawingml/2006/main">
            <a:off x="647700" y="1828800"/>
            <a:ext cx="57150" cy="219075"/>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3FCDDC36-096F-47A5-930C-9CBB11177691}"/>
              </a:ext>
            </a:extLst>
          </p:cNvPr>
          <p:cNvSpPr>
            <a:spLocks xmlns:a="http://schemas.openxmlformats.org/drawingml/2006/main" noGrp="1"/>
          </p:cNvSpPr>
          <p:nvPr/>
        </p:nvSpPr>
        <p:spPr>
          <a:xfrm xmlns:a="http://schemas.openxmlformats.org/drawingml/2006/main">
            <a:off x="819150" y="1809750"/>
            <a:ext cx="430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Support reachability ρ</a:t>
            </a:r>
          </a:p>
        </p:txBody>
      </p:sp>
      <p:sp>
        <p:nvSpPr>
          <p:cNvPr id="8" name="">
            <a:extLst xmlns:a="http://schemas.openxmlformats.org/drawingml/2006/main">
              <a:ext uri="{FF2B5EF4-FFF2-40B4-BE49-F238E27FC236}">
                <a16:creationId xmlns:a16="http://schemas.microsoft.com/office/drawing/2014/main" id="{20235DF6-259C-4711-A299-5DFF33DA0BCF}"/>
              </a:ext>
            </a:extLst>
          </p:cNvPr>
          <p:cNvSpPr>
            <a:spLocks xmlns:a="http://schemas.openxmlformats.org/drawingml/2006/main" noGrp="1"/>
          </p:cNvSpPr>
          <p:nvPr/>
        </p:nvSpPr>
        <p:spPr>
          <a:xfrm xmlns:a="http://schemas.openxmlformats.org/drawingml/2006/main">
            <a:off x="647700" y="21812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616873"/>
                </a:solidFill>
                <a:latin typeface="Helvetica Neue"/>
                <a:ea typeface="Helvetica Neue"/>
                <a:cs typeface="Helvetica Neue"/>
              </a:defRPr>
            </a:pPr>
            <a:r>
              <a:rPr sz="1425" b="0" i="0">
                <a:solidFill>
                  <a:srgbClr val="616873"/>
                </a:solidFill>
                <a:latin typeface="Helvetica Neue"/>
                <a:ea typeface="Helvetica Neue"/>
                <a:cs typeface="Helvetica Neue"/>
              </a:rPr>
              <a:t>How often a query’s sampled BFS context reaches labeled task-table rows</a:t>
            </a:r>
          </a:p>
        </p:txBody>
      </p:sp>
      <p:sp>
        <p:nvSpPr>
          <p:cNvPr id="9" name="">
            <a:extLst xmlns:a="http://schemas.openxmlformats.org/drawingml/2006/main">
              <a:ext uri="{FF2B5EF4-FFF2-40B4-BE49-F238E27FC236}">
                <a16:creationId xmlns:a16="http://schemas.microsoft.com/office/drawing/2014/main" id="{8A7B310A-53A1-483B-91DF-C709A3A13810}"/>
              </a:ext>
            </a:extLst>
          </p:cNvPr>
          <p:cNvSpPr>
            <a:spLocks xmlns:a="http://schemas.openxmlformats.org/drawingml/2006/main" noGrp="1"/>
          </p:cNvSpPr>
          <p:nvPr/>
        </p:nvSpPr>
        <p:spPr>
          <a:xfrm xmlns:a="http://schemas.openxmlformats.org/drawingml/2006/main">
            <a:off x="647700" y="28575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st-outc</a:t>
            </a:r>
          </a:p>
        </p:txBody>
      </p:sp>
      <p:sp>
        <p:nvSpPr>
          <p:cNvPr id="10" name="">
            <a:extLst xmlns:a="http://schemas.openxmlformats.org/drawingml/2006/main">
              <a:ext uri="{FF2B5EF4-FFF2-40B4-BE49-F238E27FC236}">
                <a16:creationId xmlns:a16="http://schemas.microsoft.com/office/drawing/2014/main" id="{A78EB856-C1DA-4539-866A-C0480FB9A088}"/>
              </a:ext>
            </a:extLst>
          </p:cNvPr>
          <p:cNvSpPr>
            <a:spLocks xmlns:a="http://schemas.openxmlformats.org/drawingml/2006/main" noGrp="1"/>
          </p:cNvSpPr>
          <p:nvPr/>
        </p:nvSpPr>
        <p:spPr>
          <a:xfrm xmlns:a="http://schemas.openxmlformats.org/drawingml/2006/main">
            <a:off x="1943100" y="2876550"/>
            <a:ext cx="2990850" cy="171450"/>
          </a:xfrm>
          <a:prstGeom xmlns:a="http://schemas.openxmlformats.org/drawingml/2006/main" prst="rect">
            <a:avLst/>
          </a:prstGeom>
          <a:solidFill xmlns:a="http://schemas.openxmlformats.org/drawingml/2006/main">
            <a:srgbClr val="E6E8EC"/>
          </a:solidFill>
          <a:ln xmlns:a="http://schemas.openxmlformats.org/drawingml/2006/main" w="0">
            <a:solidFill>
              <a:srgbClr val="E6E8EC"/>
            </a:solidFill>
            <a:prstDash val="solid"/>
          </a:ln>
        </p:spPr>
      </p:sp>
      <p:sp>
        <p:nvSpPr>
          <p:cNvPr id="11" name="">
            <a:extLst xmlns:a="http://schemas.openxmlformats.org/drawingml/2006/main">
              <a:ext uri="{FF2B5EF4-FFF2-40B4-BE49-F238E27FC236}">
                <a16:creationId xmlns:a16="http://schemas.microsoft.com/office/drawing/2014/main" id="{ECB6FDE1-B34F-48FB-819C-9E40FCEE9850}"/>
              </a:ext>
            </a:extLst>
          </p:cNvPr>
          <p:cNvSpPr>
            <a:spLocks xmlns:a="http://schemas.openxmlformats.org/drawingml/2006/main" noGrp="1"/>
          </p:cNvSpPr>
          <p:nvPr/>
        </p:nvSpPr>
        <p:spPr>
          <a:xfrm xmlns:a="http://schemas.openxmlformats.org/drawingml/2006/main">
            <a:off x="1943100" y="2876550"/>
            <a:ext cx="28575" cy="171450"/>
          </a:xfrm>
          <a:prstGeom xmlns:a="http://schemas.openxmlformats.org/drawingml/2006/main" prst="rect">
            <a:avLst/>
          </a:prstGeom>
          <a:solidFill xmlns:a="http://schemas.openxmlformats.org/drawingml/2006/main">
            <a:srgbClr val="D64B4B"/>
          </a:solidFill>
          <a:ln xmlns:a="http://schemas.openxmlformats.org/drawingml/2006/main" w="0">
            <a:solidFill>
              <a:srgbClr val="D64B4B"/>
            </a:solidFill>
            <a:prstDash val="solid"/>
          </a:ln>
        </p:spPr>
      </p:sp>
      <p:sp>
        <p:nvSpPr>
          <p:cNvPr id="12" name="">
            <a:extLst xmlns:a="http://schemas.openxmlformats.org/drawingml/2006/main">
              <a:ext uri="{FF2B5EF4-FFF2-40B4-BE49-F238E27FC236}">
                <a16:creationId xmlns:a16="http://schemas.microsoft.com/office/drawing/2014/main" id="{C15AC5B7-1E3B-4CC0-BA81-D73639EC2939}"/>
              </a:ext>
            </a:extLst>
          </p:cNvPr>
          <p:cNvSpPr>
            <a:spLocks xmlns:a="http://schemas.openxmlformats.org/drawingml/2006/main" noGrp="1"/>
          </p:cNvSpPr>
          <p:nvPr/>
        </p:nvSpPr>
        <p:spPr>
          <a:xfrm xmlns:a="http://schemas.openxmlformats.org/drawingml/2006/main">
            <a:off x="5029200" y="2847975"/>
            <a:ext cx="666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D64B4B"/>
                </a:solidFill>
                <a:latin typeface="Helvetica Neue"/>
                <a:ea typeface="Helvetica Neue"/>
                <a:cs typeface="Helvetica Neue"/>
              </a:defRPr>
            </a:pPr>
            <a:r>
              <a:rPr sz="1275" b="1" i="0">
                <a:solidFill>
                  <a:srgbClr val="D64B4B"/>
                </a:solidFill>
                <a:latin typeface="Helvetica Neue"/>
                <a:ea typeface="Helvetica Neue"/>
                <a:cs typeface="Helvetica Neue"/>
              </a:rPr>
              <a:t>ρ .002</a:t>
            </a:r>
          </a:p>
        </p:txBody>
      </p:sp>
      <p:sp>
        <p:nvSpPr>
          <p:cNvPr id="13" name="">
            <a:extLst xmlns:a="http://schemas.openxmlformats.org/drawingml/2006/main">
              <a:ext uri="{FF2B5EF4-FFF2-40B4-BE49-F238E27FC236}">
                <a16:creationId xmlns:a16="http://schemas.microsoft.com/office/drawing/2014/main" id="{950CD22A-573D-4A59-93C1-E58E55420F72}"/>
              </a:ext>
            </a:extLst>
          </p:cNvPr>
          <p:cNvSpPr>
            <a:spLocks xmlns:a="http://schemas.openxmlformats.org/drawingml/2006/main" noGrp="1"/>
          </p:cNvSpPr>
          <p:nvPr/>
        </p:nvSpPr>
        <p:spPr>
          <a:xfrm xmlns:a="http://schemas.openxmlformats.org/drawingml/2006/main">
            <a:off x="1943100" y="31432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RT AUC .493  ·  JUICE .715</a:t>
            </a:r>
          </a:p>
        </p:txBody>
      </p:sp>
      <p:sp>
        <p:nvSpPr>
          <p:cNvPr id="14" name="">
            <a:extLst xmlns:a="http://schemas.openxmlformats.org/drawingml/2006/main">
              <a:ext uri="{FF2B5EF4-FFF2-40B4-BE49-F238E27FC236}">
                <a16:creationId xmlns:a16="http://schemas.microsoft.com/office/drawing/2014/main" id="{95E21BA2-F479-4AE1-A240-1707754701DA}"/>
              </a:ext>
            </a:extLst>
          </p:cNvPr>
          <p:cNvSpPr>
            <a:spLocks xmlns:a="http://schemas.openxmlformats.org/drawingml/2006/main" noGrp="1"/>
          </p:cNvSpPr>
          <p:nvPr/>
        </p:nvSpPr>
        <p:spPr>
          <a:xfrm xmlns:a="http://schemas.openxmlformats.org/drawingml/2006/main">
            <a:off x="647700" y="3590925"/>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st-adv</a:t>
            </a:r>
          </a:p>
        </p:txBody>
      </p:sp>
      <p:sp>
        <p:nvSpPr>
          <p:cNvPr id="15" name="">
            <a:extLst xmlns:a="http://schemas.openxmlformats.org/drawingml/2006/main">
              <a:ext uri="{FF2B5EF4-FFF2-40B4-BE49-F238E27FC236}">
                <a16:creationId xmlns:a16="http://schemas.microsoft.com/office/drawing/2014/main" id="{BB12B865-68C4-4AFA-87A9-96CA35AC87BD}"/>
              </a:ext>
            </a:extLst>
          </p:cNvPr>
          <p:cNvSpPr>
            <a:spLocks xmlns:a="http://schemas.openxmlformats.org/drawingml/2006/main" noGrp="1"/>
          </p:cNvSpPr>
          <p:nvPr/>
        </p:nvSpPr>
        <p:spPr>
          <a:xfrm xmlns:a="http://schemas.openxmlformats.org/drawingml/2006/main">
            <a:off x="1943100" y="3609975"/>
            <a:ext cx="2990850" cy="171450"/>
          </a:xfrm>
          <a:prstGeom xmlns:a="http://schemas.openxmlformats.org/drawingml/2006/main" prst="rect">
            <a:avLst/>
          </a:prstGeom>
          <a:solidFill xmlns:a="http://schemas.openxmlformats.org/drawingml/2006/main">
            <a:srgbClr val="E6E8EC"/>
          </a:solidFill>
          <a:ln xmlns:a="http://schemas.openxmlformats.org/drawingml/2006/main" w="0">
            <a:solidFill>
              <a:srgbClr val="E6E8EC"/>
            </a:solidFill>
            <a:prstDash val="solid"/>
          </a:ln>
        </p:spPr>
      </p:sp>
      <p:sp>
        <p:nvSpPr>
          <p:cNvPr id="16" name="">
            <a:extLst xmlns:a="http://schemas.openxmlformats.org/drawingml/2006/main">
              <a:ext uri="{FF2B5EF4-FFF2-40B4-BE49-F238E27FC236}">
                <a16:creationId xmlns:a16="http://schemas.microsoft.com/office/drawing/2014/main" id="{7B9CF201-6C91-4B90-ACB8-EF56EF24C0AF}"/>
              </a:ext>
            </a:extLst>
          </p:cNvPr>
          <p:cNvSpPr>
            <a:spLocks xmlns:a="http://schemas.openxmlformats.org/drawingml/2006/main" noGrp="1"/>
          </p:cNvSpPr>
          <p:nvPr/>
        </p:nvSpPr>
        <p:spPr>
          <a:xfrm xmlns:a="http://schemas.openxmlformats.org/drawingml/2006/main">
            <a:off x="1943100" y="3609975"/>
            <a:ext cx="38100" cy="171450"/>
          </a:xfrm>
          <a:prstGeom xmlns:a="http://schemas.openxmlformats.org/drawingml/2006/main" prst="rect">
            <a:avLst/>
          </a:prstGeom>
          <a:solidFill xmlns:a="http://schemas.openxmlformats.org/drawingml/2006/main">
            <a:srgbClr val="D64B4B"/>
          </a:solidFill>
          <a:ln xmlns:a="http://schemas.openxmlformats.org/drawingml/2006/main" w="0">
            <a:solidFill>
              <a:srgbClr val="D64B4B"/>
            </a:solidFill>
            <a:prstDash val="solid"/>
          </a:ln>
        </p:spPr>
      </p:sp>
      <p:sp>
        <p:nvSpPr>
          <p:cNvPr id="17" name="">
            <a:extLst xmlns:a="http://schemas.openxmlformats.org/drawingml/2006/main">
              <a:ext uri="{FF2B5EF4-FFF2-40B4-BE49-F238E27FC236}">
                <a16:creationId xmlns:a16="http://schemas.microsoft.com/office/drawing/2014/main" id="{33035A0C-AC4B-4723-9F3F-0EF0BDBC51DC}"/>
              </a:ext>
            </a:extLst>
          </p:cNvPr>
          <p:cNvSpPr>
            <a:spLocks xmlns:a="http://schemas.openxmlformats.org/drawingml/2006/main" noGrp="1"/>
          </p:cNvSpPr>
          <p:nvPr/>
        </p:nvSpPr>
        <p:spPr>
          <a:xfrm xmlns:a="http://schemas.openxmlformats.org/drawingml/2006/main">
            <a:off x="5029200" y="3581400"/>
            <a:ext cx="666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D64B4B"/>
                </a:solidFill>
                <a:latin typeface="Helvetica Neue"/>
                <a:ea typeface="Helvetica Neue"/>
                <a:cs typeface="Helvetica Neue"/>
              </a:defRPr>
            </a:pPr>
            <a:r>
              <a:rPr sz="1275" b="1" i="0">
                <a:solidFill>
                  <a:srgbClr val="D64B4B"/>
                </a:solidFill>
                <a:latin typeface="Helvetica Neue"/>
                <a:ea typeface="Helvetica Neue"/>
                <a:cs typeface="Helvetica Neue"/>
              </a:rPr>
              <a:t>ρ .006</a:t>
            </a:r>
          </a:p>
        </p:txBody>
      </p:sp>
      <p:sp>
        <p:nvSpPr>
          <p:cNvPr id="18" name="">
            <a:extLst xmlns:a="http://schemas.openxmlformats.org/drawingml/2006/main">
              <a:ext uri="{FF2B5EF4-FFF2-40B4-BE49-F238E27FC236}">
                <a16:creationId xmlns:a16="http://schemas.microsoft.com/office/drawing/2014/main" id="{ABFE37C2-0115-4F36-BD45-800D03D0217C}"/>
              </a:ext>
            </a:extLst>
          </p:cNvPr>
          <p:cNvSpPr>
            <a:spLocks xmlns:a="http://schemas.openxmlformats.org/drawingml/2006/main" noGrp="1"/>
          </p:cNvSpPr>
          <p:nvPr/>
        </p:nvSpPr>
        <p:spPr>
          <a:xfrm xmlns:a="http://schemas.openxmlformats.org/drawingml/2006/main">
            <a:off x="1943100" y="3876675"/>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RT R² −.017  ·  JUICE .470</a:t>
            </a:r>
          </a:p>
        </p:txBody>
      </p:sp>
      <p:sp>
        <p:nvSpPr>
          <p:cNvPr id="19" name="">
            <a:extLst xmlns:a="http://schemas.openxmlformats.org/drawingml/2006/main">
              <a:ext uri="{FF2B5EF4-FFF2-40B4-BE49-F238E27FC236}">
                <a16:creationId xmlns:a16="http://schemas.microsoft.com/office/drawing/2014/main" id="{F871102E-77AF-4734-B087-5B934898D18C}"/>
              </a:ext>
            </a:extLst>
          </p:cNvPr>
          <p:cNvSpPr>
            <a:spLocks xmlns:a="http://schemas.openxmlformats.org/drawingml/2006/main" noGrp="1"/>
          </p:cNvSpPr>
          <p:nvPr/>
        </p:nvSpPr>
        <p:spPr>
          <a:xfrm xmlns:a="http://schemas.openxmlformats.org/drawingml/2006/main">
            <a:off x="647700" y="432435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driver-top3</a:t>
            </a:r>
          </a:p>
        </p:txBody>
      </p:sp>
      <p:sp>
        <p:nvSpPr>
          <p:cNvPr id="20" name="">
            <a:extLst xmlns:a="http://schemas.openxmlformats.org/drawingml/2006/main">
              <a:ext uri="{FF2B5EF4-FFF2-40B4-BE49-F238E27FC236}">
                <a16:creationId xmlns:a16="http://schemas.microsoft.com/office/drawing/2014/main" id="{7F26E075-4A1F-46AB-9B04-96EA7DC7CCEA}"/>
              </a:ext>
            </a:extLst>
          </p:cNvPr>
          <p:cNvSpPr>
            <a:spLocks xmlns:a="http://schemas.openxmlformats.org/drawingml/2006/main" noGrp="1"/>
          </p:cNvSpPr>
          <p:nvPr/>
        </p:nvSpPr>
        <p:spPr>
          <a:xfrm xmlns:a="http://schemas.openxmlformats.org/drawingml/2006/main">
            <a:off x="1943100" y="4343400"/>
            <a:ext cx="2990850" cy="171450"/>
          </a:xfrm>
          <a:prstGeom xmlns:a="http://schemas.openxmlformats.org/drawingml/2006/main" prst="rect">
            <a:avLst/>
          </a:prstGeom>
          <a:solidFill xmlns:a="http://schemas.openxmlformats.org/drawingml/2006/main">
            <a:srgbClr val="E6E8EC"/>
          </a:solidFill>
          <a:ln xmlns:a="http://schemas.openxmlformats.org/drawingml/2006/main" w="0">
            <a:solidFill>
              <a:srgbClr val="E6E8EC"/>
            </a:solidFill>
            <a:prstDash val="solid"/>
          </a:ln>
        </p:spPr>
      </p:sp>
      <p:sp>
        <p:nvSpPr>
          <p:cNvPr id="21" name="">
            <a:extLst xmlns:a="http://schemas.openxmlformats.org/drawingml/2006/main">
              <a:ext uri="{FF2B5EF4-FFF2-40B4-BE49-F238E27FC236}">
                <a16:creationId xmlns:a16="http://schemas.microsoft.com/office/drawing/2014/main" id="{D3AB67AF-F8BF-4037-BE72-0D2AC02DC5AA}"/>
              </a:ext>
            </a:extLst>
          </p:cNvPr>
          <p:cNvSpPr>
            <a:spLocks xmlns:a="http://schemas.openxmlformats.org/drawingml/2006/main" noGrp="1"/>
          </p:cNvSpPr>
          <p:nvPr/>
        </p:nvSpPr>
        <p:spPr>
          <a:xfrm xmlns:a="http://schemas.openxmlformats.org/drawingml/2006/main">
            <a:off x="1943100" y="4343400"/>
            <a:ext cx="2667000" cy="171450"/>
          </a:xfrm>
          <a:prstGeom xmlns:a="http://schemas.openxmlformats.org/drawingml/2006/main" prst="rect">
            <a:avLst/>
          </a:prstGeom>
          <a:solidFill xmlns:a="http://schemas.openxmlformats.org/drawingml/2006/main">
            <a:srgbClr val="2D8A5B"/>
          </a:solidFill>
          <a:ln xmlns:a="http://schemas.openxmlformats.org/drawingml/2006/main" w="0">
            <a:solidFill>
              <a:srgbClr val="2D8A5B"/>
            </a:solidFill>
            <a:prstDash val="solid"/>
          </a:ln>
        </p:spPr>
      </p:sp>
      <p:sp>
        <p:nvSpPr>
          <p:cNvPr id="22" name="">
            <a:extLst xmlns:a="http://schemas.openxmlformats.org/drawingml/2006/main">
              <a:ext uri="{FF2B5EF4-FFF2-40B4-BE49-F238E27FC236}">
                <a16:creationId xmlns:a16="http://schemas.microsoft.com/office/drawing/2014/main" id="{88322D5D-B4B4-4439-AAC7-8833D3F3E6C8}"/>
              </a:ext>
            </a:extLst>
          </p:cNvPr>
          <p:cNvSpPr>
            <a:spLocks xmlns:a="http://schemas.openxmlformats.org/drawingml/2006/main" noGrp="1"/>
          </p:cNvSpPr>
          <p:nvPr/>
        </p:nvSpPr>
        <p:spPr>
          <a:xfrm xmlns:a="http://schemas.openxmlformats.org/drawingml/2006/main">
            <a:off x="5029200" y="4314825"/>
            <a:ext cx="666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2D8A5B"/>
                </a:solidFill>
                <a:latin typeface="Helvetica Neue"/>
                <a:ea typeface="Helvetica Neue"/>
                <a:cs typeface="Helvetica Neue"/>
              </a:defRPr>
            </a:pPr>
            <a:r>
              <a:rPr sz="1275" b="1" i="0">
                <a:solidFill>
                  <a:srgbClr val="2D8A5B"/>
                </a:solidFill>
                <a:latin typeface="Helvetica Neue"/>
                <a:ea typeface="Helvetica Neue"/>
                <a:cs typeface="Helvetica Neue"/>
              </a:rPr>
              <a:t>ρ .893</a:t>
            </a:r>
          </a:p>
        </p:txBody>
      </p:sp>
      <p:sp>
        <p:nvSpPr>
          <p:cNvPr id="23" name="">
            <a:extLst xmlns:a="http://schemas.openxmlformats.org/drawingml/2006/main">
              <a:ext uri="{FF2B5EF4-FFF2-40B4-BE49-F238E27FC236}">
                <a16:creationId xmlns:a16="http://schemas.microsoft.com/office/drawing/2014/main" id="{2C91DCF5-F456-4634-8212-A21B581148D6}"/>
              </a:ext>
            </a:extLst>
          </p:cNvPr>
          <p:cNvSpPr>
            <a:spLocks xmlns:a="http://schemas.openxmlformats.org/drawingml/2006/main" noGrp="1"/>
          </p:cNvSpPr>
          <p:nvPr/>
        </p:nvSpPr>
        <p:spPr>
          <a:xfrm xmlns:a="http://schemas.openxmlformats.org/drawingml/2006/main">
            <a:off x="1943100" y="46101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RT AUC .824  ·  high reachability</a:t>
            </a:r>
          </a:p>
        </p:txBody>
      </p:sp>
      <p:sp>
        <p:nvSpPr>
          <p:cNvPr id="24" name="">
            <a:extLst xmlns:a="http://schemas.openxmlformats.org/drawingml/2006/main">
              <a:ext uri="{FF2B5EF4-FFF2-40B4-BE49-F238E27FC236}">
                <a16:creationId xmlns:a16="http://schemas.microsoft.com/office/drawing/2014/main" id="{56079953-7DDE-4111-9836-C8E855BF6B87}"/>
              </a:ext>
            </a:extLst>
          </p:cNvPr>
          <p:cNvSpPr>
            <a:spLocks xmlns:a="http://schemas.openxmlformats.org/drawingml/2006/main" noGrp="1"/>
          </p:cNvSpPr>
          <p:nvPr/>
        </p:nvSpPr>
        <p:spPr>
          <a:xfrm xmlns:a="http://schemas.openxmlformats.org/drawingml/2006/main">
            <a:off x="5981700" y="1809750"/>
            <a:ext cx="5410200" cy="3457575"/>
          </a:xfrm>
          <a:prstGeom xmlns:a="http://schemas.openxmlformats.org/drawingml/2006/main" prst="roundRect">
            <a:avLst>
              <a:gd name="adj" fmla="val 4959"/>
            </a:avLst>
          </a:prstGeom>
          <a:solidFill xmlns:a="http://schemas.openxmlformats.org/drawingml/2006/main">
            <a:srgbClr val="F6F7F9"/>
          </a:solidFill>
          <a:ln xmlns:a="http://schemas.openxmlformats.org/drawingml/2006/main" w="9525">
            <a:solidFill>
              <a:srgbClr val="E6E8EC"/>
            </a:solidFill>
            <a:prstDash val="solid"/>
          </a:ln>
        </p:spPr>
      </p:sp>
      <p:sp>
        <p:nvSpPr>
          <p:cNvPr id="25" name="">
            <a:extLst xmlns:a="http://schemas.openxmlformats.org/drawingml/2006/main">
              <a:ext uri="{FF2B5EF4-FFF2-40B4-BE49-F238E27FC236}">
                <a16:creationId xmlns:a16="http://schemas.microsoft.com/office/drawing/2014/main" id="{A504A37A-300C-4910-BA8C-40AB74DD9FB5}"/>
              </a:ext>
            </a:extLst>
          </p:cNvPr>
          <p:cNvSpPr>
            <a:spLocks xmlns:a="http://schemas.openxmlformats.org/drawingml/2006/main" noGrp="1"/>
          </p:cNvSpPr>
          <p:nvPr/>
        </p:nvSpPr>
        <p:spPr>
          <a:xfrm xmlns:a="http://schemas.openxmlformats.org/drawingml/2006/main">
            <a:off x="6324600" y="211455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11318"/>
                </a:solidFill>
                <a:latin typeface="Helvetica Neue"/>
                <a:ea typeface="Helvetica Neue"/>
                <a:cs typeface="Helvetica Neue"/>
              </a:defRPr>
            </a:pPr>
            <a:r>
              <a:rPr sz="1800" b="1" i="0">
                <a:solidFill>
                  <a:srgbClr val="111318"/>
                </a:solidFill>
                <a:latin typeface="Helvetica Neue"/>
                <a:ea typeface="Helvetica Neue"/>
                <a:cs typeface="Helvetica Neue"/>
              </a:rPr>
              <a:t>Corruption probes reveal two regimes</a:t>
            </a:r>
          </a:p>
        </p:txBody>
      </p:sp>
      <p:sp>
        <p:nvSpPr>
          <p:cNvPr id="26" name="">
            <a:extLst xmlns:a="http://schemas.openxmlformats.org/drawingml/2006/main">
              <a:ext uri="{FF2B5EF4-FFF2-40B4-BE49-F238E27FC236}">
                <a16:creationId xmlns:a16="http://schemas.microsoft.com/office/drawing/2014/main" id="{07658268-88FC-4513-86C2-70522A3F4A19}"/>
              </a:ext>
            </a:extLst>
          </p:cNvPr>
          <p:cNvSpPr>
            <a:spLocks xmlns:a="http://schemas.openxmlformats.org/drawingml/2006/main" noGrp="1"/>
          </p:cNvSpPr>
          <p:nvPr/>
        </p:nvSpPr>
        <p:spPr>
          <a:xfrm xmlns:a="http://schemas.openxmlformats.org/drawingml/2006/main">
            <a:off x="6324600" y="2667000"/>
            <a:ext cx="1847850" cy="295275"/>
          </a:xfrm>
          <a:prstGeom xmlns:a="http://schemas.openxmlformats.org/drawingml/2006/main" prst="roundRect">
            <a:avLst>
              <a:gd name="adj" fmla="val 48387"/>
            </a:avLst>
          </a:prstGeom>
          <a:solidFill xmlns:a="http://schemas.openxmlformats.org/drawingml/2006/main">
            <a:srgbClr val="FFF0F0"/>
          </a:solidFill>
          <a:ln xmlns:a="http://schemas.openxmlformats.org/drawingml/2006/main" w="9525">
            <a:solidFill>
              <a:srgbClr val="FFF0F0"/>
            </a:solidFill>
            <a:prstDash val="solid"/>
          </a:ln>
        </p:spPr>
      </p:sp>
      <p:sp>
        <p:nvSpPr>
          <p:cNvPr id="27" name="">
            <a:extLst xmlns:a="http://schemas.openxmlformats.org/drawingml/2006/main">
              <a:ext uri="{FF2B5EF4-FFF2-40B4-BE49-F238E27FC236}">
                <a16:creationId xmlns:a16="http://schemas.microsoft.com/office/drawing/2014/main" id="{64F495B7-1C40-4CE2-9275-0E964BC01C33}"/>
              </a:ext>
            </a:extLst>
          </p:cNvPr>
          <p:cNvSpPr>
            <a:spLocks xmlns:a="http://schemas.openxmlformats.org/drawingml/2006/main" noGrp="1"/>
          </p:cNvSpPr>
          <p:nvPr/>
        </p:nvSpPr>
        <p:spPr>
          <a:xfrm xmlns:a="http://schemas.openxmlformats.org/drawingml/2006/main">
            <a:off x="6400800" y="2714625"/>
            <a:ext cx="1695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D64B4B"/>
                </a:solidFill>
                <a:latin typeface="Helvetica Neue"/>
                <a:ea typeface="Helvetica Neue"/>
                <a:cs typeface="Helvetica Neue"/>
              </a:defRPr>
            </a:pPr>
            <a:r>
              <a:rPr sz="1050" b="1" i="0">
                <a:solidFill>
                  <a:srgbClr val="D64B4B"/>
                </a:solidFill>
                <a:latin typeface="Helvetica Neue"/>
                <a:ea typeface="Helvetica Neue"/>
                <a:cs typeface="Helvetica Neue"/>
              </a:rPr>
              <a:t>Lazy / frozen-feature</a:t>
            </a:r>
          </a:p>
        </p:txBody>
      </p:sp>
      <p:sp>
        <p:nvSpPr>
          <p:cNvPr id="28" name="">
            <a:extLst xmlns:a="http://schemas.openxmlformats.org/drawingml/2006/main">
              <a:ext uri="{FF2B5EF4-FFF2-40B4-BE49-F238E27FC236}">
                <a16:creationId xmlns:a16="http://schemas.microsoft.com/office/drawing/2014/main" id="{4FE8BEAD-E7E4-49EC-A0D9-585417F8D33D}"/>
              </a:ext>
            </a:extLst>
          </p:cNvPr>
          <p:cNvSpPr>
            <a:spLocks xmlns:a="http://schemas.openxmlformats.org/drawingml/2006/main" noGrp="1"/>
          </p:cNvSpPr>
          <p:nvPr/>
        </p:nvSpPr>
        <p:spPr>
          <a:xfrm xmlns:a="http://schemas.openxmlformats.org/drawingml/2006/main">
            <a:off x="6324600" y="3114675"/>
            <a:ext cx="455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11318"/>
                </a:solidFill>
                <a:latin typeface="Helvetica Neue"/>
                <a:ea typeface="Helvetica Neue"/>
                <a:cs typeface="Helvetica Neue"/>
              </a:defRPr>
            </a:pPr>
            <a:r>
              <a:rPr sz="1425" b="0" i="0">
                <a:solidFill>
                  <a:srgbClr val="111318"/>
                </a:solidFill>
                <a:latin typeface="Helvetica Neue"/>
                <a:ea typeface="Helvetica Neue"/>
                <a:cs typeface="Helvetica Neue"/>
              </a:rPr>
              <a:t>RT-PluRel barely changes when relational features are shuffled or randomized.</a:t>
            </a:r>
          </a:p>
        </p:txBody>
      </p:sp>
      <p:sp>
        <p:nvSpPr>
          <p:cNvPr id="29" name="">
            <a:extLst xmlns:a="http://schemas.openxmlformats.org/drawingml/2006/main">
              <a:ext uri="{FF2B5EF4-FFF2-40B4-BE49-F238E27FC236}">
                <a16:creationId xmlns:a16="http://schemas.microsoft.com/office/drawing/2014/main" id="{59382530-37BE-4F62-AD11-DD6EBB06E63D}"/>
              </a:ext>
            </a:extLst>
          </p:cNvPr>
          <p:cNvSpPr>
            <a:spLocks xmlns:a="http://schemas.openxmlformats.org/drawingml/2006/main" noGrp="1"/>
          </p:cNvSpPr>
          <p:nvPr/>
        </p:nvSpPr>
        <p:spPr>
          <a:xfrm xmlns:a="http://schemas.openxmlformats.org/drawingml/2006/main">
            <a:off x="6324600" y="3905250"/>
            <a:ext cx="1581150" cy="295275"/>
          </a:xfrm>
          <a:prstGeom xmlns:a="http://schemas.openxmlformats.org/drawingml/2006/main" prst="roundRect">
            <a:avLst>
              <a:gd name="adj" fmla="val 48387"/>
            </a:avLst>
          </a:prstGeom>
          <a:solidFill xmlns:a="http://schemas.openxmlformats.org/drawingml/2006/main">
            <a:srgbClr val="E8F5ED"/>
          </a:solidFill>
          <a:ln xmlns:a="http://schemas.openxmlformats.org/drawingml/2006/main" w="9525">
            <a:solidFill>
              <a:srgbClr val="E8F5ED"/>
            </a:solidFill>
            <a:prstDash val="solid"/>
          </a:ln>
        </p:spPr>
      </p:sp>
      <p:sp>
        <p:nvSpPr>
          <p:cNvPr id="30" name="">
            <a:extLst xmlns:a="http://schemas.openxmlformats.org/drawingml/2006/main">
              <a:ext uri="{FF2B5EF4-FFF2-40B4-BE49-F238E27FC236}">
                <a16:creationId xmlns:a16="http://schemas.microsoft.com/office/drawing/2014/main" id="{5F4C58B8-9FB9-4FE1-9235-773D79D6A2E0}"/>
              </a:ext>
            </a:extLst>
          </p:cNvPr>
          <p:cNvSpPr>
            <a:spLocks xmlns:a="http://schemas.openxmlformats.org/drawingml/2006/main" noGrp="1"/>
          </p:cNvSpPr>
          <p:nvPr/>
        </p:nvSpPr>
        <p:spPr>
          <a:xfrm xmlns:a="http://schemas.openxmlformats.org/drawingml/2006/main">
            <a:off x="6400800" y="3952875"/>
            <a:ext cx="1428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2D8A5B"/>
                </a:solidFill>
                <a:latin typeface="Helvetica Neue"/>
                <a:ea typeface="Helvetica Neue"/>
                <a:cs typeface="Helvetica Neue"/>
              </a:defRPr>
            </a:pPr>
            <a:r>
              <a:rPr sz="1050" b="1" i="0">
                <a:solidFill>
                  <a:srgbClr val="2D8A5B"/>
                </a:solidFill>
                <a:latin typeface="Helvetica Neue"/>
                <a:ea typeface="Helvetica Neue"/>
                <a:cs typeface="Helvetica Neue"/>
              </a:rPr>
              <a:t>Feature learning</a:t>
            </a:r>
          </a:p>
        </p:txBody>
      </p:sp>
      <p:sp>
        <p:nvSpPr>
          <p:cNvPr id="31" name="">
            <a:extLst xmlns:a="http://schemas.openxmlformats.org/drawingml/2006/main">
              <a:ext uri="{FF2B5EF4-FFF2-40B4-BE49-F238E27FC236}">
                <a16:creationId xmlns:a16="http://schemas.microsoft.com/office/drawing/2014/main" id="{A4AAFF12-8F59-4E58-9272-DE22F7AFA556}"/>
              </a:ext>
            </a:extLst>
          </p:cNvPr>
          <p:cNvSpPr>
            <a:spLocks xmlns:a="http://schemas.openxmlformats.org/drawingml/2006/main" noGrp="1"/>
          </p:cNvSpPr>
          <p:nvPr/>
        </p:nvSpPr>
        <p:spPr>
          <a:xfrm xmlns:a="http://schemas.openxmlformats.org/drawingml/2006/main">
            <a:off x="6324600" y="4352925"/>
            <a:ext cx="4552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11318"/>
                </a:solidFill>
                <a:latin typeface="Helvetica Neue"/>
                <a:ea typeface="Helvetica Neue"/>
                <a:cs typeface="Helvetica Neue"/>
              </a:defRPr>
            </a:pPr>
            <a:r>
              <a:rPr sz="1425" b="0" i="0">
                <a:solidFill>
                  <a:srgbClr val="111318"/>
                </a:solidFill>
                <a:latin typeface="Helvetica Neue"/>
                <a:ea typeface="Helvetica Neue"/>
                <a:cs typeface="Helvetica Neue"/>
              </a:rPr>
              <a:t>Co-training or held-out real-data pretraining makes predictions depend on relational features.</a:t>
            </a:r>
          </a:p>
        </p:txBody>
      </p:sp>
      <p:sp>
        <p:nvSpPr>
          <p:cNvPr id="32" name="">
            <a:extLst xmlns:a="http://schemas.openxmlformats.org/drawingml/2006/main">
              <a:ext uri="{FF2B5EF4-FFF2-40B4-BE49-F238E27FC236}">
                <a16:creationId xmlns:a16="http://schemas.microsoft.com/office/drawing/2014/main" id="{7447C410-A94E-43F9-B1DB-0F01885818F7}"/>
              </a:ext>
            </a:extLst>
          </p:cNvPr>
          <p:cNvSpPr>
            <a:spLocks xmlns:a="http://schemas.openxmlformats.org/drawingml/2006/main" noGrp="1"/>
          </p:cNvSpPr>
          <p:nvPr/>
        </p:nvSpPr>
        <p:spPr>
          <a:xfrm xmlns:a="http://schemas.openxmlformats.org/drawingml/2006/main">
            <a:off x="647700" y="5553075"/>
            <a:ext cx="10744200" cy="6667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651038BC-DB99-40AD-A33B-F36B9E762E2C}"/>
              </a:ext>
            </a:extLst>
          </p:cNvPr>
          <p:cNvSpPr>
            <a:spLocks xmlns:a="http://schemas.openxmlformats.org/drawingml/2006/main" noGrp="1"/>
          </p:cNvSpPr>
          <p:nvPr/>
        </p:nvSpPr>
        <p:spPr>
          <a:xfrm xmlns:a="http://schemas.openxmlformats.org/drawingml/2006/main">
            <a:off x="876300" y="57435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6DCBF4"/>
                </a:solidFill>
                <a:latin typeface="Helvetica Neue"/>
                <a:ea typeface="Helvetica Neue"/>
                <a:cs typeface="Helvetica Neue"/>
              </a:defRPr>
            </a:pPr>
            <a:r>
              <a:rPr sz="1275" b="1" i="0">
                <a:solidFill>
                  <a:srgbClr val="6DCBF4"/>
                </a:solidFill>
                <a:latin typeface="Helvetica Neue"/>
                <a:ea typeface="Helvetica Neue"/>
                <a:cs typeface="Helvetica Neue"/>
              </a:rPr>
              <a:t>Diagnosis</a:t>
            </a:r>
          </a:p>
        </p:txBody>
      </p:sp>
      <p:sp>
        <p:nvSpPr>
          <p:cNvPr id="34" name="">
            <a:extLst xmlns:a="http://schemas.openxmlformats.org/drawingml/2006/main">
              <a:ext uri="{FF2B5EF4-FFF2-40B4-BE49-F238E27FC236}">
                <a16:creationId xmlns:a16="http://schemas.microsoft.com/office/drawing/2014/main" id="{9D5BFC38-AFF1-4824-AF97-3AC5E98B8004}"/>
              </a:ext>
            </a:extLst>
          </p:cNvPr>
          <p:cNvSpPr>
            <a:spLocks xmlns:a="http://schemas.openxmlformats.org/drawingml/2006/main" noGrp="1"/>
          </p:cNvSpPr>
          <p:nvPr/>
        </p:nvSpPr>
        <p:spPr>
          <a:xfrm xmlns:a="http://schemas.openxmlformats.org/drawingml/2006/main">
            <a:off x="2038350" y="5695950"/>
            <a:ext cx="902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Two bottlenecks: sparse reachable labels + a pretraining prior that does not force support-sensitive relational reasoning.</a:t>
            </a:r>
          </a:p>
        </p:txBody>
      </p:sp>
      <p:sp>
        <p:nvSpPr>
          <p:cNvPr id="35" name="">
            <a:extLst xmlns:a="http://schemas.openxmlformats.org/drawingml/2006/main">
              <a:ext uri="{FF2B5EF4-FFF2-40B4-BE49-F238E27FC236}">
                <a16:creationId xmlns:a16="http://schemas.microsoft.com/office/drawing/2014/main" id="{6814E1BB-6292-4A33-8D81-0168D1BA66AB}"/>
              </a:ext>
            </a:extLst>
          </p:cNvPr>
          <p:cNvSpPr>
            <a:spLocks xmlns:a="http://schemas.openxmlformats.org/drawingml/2006/main" noGrp="1"/>
          </p:cNvSpPr>
          <p:nvPr/>
        </p:nvSpPr>
        <p:spPr>
          <a:xfrm xmlns:a="http://schemas.openxmlformats.org/drawingml/2006/main">
            <a:off x="647700" y="64198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Sources and methodological caveats are in speaker notes</a:t>
            </a:r>
          </a:p>
        </p:txBody>
      </p:sp>
    </p:spTree>
    <p:extLst>
      <p:ext uri="{BB962C8B-B14F-4D97-AF65-F5344CB8AC3E}">
        <p14:creationId xmlns:p14="http://schemas.microsoft.com/office/powerpoint/2010/main" val="13228313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C0B0E75-A655-4F45-8372-709AA0587765}"/>
              </a:ext>
            </a:extLst>
          </p:cNvPr>
          <p:cNvSpPr>
            <a:spLocks xmlns:a="http://schemas.openxmlformats.org/drawingml/2006/main" noGrp="1"/>
          </p:cNvSpPr>
          <p:nvPr/>
        </p:nvSpPr>
        <p:spPr>
          <a:xfrm xmlns:a="http://schemas.openxmlformats.org/drawingml/2006/main">
            <a:off x="647700" y="3238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16873"/>
                </a:solidFill>
                <a:latin typeface="Helvetica Neue"/>
                <a:ea typeface="Helvetica Neue"/>
                <a:cs typeface="Helvetica Neue"/>
              </a:defRPr>
            </a:pPr>
            <a:r>
              <a:rPr sz="1050" b="1" i="0">
                <a:solidFill>
                  <a:srgbClr val="616873"/>
                </a:solidFill>
                <a:latin typeface="Helvetica Neue"/>
                <a:ea typeface="Helvetica Neue"/>
                <a:cs typeface="Helvetica Neue"/>
              </a:rPr>
              <a:t>METHOD / OPENRFM</a:t>
            </a:r>
          </a:p>
        </p:txBody>
      </p:sp>
      <p:sp>
        <p:nvSpPr>
          <p:cNvPr id="2" name="">
            <a:extLst xmlns:a="http://schemas.openxmlformats.org/drawingml/2006/main">
              <a:ext uri="{FF2B5EF4-FFF2-40B4-BE49-F238E27FC236}">
                <a16:creationId xmlns:a16="http://schemas.microsoft.com/office/drawing/2014/main" id="{6BC60FE1-D5DF-4E75-8CC5-76DE0FBA31FE}"/>
              </a:ext>
            </a:extLst>
          </p:cNvPr>
          <p:cNvSpPr>
            <a:spLocks xmlns:a="http://schemas.openxmlformats.org/drawingml/2006/main" noGrp="1"/>
          </p:cNvSpPr>
          <p:nvPr/>
        </p:nvSpPr>
        <p:spPr>
          <a:xfrm xmlns:a="http://schemas.openxmlformats.org/drawingml/2006/main">
            <a:off x="647700" y="60960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000000"/>
                </a:solidFill>
                <a:latin typeface="Helvetica Neue"/>
                <a:ea typeface="Helvetica Neue"/>
                <a:cs typeface="Helvetica Neue"/>
              </a:defRPr>
            </a:pPr>
            <a:r>
              <a:rPr sz="3225" b="1" i="0">
                <a:solidFill>
                  <a:srgbClr val="000000"/>
                </a:solidFill>
                <a:latin typeface="Helvetica Neue"/>
                <a:ea typeface="Helvetica Neue"/>
                <a:cs typeface="Helvetica Neue"/>
              </a:rPr>
              <a:t>Dual-stage ICL repairs the missing support channel</a:t>
            </a:r>
          </a:p>
        </p:txBody>
      </p:sp>
      <p:sp>
        <p:nvSpPr>
          <p:cNvPr id="3" name="">
            <a:extLst xmlns:a="http://schemas.openxmlformats.org/drawingml/2006/main">
              <a:ext uri="{FF2B5EF4-FFF2-40B4-BE49-F238E27FC236}">
                <a16:creationId xmlns:a16="http://schemas.microsoft.com/office/drawing/2014/main" id="{4AD0DD8B-50CF-484D-88A1-E5F111E59947}"/>
              </a:ext>
            </a:extLst>
          </p:cNvPr>
          <p:cNvSpPr>
            <a:spLocks xmlns:a="http://schemas.openxmlformats.org/drawingml/2006/main" noGrp="1"/>
          </p:cNvSpPr>
          <p:nvPr/>
        </p:nvSpPr>
        <p:spPr>
          <a:xfrm xmlns:a="http://schemas.openxmlformats.org/drawingml/2006/main">
            <a:off x="647700" y="11715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616873"/>
                </a:solidFill>
                <a:latin typeface="Helvetica Neue"/>
                <a:ea typeface="Helvetica Neue"/>
                <a:cs typeface="Helvetica Neue"/>
              </a:defRPr>
            </a:pPr>
            <a:r>
              <a:rPr sz="1425" b="0" i="0">
                <a:solidFill>
                  <a:srgbClr val="616873"/>
                </a:solidFill>
                <a:latin typeface="Helvetica Neue"/>
                <a:ea typeface="Helvetica Neue"/>
                <a:cs typeface="Helvetica Neue"/>
              </a:rPr>
              <a:t>Relation-level attention builds each example; batch-level attention lets examples teach one another.</a:t>
            </a:r>
          </a:p>
        </p:txBody>
      </p:sp>
      <p:sp>
        <p:nvSpPr>
          <p:cNvPr id="4" name="">
            <a:extLst xmlns:a="http://schemas.openxmlformats.org/drawingml/2006/main">
              <a:ext uri="{FF2B5EF4-FFF2-40B4-BE49-F238E27FC236}">
                <a16:creationId xmlns:a16="http://schemas.microsoft.com/office/drawing/2014/main" id="{AA76D3D4-C23A-408C-BDF3-596783493239}"/>
              </a:ext>
            </a:extLst>
          </p:cNvPr>
          <p:cNvSpPr>
            <a:spLocks xmlns:a="http://schemas.openxmlformats.org/drawingml/2006/main" noGrp="1"/>
          </p:cNvSpPr>
          <p:nvPr/>
        </p:nvSpPr>
        <p:spPr>
          <a:xfrm xmlns:a="http://schemas.openxmlformats.org/drawingml/2006/main">
            <a:off x="647700" y="1533525"/>
            <a:ext cx="108966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5" name="">
            <a:extLst xmlns:a="http://schemas.openxmlformats.org/drawingml/2006/main">
              <a:ext uri="{FF2B5EF4-FFF2-40B4-BE49-F238E27FC236}">
                <a16:creationId xmlns:a16="http://schemas.microsoft.com/office/drawing/2014/main" id="{F777BCB8-413B-4963-AE0D-B68689B2BB8E}"/>
              </a:ext>
            </a:extLst>
          </p:cNvPr>
          <p:cNvSpPr>
            <a:spLocks xmlns:a="http://schemas.openxmlformats.org/drawingml/2006/main" noGrp="1"/>
          </p:cNvSpPr>
          <p:nvPr/>
        </p:nvSpPr>
        <p:spPr>
          <a:xfrm xmlns:a="http://schemas.openxmlformats.org/drawingml/2006/main">
            <a:off x="11068050" y="63912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B8BCC4"/>
                </a:solidFill>
                <a:latin typeface="Helvetica Neue"/>
                <a:ea typeface="Helvetica Neue"/>
                <a:cs typeface="Helvetica Neue"/>
              </a:defRPr>
            </a:pPr>
            <a:r>
              <a:rPr sz="1050" b="1" i="0">
                <a:solidFill>
                  <a:srgbClr val="B8BCC4"/>
                </a:solidFill>
                <a:latin typeface="Helvetica Neue"/>
                <a:ea typeface="Helvetica Neue"/>
                <a:cs typeface="Helvetica Neue"/>
              </a:rPr>
              <a:t>04</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b09febda4f74151"/>
          <a:stretch xmlns:a="http://schemas.openxmlformats.org/drawingml/2006/main"/>
        </p:blipFill>
        <p:spPr>
          <a:xfrm xmlns:a="http://schemas.openxmlformats.org/drawingml/2006/main">
            <a:off x="666750" y="2042809"/>
            <a:ext cx="3143250" cy="334388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8CAFACB-2BA8-4E85-A254-0B688FB86898}"/>
              </a:ext>
            </a:extLst>
          </p:cNvPr>
          <p:cNvSpPr>
            <a:spLocks xmlns:a="http://schemas.openxmlformats.org/drawingml/2006/main" noGrp="1"/>
          </p:cNvSpPr>
          <p:nvPr/>
        </p:nvSpPr>
        <p:spPr>
          <a:xfrm xmlns:a="http://schemas.openxmlformats.org/drawingml/2006/main">
            <a:off x="685800" y="56007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Figure 2 · cropped from the OpenRFM paper</a:t>
            </a:r>
          </a:p>
        </p:txBody>
      </p:sp>
      <p:sp>
        <p:nvSpPr>
          <p:cNvPr id="8" name="">
            <a:extLst xmlns:a="http://schemas.openxmlformats.org/drawingml/2006/main">
              <a:ext uri="{FF2B5EF4-FFF2-40B4-BE49-F238E27FC236}">
                <a16:creationId xmlns:a16="http://schemas.microsoft.com/office/drawing/2014/main" id="{2DFC8C65-BC18-452A-B7AC-7BA845F31491}"/>
              </a:ext>
            </a:extLst>
          </p:cNvPr>
          <p:cNvSpPr>
            <a:spLocks xmlns:a="http://schemas.openxmlformats.org/drawingml/2006/main" noGrp="1"/>
          </p:cNvSpPr>
          <p:nvPr/>
        </p:nvSpPr>
        <p:spPr>
          <a:xfrm xmlns:a="http://schemas.openxmlformats.org/drawingml/2006/main">
            <a:off x="4238625" y="1828800"/>
            <a:ext cx="57150" cy="219075"/>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45A176F3-6883-44E8-9C9E-19C7344C0DC7}"/>
              </a:ext>
            </a:extLst>
          </p:cNvPr>
          <p:cNvSpPr>
            <a:spLocks xmlns:a="http://schemas.openxmlformats.org/drawingml/2006/main" noGrp="1"/>
          </p:cNvSpPr>
          <p:nvPr/>
        </p:nvSpPr>
        <p:spPr>
          <a:xfrm xmlns:a="http://schemas.openxmlformats.org/drawingml/2006/main">
            <a:off x="4410075" y="1809750"/>
            <a:ext cx="3257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Two axes of adaptation</a:t>
            </a:r>
          </a:p>
        </p:txBody>
      </p:sp>
      <p:sp>
        <p:nvSpPr>
          <p:cNvPr id="10" name="">
            <a:extLst xmlns:a="http://schemas.openxmlformats.org/drawingml/2006/main">
              <a:ext uri="{FF2B5EF4-FFF2-40B4-BE49-F238E27FC236}">
                <a16:creationId xmlns:a16="http://schemas.microsoft.com/office/drawing/2014/main" id="{F4F856F8-A031-44D4-AF52-5F790942342C}"/>
              </a:ext>
            </a:extLst>
          </p:cNvPr>
          <p:cNvSpPr>
            <a:spLocks xmlns:a="http://schemas.openxmlformats.org/drawingml/2006/main" noGrp="1"/>
          </p:cNvSpPr>
          <p:nvPr/>
        </p:nvSpPr>
        <p:spPr>
          <a:xfrm xmlns:a="http://schemas.openxmlformats.org/drawingml/2006/main">
            <a:off x="4238625" y="2257425"/>
            <a:ext cx="2514600" cy="1143000"/>
          </a:xfrm>
          <a:prstGeom xmlns:a="http://schemas.openxmlformats.org/drawingml/2006/main" prst="roundRect">
            <a:avLst>
              <a:gd name="adj" fmla="val 13333"/>
            </a:avLst>
          </a:prstGeom>
          <a:solidFill xmlns:a="http://schemas.openxmlformats.org/drawingml/2006/main">
            <a:srgbClr val="E8F6FD"/>
          </a:solidFill>
          <a:ln xmlns:a="http://schemas.openxmlformats.org/drawingml/2006/main" w="11430">
            <a:solidFill>
              <a:srgbClr val="6DCBF4"/>
            </a:solidFill>
            <a:prstDash val="solid"/>
          </a:ln>
        </p:spPr>
      </p:sp>
      <p:sp>
        <p:nvSpPr>
          <p:cNvPr id="11" name="">
            <a:extLst xmlns:a="http://schemas.openxmlformats.org/drawingml/2006/main">
              <a:ext uri="{FF2B5EF4-FFF2-40B4-BE49-F238E27FC236}">
                <a16:creationId xmlns:a16="http://schemas.microsoft.com/office/drawing/2014/main" id="{B2AED3CA-1820-451E-BE52-7DCCD04F1C21}"/>
              </a:ext>
            </a:extLst>
          </p:cNvPr>
          <p:cNvSpPr>
            <a:spLocks xmlns:a="http://schemas.openxmlformats.org/drawingml/2006/main" noGrp="1"/>
          </p:cNvSpPr>
          <p:nvPr/>
        </p:nvSpPr>
        <p:spPr>
          <a:xfrm xmlns:a="http://schemas.openxmlformats.org/drawingml/2006/main">
            <a:off x="4391025" y="2400300"/>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Horizontal</a:t>
            </a:r>
          </a:p>
        </p:txBody>
      </p:sp>
      <p:sp>
        <p:nvSpPr>
          <p:cNvPr id="12" name="">
            <a:extLst xmlns:a="http://schemas.openxmlformats.org/drawingml/2006/main">
              <a:ext uri="{FF2B5EF4-FFF2-40B4-BE49-F238E27FC236}">
                <a16:creationId xmlns:a16="http://schemas.microsoft.com/office/drawing/2014/main" id="{2DC24E59-DEBA-4575-BFF6-A041999E4DFB}"/>
              </a:ext>
            </a:extLst>
          </p:cNvPr>
          <p:cNvSpPr>
            <a:spLocks xmlns:a="http://schemas.openxmlformats.org/drawingml/2006/main" noGrp="1"/>
          </p:cNvSpPr>
          <p:nvPr/>
        </p:nvSpPr>
        <p:spPr>
          <a:xfrm xmlns:a="http://schemas.openxmlformats.org/drawingml/2006/main">
            <a:off x="4391025" y="2752725"/>
            <a:ext cx="2209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RT blocks attend within</a:t>
            </a:r>
          </a:p>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each query’s relational walk</a:t>
            </a:r>
          </a:p>
        </p:txBody>
      </p:sp>
      <p:sp>
        <p:nvSpPr>
          <p:cNvPr id="13" name="">
            <a:extLst xmlns:a="http://schemas.openxmlformats.org/drawingml/2006/main">
              <a:ext uri="{FF2B5EF4-FFF2-40B4-BE49-F238E27FC236}">
                <a16:creationId xmlns:a16="http://schemas.microsoft.com/office/drawing/2014/main" id="{218FDAB0-4614-4B8C-B0AD-C5519507C55C}"/>
              </a:ext>
            </a:extLst>
          </p:cNvPr>
          <p:cNvSpPr>
            <a:spLocks xmlns:a="http://schemas.openxmlformats.org/drawingml/2006/main" noGrp="1"/>
          </p:cNvSpPr>
          <p:nvPr/>
        </p:nvSpPr>
        <p:spPr>
          <a:xfrm xmlns:a="http://schemas.openxmlformats.org/drawingml/2006/main">
            <a:off x="6810375" y="26479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3D8DFF"/>
                </a:solidFill>
                <a:latin typeface="Helvetica Neue"/>
                <a:ea typeface="Helvetica Neue"/>
                <a:cs typeface="Helvetica Neue"/>
              </a:defRPr>
            </a:pPr>
            <a:r>
              <a:rPr sz="2250" b="1" i="0">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D566F2E6-E905-44D4-97CE-7F7A5AEF8C06}"/>
              </a:ext>
            </a:extLst>
          </p:cNvPr>
          <p:cNvSpPr>
            <a:spLocks xmlns:a="http://schemas.openxmlformats.org/drawingml/2006/main" noGrp="1"/>
          </p:cNvSpPr>
          <p:nvPr/>
        </p:nvSpPr>
        <p:spPr>
          <a:xfrm xmlns:a="http://schemas.openxmlformats.org/drawingml/2006/main">
            <a:off x="7296150" y="2257425"/>
            <a:ext cx="2514600" cy="1143000"/>
          </a:xfrm>
          <a:prstGeom xmlns:a="http://schemas.openxmlformats.org/drawingml/2006/main" prst="roundRect">
            <a:avLst>
              <a:gd name="adj" fmla="val 13333"/>
            </a:avLst>
          </a:prstGeom>
          <a:solidFill xmlns:a="http://schemas.openxmlformats.org/drawingml/2006/main">
            <a:srgbClr val="E8F5ED"/>
          </a:solidFill>
          <a:ln xmlns:a="http://schemas.openxmlformats.org/drawingml/2006/main" w="11430">
            <a:solidFill>
              <a:srgbClr val="2D8A5B"/>
            </a:solidFill>
            <a:prstDash val="solid"/>
          </a:ln>
        </p:spPr>
      </p:sp>
      <p:sp>
        <p:nvSpPr>
          <p:cNvPr id="15" name="">
            <a:extLst xmlns:a="http://schemas.openxmlformats.org/drawingml/2006/main">
              <a:ext uri="{FF2B5EF4-FFF2-40B4-BE49-F238E27FC236}">
                <a16:creationId xmlns:a16="http://schemas.microsoft.com/office/drawing/2014/main" id="{7CC30BCF-5CFA-4243-B1DF-ED336793C89D}"/>
              </a:ext>
            </a:extLst>
          </p:cNvPr>
          <p:cNvSpPr>
            <a:spLocks xmlns:a="http://schemas.openxmlformats.org/drawingml/2006/main" noGrp="1"/>
          </p:cNvSpPr>
          <p:nvPr/>
        </p:nvSpPr>
        <p:spPr>
          <a:xfrm xmlns:a="http://schemas.openxmlformats.org/drawingml/2006/main">
            <a:off x="7448550" y="2400300"/>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Vertical</a:t>
            </a:r>
          </a:p>
        </p:txBody>
      </p:sp>
      <p:sp>
        <p:nvSpPr>
          <p:cNvPr id="16" name="">
            <a:extLst xmlns:a="http://schemas.openxmlformats.org/drawingml/2006/main">
              <a:ext uri="{FF2B5EF4-FFF2-40B4-BE49-F238E27FC236}">
                <a16:creationId xmlns:a16="http://schemas.microsoft.com/office/drawing/2014/main" id="{F5EB818C-7782-40B4-83DD-C544A077B94E}"/>
              </a:ext>
            </a:extLst>
          </p:cNvPr>
          <p:cNvSpPr>
            <a:spLocks xmlns:a="http://schemas.openxmlformats.org/drawingml/2006/main" noGrp="1"/>
          </p:cNvSpPr>
          <p:nvPr/>
        </p:nvSpPr>
        <p:spPr>
          <a:xfrm xmlns:a="http://schemas.openxmlformats.org/drawingml/2006/main">
            <a:off x="7448550" y="2752725"/>
            <a:ext cx="2209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TabICL attends across B</a:t>
            </a:r>
          </a:p>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support/query examples</a:t>
            </a:r>
          </a:p>
        </p:txBody>
      </p:sp>
      <p:sp>
        <p:nvSpPr>
          <p:cNvPr id="17" name="">
            <a:extLst xmlns:a="http://schemas.openxmlformats.org/drawingml/2006/main">
              <a:ext uri="{FF2B5EF4-FFF2-40B4-BE49-F238E27FC236}">
                <a16:creationId xmlns:a16="http://schemas.microsoft.com/office/drawing/2014/main" id="{1F67C260-E6CA-4980-B45D-938127A26BC0}"/>
              </a:ext>
            </a:extLst>
          </p:cNvPr>
          <p:cNvSpPr>
            <a:spLocks xmlns:a="http://schemas.openxmlformats.org/drawingml/2006/main" noGrp="1"/>
          </p:cNvSpPr>
          <p:nvPr/>
        </p:nvSpPr>
        <p:spPr>
          <a:xfrm xmlns:a="http://schemas.openxmlformats.org/drawingml/2006/main">
            <a:off x="9867900" y="26479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2D8A5B"/>
                </a:solidFill>
                <a:latin typeface="Helvetica Neue"/>
                <a:ea typeface="Helvetica Neue"/>
                <a:cs typeface="Helvetica Neue"/>
              </a:defRPr>
            </a:pPr>
            <a:r>
              <a:rPr sz="2250" b="1" i="0">
                <a:solidFill>
                  <a:srgbClr val="2D8A5B"/>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B0A25BCD-D08D-480C-9DB6-D1054C6FE9D8}"/>
              </a:ext>
            </a:extLst>
          </p:cNvPr>
          <p:cNvSpPr>
            <a:spLocks xmlns:a="http://schemas.openxmlformats.org/drawingml/2006/main" noGrp="1"/>
          </p:cNvSpPr>
          <p:nvPr/>
        </p:nvSpPr>
        <p:spPr>
          <a:xfrm xmlns:a="http://schemas.openxmlformats.org/drawingml/2006/main">
            <a:off x="10325100" y="2257425"/>
            <a:ext cx="1066800" cy="114300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11430">
            <a:solidFill>
              <a:srgbClr val="E6E8EC"/>
            </a:solidFill>
            <a:prstDash val="solid"/>
          </a:ln>
        </p:spPr>
      </p:sp>
      <p:sp>
        <p:nvSpPr>
          <p:cNvPr id="19" name="">
            <a:extLst xmlns:a="http://schemas.openxmlformats.org/drawingml/2006/main">
              <a:ext uri="{FF2B5EF4-FFF2-40B4-BE49-F238E27FC236}">
                <a16:creationId xmlns:a16="http://schemas.microsoft.com/office/drawing/2014/main" id="{B4268156-5221-42D6-8FD8-ACEFA56C6E70}"/>
              </a:ext>
            </a:extLst>
          </p:cNvPr>
          <p:cNvSpPr>
            <a:spLocks xmlns:a="http://schemas.openxmlformats.org/drawingml/2006/main" noGrp="1"/>
          </p:cNvSpPr>
          <p:nvPr/>
        </p:nvSpPr>
        <p:spPr>
          <a:xfrm xmlns:a="http://schemas.openxmlformats.org/drawingml/2006/main">
            <a:off x="10477500" y="24003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ŷ</a:t>
            </a:r>
          </a:p>
        </p:txBody>
      </p:sp>
      <p:sp>
        <p:nvSpPr>
          <p:cNvPr id="20" name="">
            <a:extLst xmlns:a="http://schemas.openxmlformats.org/drawingml/2006/main">
              <a:ext uri="{FF2B5EF4-FFF2-40B4-BE49-F238E27FC236}">
                <a16:creationId xmlns:a16="http://schemas.microsoft.com/office/drawing/2014/main" id="{6365BDCC-BCF0-4D87-8F58-AFAF0A2A84A5}"/>
              </a:ext>
            </a:extLst>
          </p:cNvPr>
          <p:cNvSpPr>
            <a:spLocks xmlns:a="http://schemas.openxmlformats.org/drawingml/2006/main" noGrp="1"/>
          </p:cNvSpPr>
          <p:nvPr/>
        </p:nvSpPr>
        <p:spPr>
          <a:xfrm xmlns:a="http://schemas.openxmlformats.org/drawingml/2006/main">
            <a:off x="10477500" y="2752725"/>
            <a:ext cx="76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batch</a:t>
            </a:r>
          </a:p>
          <a:p xmlns:a="http://schemas.openxmlformats.org/drawingml/2006/main">
            <a:pPr algn="ctr">
              <a:defRPr sz="1200" b="0" i="0">
                <a:solidFill>
                  <a:srgbClr val="616873"/>
                </a:solidFill>
                <a:latin typeface="Helvetica Neue"/>
                <a:ea typeface="Helvetica Neue"/>
                <a:cs typeface="Helvetica Neue"/>
              </a:defRPr>
            </a:pPr>
            <a:r>
              <a:rPr sz="1200" b="0" i="0">
                <a:solidFill>
                  <a:srgbClr val="616873"/>
                </a:solidFill>
                <a:latin typeface="Helvetica Neue"/>
                <a:ea typeface="Helvetica Neue"/>
                <a:cs typeface="Helvetica Neue"/>
              </a:rPr>
              <a:t>prediction</a:t>
            </a:r>
          </a:p>
        </p:txBody>
      </p:sp>
      <p:sp>
        <p:nvSpPr>
          <p:cNvPr id="21" name="">
            <a:extLst xmlns:a="http://schemas.openxmlformats.org/drawingml/2006/main">
              <a:ext uri="{FF2B5EF4-FFF2-40B4-BE49-F238E27FC236}">
                <a16:creationId xmlns:a16="http://schemas.microsoft.com/office/drawing/2014/main" id="{EE0D9119-33C2-4397-BC33-30675D3BA431}"/>
              </a:ext>
            </a:extLst>
          </p:cNvPr>
          <p:cNvSpPr>
            <a:spLocks xmlns:a="http://schemas.openxmlformats.org/drawingml/2006/main" noGrp="1"/>
          </p:cNvSpPr>
          <p:nvPr/>
        </p:nvSpPr>
        <p:spPr>
          <a:xfrm xmlns:a="http://schemas.openxmlformats.org/drawingml/2006/main">
            <a:off x="4238625" y="3800475"/>
            <a:ext cx="57150" cy="219075"/>
          </a:xfrm>
          <a:prstGeom xmlns:a="http://schemas.openxmlformats.org/drawingml/2006/main" prst="roundRect">
            <a:avLst>
              <a:gd name="adj" fmla="val 50000"/>
            </a:avLst>
          </a:prstGeom>
          <a:solidFill xmlns:a="http://schemas.openxmlformats.org/drawingml/2006/main">
            <a:srgbClr val="E4A72A"/>
          </a:solidFill>
          <a:ln xmlns:a="http://schemas.openxmlformats.org/drawingml/2006/main" w="0">
            <a:solidFill>
              <a:srgbClr val="E4A72A"/>
            </a:solidFill>
            <a:prstDash val="solid"/>
          </a:ln>
        </p:spPr>
      </p:sp>
      <p:sp>
        <p:nvSpPr>
          <p:cNvPr id="22" name="">
            <a:extLst xmlns:a="http://schemas.openxmlformats.org/drawingml/2006/main">
              <a:ext uri="{FF2B5EF4-FFF2-40B4-BE49-F238E27FC236}">
                <a16:creationId xmlns:a16="http://schemas.microsoft.com/office/drawing/2014/main" id="{2B3AF0D9-CA31-4BB6-84E0-6A5946EEEF8D}"/>
              </a:ext>
            </a:extLst>
          </p:cNvPr>
          <p:cNvSpPr>
            <a:spLocks xmlns:a="http://schemas.openxmlformats.org/drawingml/2006/main" noGrp="1"/>
          </p:cNvSpPr>
          <p:nvPr/>
        </p:nvSpPr>
        <p:spPr>
          <a:xfrm xmlns:a="http://schemas.openxmlformats.org/drawingml/2006/main">
            <a:off x="4410075" y="3781425"/>
            <a:ext cx="3257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Pretraining prior</a:t>
            </a:r>
          </a:p>
        </p:txBody>
      </p:sp>
      <p:sp>
        <p:nvSpPr>
          <p:cNvPr id="23" name="">
            <a:extLst xmlns:a="http://schemas.openxmlformats.org/drawingml/2006/main">
              <a:ext uri="{FF2B5EF4-FFF2-40B4-BE49-F238E27FC236}">
                <a16:creationId xmlns:a16="http://schemas.microsoft.com/office/drawing/2014/main" id="{707BC0AE-27D4-4883-AB14-3EF87DF90236}"/>
              </a:ext>
            </a:extLst>
          </p:cNvPr>
          <p:cNvSpPr>
            <a:spLocks xmlns:a="http://schemas.openxmlformats.org/drawingml/2006/main" noGrp="1"/>
          </p:cNvSpPr>
          <p:nvPr/>
        </p:nvSpPr>
        <p:spPr>
          <a:xfrm xmlns:a="http://schemas.openxmlformats.org/drawingml/2006/main">
            <a:off x="4238625" y="4219575"/>
            <a:ext cx="7153275" cy="1123950"/>
          </a:xfrm>
          <a:prstGeom xmlns:a="http://schemas.openxmlformats.org/drawingml/2006/main" prst="roundRect">
            <a:avLst>
              <a:gd name="adj" fmla="val 13559"/>
            </a:avLst>
          </a:prstGeom>
          <a:solidFill xmlns:a="http://schemas.openxmlformats.org/drawingml/2006/main">
            <a:srgbClr val="FFF5DF"/>
          </a:solidFill>
          <a:ln xmlns:a="http://schemas.openxmlformats.org/drawingml/2006/main" w="9525">
            <a:solidFill>
              <a:srgbClr val="F0D497"/>
            </a:solidFill>
            <a:prstDash val="solid"/>
          </a:ln>
        </p:spPr>
      </p:sp>
      <p:sp>
        <p:nvSpPr>
          <p:cNvPr id="24" name="">
            <a:extLst xmlns:a="http://schemas.openxmlformats.org/drawingml/2006/main">
              <a:ext uri="{FF2B5EF4-FFF2-40B4-BE49-F238E27FC236}">
                <a16:creationId xmlns:a16="http://schemas.microsoft.com/office/drawing/2014/main" id="{0B1B497F-5A28-4324-A3E9-DEB71607FEEF}"/>
              </a:ext>
            </a:extLst>
          </p:cNvPr>
          <p:cNvSpPr>
            <a:spLocks xmlns:a="http://schemas.openxmlformats.org/drawingml/2006/main" noGrp="1"/>
          </p:cNvSpPr>
          <p:nvPr/>
        </p:nvSpPr>
        <p:spPr>
          <a:xfrm xmlns:a="http://schemas.openxmlformats.org/drawingml/2006/main">
            <a:off x="4476750" y="44196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11318"/>
                </a:solidFill>
                <a:latin typeface="Helvetica Neue"/>
                <a:ea typeface="Helvetica Neue"/>
                <a:cs typeface="Helvetica Neue"/>
              </a:defRPr>
            </a:pPr>
            <a:r>
              <a:rPr sz="1500" b="1" i="0">
                <a:solidFill>
                  <a:srgbClr val="111318"/>
                </a:solidFill>
                <a:latin typeface="Helvetica Neue"/>
                <a:ea typeface="Helvetica Neue"/>
                <a:cs typeface="Helvetica Neue"/>
              </a:rPr>
              <a:t>Support-identifiable latent h</a:t>
            </a:r>
          </a:p>
        </p:txBody>
      </p:sp>
      <p:sp>
        <p:nvSpPr>
          <p:cNvPr id="25" name="">
            <a:extLst xmlns:a="http://schemas.openxmlformats.org/drawingml/2006/main">
              <a:ext uri="{FF2B5EF4-FFF2-40B4-BE49-F238E27FC236}">
                <a16:creationId xmlns:a16="http://schemas.microsoft.com/office/drawing/2014/main" id="{93112D41-81F5-4190-B41D-B3F058F29028}"/>
              </a:ext>
            </a:extLst>
          </p:cNvPr>
          <p:cNvSpPr>
            <a:spLocks xmlns:a="http://schemas.openxmlformats.org/drawingml/2006/main" noGrp="1"/>
          </p:cNvSpPr>
          <p:nvPr/>
        </p:nvSpPr>
        <p:spPr>
          <a:xfrm xmlns:a="http://schemas.openxmlformats.org/drawingml/2006/main">
            <a:off x="4476750" y="4772025"/>
            <a:ext cx="662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111318"/>
                </a:solidFill>
                <a:latin typeface="Helvetica Neue"/>
                <a:ea typeface="Helvetica Neue"/>
                <a:cs typeface="Helvetica Neue"/>
              </a:defRPr>
            </a:pPr>
            <a:r>
              <a:rPr sz="1350" b="0" i="0">
                <a:solidFill>
                  <a:srgbClr val="111318"/>
                </a:solidFill>
                <a:latin typeface="Helvetica Neue"/>
                <a:ea typeface="Helvetica Neue"/>
                <a:cs typeface="Helvetica Neue"/>
              </a:rPr>
              <a:t>Inject controllable homophily into synthetic label generation, then continue pretraining on a synthetic + held-out-real mixture with a prototype loss for multi-class tasks.</a:t>
            </a:r>
          </a:p>
        </p:txBody>
      </p:sp>
      <p:sp>
        <p:nvSpPr>
          <p:cNvPr id="26" name="">
            <a:extLst xmlns:a="http://schemas.openxmlformats.org/drawingml/2006/main">
              <a:ext uri="{FF2B5EF4-FFF2-40B4-BE49-F238E27FC236}">
                <a16:creationId xmlns:a16="http://schemas.microsoft.com/office/drawing/2014/main" id="{0EEF3E7A-6CC7-4065-860D-E45B18CDEBAE}"/>
              </a:ext>
            </a:extLst>
          </p:cNvPr>
          <p:cNvSpPr>
            <a:spLocks xmlns:a="http://schemas.openxmlformats.org/drawingml/2006/main" noGrp="1"/>
          </p:cNvSpPr>
          <p:nvPr/>
        </p:nvSpPr>
        <p:spPr>
          <a:xfrm xmlns:a="http://schemas.openxmlformats.org/drawingml/2006/main">
            <a:off x="4238625" y="5524500"/>
            <a:ext cx="7153275" cy="6477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17D01797-435F-4B76-BE67-27EE463943A5}"/>
              </a:ext>
            </a:extLst>
          </p:cNvPr>
          <p:cNvSpPr>
            <a:spLocks xmlns:a="http://schemas.openxmlformats.org/drawingml/2006/main" noGrp="1"/>
          </p:cNvSpPr>
          <p:nvPr/>
        </p:nvSpPr>
        <p:spPr>
          <a:xfrm xmlns:a="http://schemas.openxmlformats.org/drawingml/2006/main">
            <a:off x="4476750" y="57245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6DCBF4"/>
                </a:solidFill>
                <a:latin typeface="Helvetica Neue"/>
                <a:ea typeface="Helvetica Neue"/>
                <a:cs typeface="Helvetica Neue"/>
              </a:defRPr>
            </a:pPr>
            <a:r>
              <a:rPr sz="1275" b="1" i="0">
                <a:solidFill>
                  <a:srgbClr val="6DCBF4"/>
                </a:solidFill>
                <a:latin typeface="Helvetica Neue"/>
                <a:ea typeface="Helvetica Neue"/>
                <a:cs typeface="Helvetica Neue"/>
              </a:rPr>
              <a:t>Design rule</a:t>
            </a:r>
          </a:p>
        </p:txBody>
      </p:sp>
      <p:sp>
        <p:nvSpPr>
          <p:cNvPr id="28" name="">
            <a:extLst xmlns:a="http://schemas.openxmlformats.org/drawingml/2006/main">
              <a:ext uri="{FF2B5EF4-FFF2-40B4-BE49-F238E27FC236}">
                <a16:creationId xmlns:a16="http://schemas.microsoft.com/office/drawing/2014/main" id="{5639C1C6-6EBF-43A3-80A7-24D43C599735}"/>
              </a:ext>
            </a:extLst>
          </p:cNvPr>
          <p:cNvSpPr>
            <a:spLocks xmlns:a="http://schemas.openxmlformats.org/drawingml/2006/main" noGrp="1"/>
          </p:cNvSpPr>
          <p:nvPr/>
        </p:nvSpPr>
        <p:spPr>
          <a:xfrm xmlns:a="http://schemas.openxmlformats.org/drawingml/2006/main">
            <a:off x="5753100" y="5667375"/>
            <a:ext cx="533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Normalize RT embeddings before TabICL; the full end-to-end 2D attention design failed.</a:t>
            </a:r>
          </a:p>
        </p:txBody>
      </p:sp>
      <p:sp>
        <p:nvSpPr>
          <p:cNvPr id="29" name="">
            <a:extLst xmlns:a="http://schemas.openxmlformats.org/drawingml/2006/main">
              <a:ext uri="{FF2B5EF4-FFF2-40B4-BE49-F238E27FC236}">
                <a16:creationId xmlns:a16="http://schemas.microsoft.com/office/drawing/2014/main" id="{CE08AFFC-F8AD-4D56-AC29-110192ADFA60}"/>
              </a:ext>
            </a:extLst>
          </p:cNvPr>
          <p:cNvSpPr>
            <a:spLocks xmlns:a="http://schemas.openxmlformats.org/drawingml/2006/main" noGrp="1"/>
          </p:cNvSpPr>
          <p:nvPr/>
        </p:nvSpPr>
        <p:spPr>
          <a:xfrm xmlns:a="http://schemas.openxmlformats.org/drawingml/2006/main">
            <a:off x="647700" y="64198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Sources and methodological caveats are in speaker notes</a:t>
            </a:r>
          </a:p>
        </p:txBody>
      </p:sp>
    </p:spTree>
    <p:extLst>
      <p:ext uri="{BB962C8B-B14F-4D97-AF65-F5344CB8AC3E}">
        <p14:creationId xmlns:p14="http://schemas.microsoft.com/office/powerpoint/2010/main" val="5002517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8A2DE0EE-D733-4CB9-97F8-1A1E84626502}"/>
              </a:ext>
            </a:extLst>
          </p:cNvPr>
          <p:cNvSpPr>
            <a:spLocks xmlns:a="http://schemas.openxmlformats.org/drawingml/2006/main" noGrp="1"/>
          </p:cNvSpPr>
          <p:nvPr/>
        </p:nvSpPr>
        <p:spPr>
          <a:xfrm xmlns:a="http://schemas.openxmlformats.org/drawingml/2006/main">
            <a:off x="647700" y="3238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16873"/>
                </a:solidFill>
                <a:latin typeface="Helvetica Neue"/>
                <a:ea typeface="Helvetica Neue"/>
                <a:cs typeface="Helvetica Neue"/>
              </a:defRPr>
            </a:pPr>
            <a:r>
              <a:rPr sz="1050" b="1" i="0">
                <a:solidFill>
                  <a:srgbClr val="616873"/>
                </a:solidFill>
                <a:latin typeface="Helvetica Neue"/>
                <a:ea typeface="Helvetica Neue"/>
                <a:cs typeface="Helvetica Neue"/>
              </a:rPr>
              <a:t>OPENRFM · EVIDENCE</a:t>
            </a:r>
          </a:p>
        </p:txBody>
      </p:sp>
      <p:sp>
        <p:nvSpPr>
          <p:cNvPr id="2" name="">
            <a:extLst xmlns:a="http://schemas.openxmlformats.org/drawingml/2006/main">
              <a:ext uri="{FF2B5EF4-FFF2-40B4-BE49-F238E27FC236}">
                <a16:creationId xmlns:a16="http://schemas.microsoft.com/office/drawing/2014/main" id="{91A2CAF3-0374-4BD4-A28B-1B1FF61D63E2}"/>
              </a:ext>
            </a:extLst>
          </p:cNvPr>
          <p:cNvSpPr>
            <a:spLocks xmlns:a="http://schemas.openxmlformats.org/drawingml/2006/main" noGrp="1"/>
          </p:cNvSpPr>
          <p:nvPr/>
        </p:nvSpPr>
        <p:spPr>
          <a:xfrm xmlns:a="http://schemas.openxmlformats.org/drawingml/2006/main">
            <a:off x="647700" y="60960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000000"/>
                </a:solidFill>
                <a:latin typeface="Helvetica Neue"/>
                <a:ea typeface="Helvetica Neue"/>
                <a:cs typeface="Helvetica Neue"/>
              </a:defRPr>
            </a:pPr>
            <a:r>
              <a:rPr sz="3225" b="1" i="0">
                <a:solidFill>
                  <a:srgbClr val="000000"/>
                </a:solidFill>
                <a:latin typeface="Helvetica Neue"/>
                <a:ea typeface="Helvetica Neue"/>
                <a:cs typeface="Helvetica Neue"/>
              </a:rPr>
              <a:t>The batch-ICL head is the largest single gain</a:t>
            </a:r>
          </a:p>
        </p:txBody>
      </p:sp>
      <p:sp>
        <p:nvSpPr>
          <p:cNvPr id="3" name="">
            <a:extLst xmlns:a="http://schemas.openxmlformats.org/drawingml/2006/main">
              <a:ext uri="{FF2B5EF4-FFF2-40B4-BE49-F238E27FC236}">
                <a16:creationId xmlns:a16="http://schemas.microsoft.com/office/drawing/2014/main" id="{89EB01C1-BABB-4D66-BC6C-F57D1F7B7CA7}"/>
              </a:ext>
            </a:extLst>
          </p:cNvPr>
          <p:cNvSpPr>
            <a:spLocks xmlns:a="http://schemas.openxmlformats.org/drawingml/2006/main" noGrp="1"/>
          </p:cNvSpPr>
          <p:nvPr/>
        </p:nvSpPr>
        <p:spPr>
          <a:xfrm xmlns:a="http://schemas.openxmlformats.org/drawingml/2006/main">
            <a:off x="647700" y="11715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616873"/>
                </a:solidFill>
                <a:latin typeface="Helvetica Neue"/>
                <a:ea typeface="Helvetica Neue"/>
                <a:cs typeface="Helvetica Neue"/>
              </a:defRPr>
            </a:pPr>
            <a:r>
              <a:rPr sz="1425" b="0" i="0">
                <a:solidFill>
                  <a:srgbClr val="616873"/>
                </a:solidFill>
                <a:latin typeface="Helvetica Neue"/>
                <a:ea typeface="Helvetica Neue"/>
                <a:cs typeface="Helvetica Neue"/>
              </a:rPr>
              <a:t>More data is not automatically better; the objective and bridge determine whether relational signal is used.</a:t>
            </a:r>
          </a:p>
        </p:txBody>
      </p:sp>
      <p:sp>
        <p:nvSpPr>
          <p:cNvPr id="4" name="">
            <a:extLst xmlns:a="http://schemas.openxmlformats.org/drawingml/2006/main">
              <a:ext uri="{FF2B5EF4-FFF2-40B4-BE49-F238E27FC236}">
                <a16:creationId xmlns:a16="http://schemas.microsoft.com/office/drawing/2014/main" id="{C09AD976-BB71-4DFA-B826-892A9D159473}"/>
              </a:ext>
            </a:extLst>
          </p:cNvPr>
          <p:cNvSpPr>
            <a:spLocks xmlns:a="http://schemas.openxmlformats.org/drawingml/2006/main" noGrp="1"/>
          </p:cNvSpPr>
          <p:nvPr/>
        </p:nvSpPr>
        <p:spPr>
          <a:xfrm xmlns:a="http://schemas.openxmlformats.org/drawingml/2006/main">
            <a:off x="647700" y="1533525"/>
            <a:ext cx="108966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5" name="">
            <a:extLst xmlns:a="http://schemas.openxmlformats.org/drawingml/2006/main">
              <a:ext uri="{FF2B5EF4-FFF2-40B4-BE49-F238E27FC236}">
                <a16:creationId xmlns:a16="http://schemas.microsoft.com/office/drawing/2014/main" id="{53392032-B38C-4DB5-A36A-6DF3A3933B64}"/>
              </a:ext>
            </a:extLst>
          </p:cNvPr>
          <p:cNvSpPr>
            <a:spLocks xmlns:a="http://schemas.openxmlformats.org/drawingml/2006/main" noGrp="1"/>
          </p:cNvSpPr>
          <p:nvPr/>
        </p:nvSpPr>
        <p:spPr>
          <a:xfrm xmlns:a="http://schemas.openxmlformats.org/drawingml/2006/main">
            <a:off x="11068050" y="63912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B8BCC4"/>
                </a:solidFill>
                <a:latin typeface="Helvetica Neue"/>
                <a:ea typeface="Helvetica Neue"/>
                <a:cs typeface="Helvetica Neue"/>
              </a:defRPr>
            </a:pPr>
            <a:r>
              <a:rPr sz="1050" b="1" i="0">
                <a:solidFill>
                  <a:srgbClr val="B8BCC4"/>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E200AD24-0C7C-495B-BF4F-CAF37C9F54D3}"/>
              </a:ext>
            </a:extLst>
          </p:cNvPr>
          <p:cNvSpPr>
            <a:spLocks xmlns:a="http://schemas.openxmlformats.org/drawingml/2006/main" noGrp="1"/>
          </p:cNvSpPr>
          <p:nvPr/>
        </p:nvSpPr>
        <p:spPr>
          <a:xfrm xmlns:a="http://schemas.openxmlformats.org/drawingml/2006/main">
            <a:off x="647700" y="1828800"/>
            <a:ext cx="57150" cy="219075"/>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5BEAF592-1CF3-4AD8-A3B1-26541DEFE7DE}"/>
              </a:ext>
            </a:extLst>
          </p:cNvPr>
          <p:cNvSpPr>
            <a:spLocks xmlns:a="http://schemas.openxmlformats.org/drawingml/2006/main" noGrp="1"/>
          </p:cNvSpPr>
          <p:nvPr/>
        </p:nvSpPr>
        <p:spPr>
          <a:xfrm xmlns:a="http://schemas.openxmlformats.org/drawingml/2006/main">
            <a:off x="819150" y="1809750"/>
            <a:ext cx="5734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Cumulative ablation</a:t>
            </a:r>
          </a:p>
        </p:txBody>
      </p:sp>
      <p:sp>
        <p:nvSpPr>
          <p:cNvPr id="8" name="">
            <a:extLst xmlns:a="http://schemas.openxmlformats.org/drawingml/2006/main">
              <a:ext uri="{FF2B5EF4-FFF2-40B4-BE49-F238E27FC236}">
                <a16:creationId xmlns:a16="http://schemas.microsoft.com/office/drawing/2014/main" id="{A89E79C2-817C-43DB-9BCA-F0001F069865}"/>
              </a:ext>
            </a:extLst>
          </p:cNvPr>
          <p:cNvSpPr>
            <a:spLocks xmlns:a="http://schemas.openxmlformats.org/drawingml/2006/main" noGrp="1"/>
          </p:cNvSpPr>
          <p:nvPr/>
        </p:nvSpPr>
        <p:spPr>
          <a:xfrm xmlns:a="http://schemas.openxmlformats.org/drawingml/2006/main">
            <a:off x="762000" y="22383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111318"/>
                </a:solidFill>
                <a:latin typeface="Helvetica Neue"/>
                <a:ea typeface="Helvetica Neue"/>
                <a:cs typeface="Helvetica Neue"/>
              </a:defRPr>
            </a:pPr>
            <a:r>
              <a:rPr sz="1200" b="1" i="0">
                <a:solidFill>
                  <a:srgbClr val="111318"/>
                </a:solidFill>
                <a:latin typeface="Helvetica Neue"/>
                <a:ea typeface="Helvetica Neue"/>
                <a:cs typeface="Helvetica Neue"/>
              </a:rPr>
              <a:t>Setup</a:t>
            </a:r>
          </a:p>
        </p:txBody>
      </p:sp>
      <p:sp>
        <p:nvSpPr>
          <p:cNvPr id="9" name="">
            <a:extLst xmlns:a="http://schemas.openxmlformats.org/drawingml/2006/main">
              <a:ext uri="{FF2B5EF4-FFF2-40B4-BE49-F238E27FC236}">
                <a16:creationId xmlns:a16="http://schemas.microsoft.com/office/drawing/2014/main" id="{770B2AC2-C42A-4806-8978-A785D9D348BA}"/>
              </a:ext>
            </a:extLst>
          </p:cNvPr>
          <p:cNvSpPr>
            <a:spLocks xmlns:a="http://schemas.openxmlformats.org/drawingml/2006/main" noGrp="1"/>
          </p:cNvSpPr>
          <p:nvPr/>
        </p:nvSpPr>
        <p:spPr>
          <a:xfrm xmlns:a="http://schemas.openxmlformats.org/drawingml/2006/main">
            <a:off x="3714750" y="223837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11318"/>
                </a:solidFill>
                <a:latin typeface="Helvetica Neue"/>
                <a:ea typeface="Helvetica Neue"/>
                <a:cs typeface="Helvetica Neue"/>
              </a:defRPr>
            </a:pPr>
            <a:r>
              <a:rPr sz="1200" b="1" i="0">
                <a:solidFill>
                  <a:srgbClr val="111318"/>
                </a:solidFill>
                <a:latin typeface="Helvetica Neue"/>
                <a:ea typeface="Helvetica Neue"/>
                <a:cs typeface="Helvetica Neue"/>
              </a:rPr>
              <a:t>Bin-AUC</a:t>
            </a:r>
          </a:p>
        </p:txBody>
      </p:sp>
      <p:sp>
        <p:nvSpPr>
          <p:cNvPr id="10" name="">
            <a:extLst xmlns:a="http://schemas.openxmlformats.org/drawingml/2006/main">
              <a:ext uri="{FF2B5EF4-FFF2-40B4-BE49-F238E27FC236}">
                <a16:creationId xmlns:a16="http://schemas.microsoft.com/office/drawing/2014/main" id="{719F6A6D-EE43-46B5-AA62-64AF0983EEAC}"/>
              </a:ext>
            </a:extLst>
          </p:cNvPr>
          <p:cNvSpPr>
            <a:spLocks xmlns:a="http://schemas.openxmlformats.org/drawingml/2006/main" noGrp="1"/>
          </p:cNvSpPr>
          <p:nvPr/>
        </p:nvSpPr>
        <p:spPr>
          <a:xfrm xmlns:a="http://schemas.openxmlformats.org/drawingml/2006/main">
            <a:off x="4667250" y="22383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11318"/>
                </a:solidFill>
                <a:latin typeface="Helvetica Neue"/>
                <a:ea typeface="Helvetica Neue"/>
                <a:cs typeface="Helvetica Neue"/>
              </a:defRPr>
            </a:pPr>
            <a:r>
              <a:rPr sz="1200" b="1" i="0">
                <a:solidFill>
                  <a:srgbClr val="111318"/>
                </a:solidFill>
                <a:latin typeface="Helvetica Neue"/>
                <a:ea typeface="Helvetica Neue"/>
                <a:cs typeface="Helvetica Neue"/>
              </a:rPr>
              <a:t>MRR</a:t>
            </a:r>
          </a:p>
        </p:txBody>
      </p:sp>
      <p:sp>
        <p:nvSpPr>
          <p:cNvPr id="11" name="">
            <a:extLst xmlns:a="http://schemas.openxmlformats.org/drawingml/2006/main">
              <a:ext uri="{FF2B5EF4-FFF2-40B4-BE49-F238E27FC236}">
                <a16:creationId xmlns:a16="http://schemas.microsoft.com/office/drawing/2014/main" id="{6D8386A5-ED71-4149-A0C5-C4CA5F8F4D48}"/>
              </a:ext>
            </a:extLst>
          </p:cNvPr>
          <p:cNvSpPr>
            <a:spLocks xmlns:a="http://schemas.openxmlformats.org/drawingml/2006/main" noGrp="1"/>
          </p:cNvSpPr>
          <p:nvPr/>
        </p:nvSpPr>
        <p:spPr>
          <a:xfrm xmlns:a="http://schemas.openxmlformats.org/drawingml/2006/main">
            <a:off x="5524500" y="22383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11318"/>
                </a:solidFill>
                <a:latin typeface="Helvetica Neue"/>
                <a:ea typeface="Helvetica Neue"/>
                <a:cs typeface="Helvetica Neue"/>
              </a:defRPr>
            </a:pPr>
            <a:r>
              <a:rPr sz="1200" b="1" i="0">
                <a:solidFill>
                  <a:srgbClr val="111318"/>
                </a:solidFill>
                <a:latin typeface="Helvetica Neue"/>
                <a:ea typeface="Helvetica Neue"/>
                <a:cs typeface="Helvetica Neue"/>
              </a:rPr>
              <a:t>R²</a:t>
            </a:r>
          </a:p>
        </p:txBody>
      </p:sp>
      <p:sp>
        <p:nvSpPr>
          <p:cNvPr id="12" name="">
            <a:extLst xmlns:a="http://schemas.openxmlformats.org/drawingml/2006/main">
              <a:ext uri="{FF2B5EF4-FFF2-40B4-BE49-F238E27FC236}">
                <a16:creationId xmlns:a16="http://schemas.microsoft.com/office/drawing/2014/main" id="{38EAE8E8-E582-4081-8DF8-7B1084B33B7E}"/>
              </a:ext>
            </a:extLst>
          </p:cNvPr>
          <p:cNvSpPr>
            <a:spLocks xmlns:a="http://schemas.openxmlformats.org/drawingml/2006/main" noGrp="1"/>
          </p:cNvSpPr>
          <p:nvPr/>
        </p:nvSpPr>
        <p:spPr>
          <a:xfrm xmlns:a="http://schemas.openxmlformats.org/drawingml/2006/main">
            <a:off x="647700" y="2533650"/>
            <a:ext cx="5619750" cy="0"/>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13" name="">
            <a:extLst xmlns:a="http://schemas.openxmlformats.org/drawingml/2006/main">
              <a:ext uri="{FF2B5EF4-FFF2-40B4-BE49-F238E27FC236}">
                <a16:creationId xmlns:a16="http://schemas.microsoft.com/office/drawing/2014/main" id="{701611F4-60B0-4B6A-9C24-058530356100}"/>
              </a:ext>
            </a:extLst>
          </p:cNvPr>
          <p:cNvSpPr>
            <a:spLocks xmlns:a="http://schemas.openxmlformats.org/drawingml/2006/main" noGrp="1"/>
          </p:cNvSpPr>
          <p:nvPr/>
        </p:nvSpPr>
        <p:spPr>
          <a:xfrm xmlns:a="http://schemas.openxmlformats.org/drawingml/2006/main">
            <a:off x="647700" y="2600325"/>
            <a:ext cx="5619750" cy="409575"/>
          </a:xfrm>
          <a:prstGeom xmlns:a="http://schemas.openxmlformats.org/drawingml/2006/main" prst="rect">
            <a:avLst/>
          </a:prstGeom>
          <a:solidFill xmlns:a="http://schemas.openxmlformats.org/drawingml/2006/main">
            <a:srgbClr val="FFFFFF"/>
          </a:solidFill>
          <a:ln xmlns:a="http://schemas.openxmlformats.org/drawingml/2006/main" w="5715">
            <a:solidFill>
              <a:srgbClr val="E6E8EC"/>
            </a:solidFill>
            <a:prstDash val="solid"/>
          </a:ln>
        </p:spPr>
      </p:sp>
      <p:sp>
        <p:nvSpPr>
          <p:cNvPr id="14" name="">
            <a:extLst xmlns:a="http://schemas.openxmlformats.org/drawingml/2006/main">
              <a:ext uri="{FF2B5EF4-FFF2-40B4-BE49-F238E27FC236}">
                <a16:creationId xmlns:a16="http://schemas.microsoft.com/office/drawing/2014/main" id="{AA156AB6-D97C-4798-BDDF-C4543F3605C5}"/>
              </a:ext>
            </a:extLst>
          </p:cNvPr>
          <p:cNvSpPr>
            <a:spLocks xmlns:a="http://schemas.openxmlformats.org/drawingml/2006/main" noGrp="1"/>
          </p:cNvSpPr>
          <p:nvPr/>
        </p:nvSpPr>
        <p:spPr>
          <a:xfrm xmlns:a="http://schemas.openxmlformats.org/drawingml/2006/main">
            <a:off x="762000" y="2695575"/>
            <a:ext cx="2724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RT-PluRel</a:t>
            </a:r>
          </a:p>
        </p:txBody>
      </p:sp>
      <p:sp>
        <p:nvSpPr>
          <p:cNvPr id="15" name="">
            <a:extLst xmlns:a="http://schemas.openxmlformats.org/drawingml/2006/main">
              <a:ext uri="{FF2B5EF4-FFF2-40B4-BE49-F238E27FC236}">
                <a16:creationId xmlns:a16="http://schemas.microsoft.com/office/drawing/2014/main" id="{4289D3BA-D935-4586-9EE6-4E527F38E35F}"/>
              </a:ext>
            </a:extLst>
          </p:cNvPr>
          <p:cNvSpPr>
            <a:spLocks xmlns:a="http://schemas.openxmlformats.org/drawingml/2006/main" noGrp="1"/>
          </p:cNvSpPr>
          <p:nvPr/>
        </p:nvSpPr>
        <p:spPr>
          <a:xfrm xmlns:a="http://schemas.openxmlformats.org/drawingml/2006/main">
            <a:off x="3714750" y="2695575"/>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.66</a:t>
            </a:r>
          </a:p>
        </p:txBody>
      </p:sp>
      <p:sp>
        <p:nvSpPr>
          <p:cNvPr id="16" name="">
            <a:extLst xmlns:a="http://schemas.openxmlformats.org/drawingml/2006/main">
              <a:ext uri="{FF2B5EF4-FFF2-40B4-BE49-F238E27FC236}">
                <a16:creationId xmlns:a16="http://schemas.microsoft.com/office/drawing/2014/main" id="{E6D397B6-314C-440C-B043-F64D9C61198A}"/>
              </a:ext>
            </a:extLst>
          </p:cNvPr>
          <p:cNvSpPr>
            <a:spLocks xmlns:a="http://schemas.openxmlformats.org/drawingml/2006/main" noGrp="1"/>
          </p:cNvSpPr>
          <p:nvPr/>
        </p:nvSpPr>
        <p:spPr>
          <a:xfrm xmlns:a="http://schemas.openxmlformats.org/drawingml/2006/main">
            <a:off x="4572000" y="2695575"/>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N/A</a:t>
            </a:r>
          </a:p>
        </p:txBody>
      </p:sp>
      <p:sp>
        <p:nvSpPr>
          <p:cNvPr id="17" name="">
            <a:extLst xmlns:a="http://schemas.openxmlformats.org/drawingml/2006/main">
              <a:ext uri="{FF2B5EF4-FFF2-40B4-BE49-F238E27FC236}">
                <a16:creationId xmlns:a16="http://schemas.microsoft.com/office/drawing/2014/main" id="{5076D6F9-B59A-42F3-BB40-2275DB7445EA}"/>
              </a:ext>
            </a:extLst>
          </p:cNvPr>
          <p:cNvSpPr>
            <a:spLocks xmlns:a="http://schemas.openxmlformats.org/drawingml/2006/main" noGrp="1"/>
          </p:cNvSpPr>
          <p:nvPr/>
        </p:nvSpPr>
        <p:spPr>
          <a:xfrm xmlns:a="http://schemas.openxmlformats.org/drawingml/2006/main">
            <a:off x="5429250" y="2695575"/>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.11</a:t>
            </a:r>
          </a:p>
        </p:txBody>
      </p:sp>
      <p:sp>
        <p:nvSpPr>
          <p:cNvPr id="18" name="">
            <a:extLst xmlns:a="http://schemas.openxmlformats.org/drawingml/2006/main">
              <a:ext uri="{FF2B5EF4-FFF2-40B4-BE49-F238E27FC236}">
                <a16:creationId xmlns:a16="http://schemas.microsoft.com/office/drawing/2014/main" id="{7C73A2C2-D378-432D-8371-CC77548EDA6D}"/>
              </a:ext>
            </a:extLst>
          </p:cNvPr>
          <p:cNvSpPr>
            <a:spLocks xmlns:a="http://schemas.openxmlformats.org/drawingml/2006/main" noGrp="1"/>
          </p:cNvSpPr>
          <p:nvPr/>
        </p:nvSpPr>
        <p:spPr>
          <a:xfrm xmlns:a="http://schemas.openxmlformats.org/drawingml/2006/main">
            <a:off x="647700" y="3067050"/>
            <a:ext cx="5619750" cy="409575"/>
          </a:xfrm>
          <a:prstGeom xmlns:a="http://schemas.openxmlformats.org/drawingml/2006/main" prst="rect">
            <a:avLst/>
          </a:prstGeom>
          <a:solidFill xmlns:a="http://schemas.openxmlformats.org/drawingml/2006/main">
            <a:srgbClr val="E8F6FD"/>
          </a:solidFill>
          <a:ln xmlns:a="http://schemas.openxmlformats.org/drawingml/2006/main" w="5715">
            <a:solidFill>
              <a:srgbClr val="E6E8EC"/>
            </a:solidFill>
            <a:prstDash val="solid"/>
          </a:ln>
        </p:spPr>
      </p:sp>
      <p:sp>
        <p:nvSpPr>
          <p:cNvPr id="19" name="">
            <a:extLst xmlns:a="http://schemas.openxmlformats.org/drawingml/2006/main">
              <a:ext uri="{FF2B5EF4-FFF2-40B4-BE49-F238E27FC236}">
                <a16:creationId xmlns:a16="http://schemas.microsoft.com/office/drawing/2014/main" id="{E5F3EB58-D763-495B-8300-575D760119C0}"/>
              </a:ext>
            </a:extLst>
          </p:cNvPr>
          <p:cNvSpPr>
            <a:spLocks xmlns:a="http://schemas.openxmlformats.org/drawingml/2006/main" noGrp="1"/>
          </p:cNvSpPr>
          <p:nvPr/>
        </p:nvSpPr>
        <p:spPr>
          <a:xfrm xmlns:a="http://schemas.openxmlformats.org/drawingml/2006/main">
            <a:off x="762000" y="3162300"/>
            <a:ext cx="2724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11318"/>
                </a:solidFill>
                <a:latin typeface="Helvetica Neue"/>
                <a:ea typeface="Helvetica Neue"/>
                <a:cs typeface="Helvetica Neue"/>
              </a:defRPr>
            </a:pPr>
            <a:r>
              <a:rPr sz="1275" b="1" i="0">
                <a:solidFill>
                  <a:srgbClr val="111318"/>
                </a:solidFill>
                <a:latin typeface="Helvetica Neue"/>
                <a:ea typeface="Helvetica Neue"/>
                <a:cs typeface="Helvetica Neue"/>
              </a:rPr>
              <a:t>+ TabICL batch ICL</a:t>
            </a:r>
          </a:p>
        </p:txBody>
      </p:sp>
      <p:sp>
        <p:nvSpPr>
          <p:cNvPr id="20" name="">
            <a:extLst xmlns:a="http://schemas.openxmlformats.org/drawingml/2006/main">
              <a:ext uri="{FF2B5EF4-FFF2-40B4-BE49-F238E27FC236}">
                <a16:creationId xmlns:a16="http://schemas.microsoft.com/office/drawing/2014/main" id="{7FE3AD1E-FAD2-4493-A7C5-E4C1B579687A}"/>
              </a:ext>
            </a:extLst>
          </p:cNvPr>
          <p:cNvSpPr>
            <a:spLocks xmlns:a="http://schemas.openxmlformats.org/drawingml/2006/main" noGrp="1"/>
          </p:cNvSpPr>
          <p:nvPr/>
        </p:nvSpPr>
        <p:spPr>
          <a:xfrm xmlns:a="http://schemas.openxmlformats.org/drawingml/2006/main">
            <a:off x="3714750" y="3162300"/>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.76</a:t>
            </a:r>
          </a:p>
        </p:txBody>
      </p:sp>
      <p:sp>
        <p:nvSpPr>
          <p:cNvPr id="21" name="">
            <a:extLst xmlns:a="http://schemas.openxmlformats.org/drawingml/2006/main">
              <a:ext uri="{FF2B5EF4-FFF2-40B4-BE49-F238E27FC236}">
                <a16:creationId xmlns:a16="http://schemas.microsoft.com/office/drawing/2014/main" id="{1E945C35-B84C-4C1D-B0FE-B13CFF3970B3}"/>
              </a:ext>
            </a:extLst>
          </p:cNvPr>
          <p:cNvSpPr>
            <a:spLocks xmlns:a="http://schemas.openxmlformats.org/drawingml/2006/main" noGrp="1"/>
          </p:cNvSpPr>
          <p:nvPr/>
        </p:nvSpPr>
        <p:spPr>
          <a:xfrm xmlns:a="http://schemas.openxmlformats.org/drawingml/2006/main">
            <a:off x="4572000" y="3162300"/>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.58</a:t>
            </a:r>
          </a:p>
        </p:txBody>
      </p:sp>
      <p:sp>
        <p:nvSpPr>
          <p:cNvPr id="22" name="">
            <a:extLst xmlns:a="http://schemas.openxmlformats.org/drawingml/2006/main">
              <a:ext uri="{FF2B5EF4-FFF2-40B4-BE49-F238E27FC236}">
                <a16:creationId xmlns:a16="http://schemas.microsoft.com/office/drawing/2014/main" id="{D25283B5-1F69-4C3C-8AB8-45648C5C7AFB}"/>
              </a:ext>
            </a:extLst>
          </p:cNvPr>
          <p:cNvSpPr>
            <a:spLocks xmlns:a="http://schemas.openxmlformats.org/drawingml/2006/main" noGrp="1"/>
          </p:cNvSpPr>
          <p:nvPr/>
        </p:nvSpPr>
        <p:spPr>
          <a:xfrm xmlns:a="http://schemas.openxmlformats.org/drawingml/2006/main">
            <a:off x="5429250" y="3162300"/>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.12</a:t>
            </a:r>
          </a:p>
        </p:txBody>
      </p:sp>
      <p:sp>
        <p:nvSpPr>
          <p:cNvPr id="23" name="">
            <a:extLst xmlns:a="http://schemas.openxmlformats.org/drawingml/2006/main">
              <a:ext uri="{FF2B5EF4-FFF2-40B4-BE49-F238E27FC236}">
                <a16:creationId xmlns:a16="http://schemas.microsoft.com/office/drawing/2014/main" id="{36BD336C-A352-46BE-92A5-4EBEBA41C140}"/>
              </a:ext>
            </a:extLst>
          </p:cNvPr>
          <p:cNvSpPr>
            <a:spLocks xmlns:a="http://schemas.openxmlformats.org/drawingml/2006/main" noGrp="1"/>
          </p:cNvSpPr>
          <p:nvPr/>
        </p:nvSpPr>
        <p:spPr>
          <a:xfrm xmlns:a="http://schemas.openxmlformats.org/drawingml/2006/main">
            <a:off x="647700" y="3533775"/>
            <a:ext cx="5619750" cy="409575"/>
          </a:xfrm>
          <a:prstGeom xmlns:a="http://schemas.openxmlformats.org/drawingml/2006/main" prst="rect">
            <a:avLst/>
          </a:prstGeom>
          <a:solidFill xmlns:a="http://schemas.openxmlformats.org/drawingml/2006/main">
            <a:srgbClr val="FFFFFF"/>
          </a:solidFill>
          <a:ln xmlns:a="http://schemas.openxmlformats.org/drawingml/2006/main" w="5715">
            <a:solidFill>
              <a:srgbClr val="E6E8EC"/>
            </a:solidFill>
            <a:prstDash val="solid"/>
          </a:ln>
        </p:spPr>
      </p:sp>
      <p:sp>
        <p:nvSpPr>
          <p:cNvPr id="24" name="">
            <a:extLst xmlns:a="http://schemas.openxmlformats.org/drawingml/2006/main">
              <a:ext uri="{FF2B5EF4-FFF2-40B4-BE49-F238E27FC236}">
                <a16:creationId xmlns:a16="http://schemas.microsoft.com/office/drawing/2014/main" id="{5E10CF1D-F641-48D8-B420-9CA683461CF0}"/>
              </a:ext>
            </a:extLst>
          </p:cNvPr>
          <p:cNvSpPr>
            <a:spLocks xmlns:a="http://schemas.openxmlformats.org/drawingml/2006/main" noGrp="1"/>
          </p:cNvSpPr>
          <p:nvPr/>
        </p:nvSpPr>
        <p:spPr>
          <a:xfrm xmlns:a="http://schemas.openxmlformats.org/drawingml/2006/main">
            <a:off x="762000" y="3629025"/>
            <a:ext cx="2724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 homophily synth.</a:t>
            </a:r>
          </a:p>
        </p:txBody>
      </p:sp>
      <p:sp>
        <p:nvSpPr>
          <p:cNvPr id="25" name="">
            <a:extLst xmlns:a="http://schemas.openxmlformats.org/drawingml/2006/main">
              <a:ext uri="{FF2B5EF4-FFF2-40B4-BE49-F238E27FC236}">
                <a16:creationId xmlns:a16="http://schemas.microsoft.com/office/drawing/2014/main" id="{2AD0CAB2-E78C-477D-AA18-0D632EBE1BB1}"/>
              </a:ext>
            </a:extLst>
          </p:cNvPr>
          <p:cNvSpPr>
            <a:spLocks xmlns:a="http://schemas.openxmlformats.org/drawingml/2006/main" noGrp="1"/>
          </p:cNvSpPr>
          <p:nvPr/>
        </p:nvSpPr>
        <p:spPr>
          <a:xfrm xmlns:a="http://schemas.openxmlformats.org/drawingml/2006/main">
            <a:off x="3714750" y="3629025"/>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.78</a:t>
            </a:r>
          </a:p>
        </p:txBody>
      </p:sp>
      <p:sp>
        <p:nvSpPr>
          <p:cNvPr id="26" name="">
            <a:extLst xmlns:a="http://schemas.openxmlformats.org/drawingml/2006/main">
              <a:ext uri="{FF2B5EF4-FFF2-40B4-BE49-F238E27FC236}">
                <a16:creationId xmlns:a16="http://schemas.microsoft.com/office/drawing/2014/main" id="{644610E0-3260-427C-A235-FCA18B6432D8}"/>
              </a:ext>
            </a:extLst>
          </p:cNvPr>
          <p:cNvSpPr>
            <a:spLocks xmlns:a="http://schemas.openxmlformats.org/drawingml/2006/main" noGrp="1"/>
          </p:cNvSpPr>
          <p:nvPr/>
        </p:nvSpPr>
        <p:spPr>
          <a:xfrm xmlns:a="http://schemas.openxmlformats.org/drawingml/2006/main">
            <a:off x="4572000" y="3629025"/>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.56</a:t>
            </a:r>
          </a:p>
        </p:txBody>
      </p:sp>
      <p:sp>
        <p:nvSpPr>
          <p:cNvPr id="27" name="">
            <a:extLst xmlns:a="http://schemas.openxmlformats.org/drawingml/2006/main">
              <a:ext uri="{FF2B5EF4-FFF2-40B4-BE49-F238E27FC236}">
                <a16:creationId xmlns:a16="http://schemas.microsoft.com/office/drawing/2014/main" id="{5F7E92A0-6377-4D97-8414-F2260FBDAF21}"/>
              </a:ext>
            </a:extLst>
          </p:cNvPr>
          <p:cNvSpPr>
            <a:spLocks xmlns:a="http://schemas.openxmlformats.org/drawingml/2006/main" noGrp="1"/>
          </p:cNvSpPr>
          <p:nvPr/>
        </p:nvSpPr>
        <p:spPr>
          <a:xfrm xmlns:a="http://schemas.openxmlformats.org/drawingml/2006/main">
            <a:off x="5429250" y="3629025"/>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.13</a:t>
            </a:r>
          </a:p>
        </p:txBody>
      </p:sp>
      <p:sp>
        <p:nvSpPr>
          <p:cNvPr id="28" name="">
            <a:extLst xmlns:a="http://schemas.openxmlformats.org/drawingml/2006/main">
              <a:ext uri="{FF2B5EF4-FFF2-40B4-BE49-F238E27FC236}">
                <a16:creationId xmlns:a16="http://schemas.microsoft.com/office/drawing/2014/main" id="{0B69732A-CE55-4E09-9290-D685D69F22F0}"/>
              </a:ext>
            </a:extLst>
          </p:cNvPr>
          <p:cNvSpPr>
            <a:spLocks xmlns:a="http://schemas.openxmlformats.org/drawingml/2006/main" noGrp="1"/>
          </p:cNvSpPr>
          <p:nvPr/>
        </p:nvSpPr>
        <p:spPr>
          <a:xfrm xmlns:a="http://schemas.openxmlformats.org/drawingml/2006/main">
            <a:off x="647700" y="4000500"/>
            <a:ext cx="5619750" cy="409575"/>
          </a:xfrm>
          <a:prstGeom xmlns:a="http://schemas.openxmlformats.org/drawingml/2006/main" prst="rect">
            <a:avLst/>
          </a:prstGeom>
          <a:solidFill xmlns:a="http://schemas.openxmlformats.org/drawingml/2006/main">
            <a:srgbClr val="FFF0F0"/>
          </a:solidFill>
          <a:ln xmlns:a="http://schemas.openxmlformats.org/drawingml/2006/main" w="5715">
            <a:solidFill>
              <a:srgbClr val="E6E8EC"/>
            </a:solidFill>
            <a:prstDash val="solid"/>
          </a:ln>
        </p:spPr>
      </p:sp>
      <p:sp>
        <p:nvSpPr>
          <p:cNvPr id="29" name="">
            <a:extLst xmlns:a="http://schemas.openxmlformats.org/drawingml/2006/main">
              <a:ext uri="{FF2B5EF4-FFF2-40B4-BE49-F238E27FC236}">
                <a16:creationId xmlns:a16="http://schemas.microsoft.com/office/drawing/2014/main" id="{4CDB8E01-FA3F-420F-98B9-6956A6E44CD4}"/>
              </a:ext>
            </a:extLst>
          </p:cNvPr>
          <p:cNvSpPr>
            <a:spLocks xmlns:a="http://schemas.openxmlformats.org/drawingml/2006/main" noGrp="1"/>
          </p:cNvSpPr>
          <p:nvPr/>
        </p:nvSpPr>
        <p:spPr>
          <a:xfrm xmlns:a="http://schemas.openxmlformats.org/drawingml/2006/main">
            <a:off x="762000" y="4095750"/>
            <a:ext cx="2724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 real data</a:t>
            </a:r>
          </a:p>
        </p:txBody>
      </p:sp>
      <p:sp>
        <p:nvSpPr>
          <p:cNvPr id="30" name="">
            <a:extLst xmlns:a="http://schemas.openxmlformats.org/drawingml/2006/main">
              <a:ext uri="{FF2B5EF4-FFF2-40B4-BE49-F238E27FC236}">
                <a16:creationId xmlns:a16="http://schemas.microsoft.com/office/drawing/2014/main" id="{E3F6B0EB-4578-49EA-AC82-6B2C5E60D1DF}"/>
              </a:ext>
            </a:extLst>
          </p:cNvPr>
          <p:cNvSpPr>
            <a:spLocks xmlns:a="http://schemas.openxmlformats.org/drawingml/2006/main" noGrp="1"/>
          </p:cNvSpPr>
          <p:nvPr/>
        </p:nvSpPr>
        <p:spPr>
          <a:xfrm xmlns:a="http://schemas.openxmlformats.org/drawingml/2006/main">
            <a:off x="3714750" y="4095750"/>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.75</a:t>
            </a:r>
          </a:p>
        </p:txBody>
      </p:sp>
      <p:sp>
        <p:nvSpPr>
          <p:cNvPr id="31" name="">
            <a:extLst xmlns:a="http://schemas.openxmlformats.org/drawingml/2006/main">
              <a:ext uri="{FF2B5EF4-FFF2-40B4-BE49-F238E27FC236}">
                <a16:creationId xmlns:a16="http://schemas.microsoft.com/office/drawing/2014/main" id="{F45FE35A-F011-46B7-B48A-E498CE3716CE}"/>
              </a:ext>
            </a:extLst>
          </p:cNvPr>
          <p:cNvSpPr>
            <a:spLocks xmlns:a="http://schemas.openxmlformats.org/drawingml/2006/main" noGrp="1"/>
          </p:cNvSpPr>
          <p:nvPr/>
        </p:nvSpPr>
        <p:spPr>
          <a:xfrm xmlns:a="http://schemas.openxmlformats.org/drawingml/2006/main">
            <a:off x="4572000" y="4095750"/>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.50</a:t>
            </a:r>
          </a:p>
        </p:txBody>
      </p:sp>
      <p:sp>
        <p:nvSpPr>
          <p:cNvPr id="32" name="">
            <a:extLst xmlns:a="http://schemas.openxmlformats.org/drawingml/2006/main">
              <a:ext uri="{FF2B5EF4-FFF2-40B4-BE49-F238E27FC236}">
                <a16:creationId xmlns:a16="http://schemas.microsoft.com/office/drawing/2014/main" id="{68DB61C1-1C5D-453C-9577-B78CF11FCAA0}"/>
              </a:ext>
            </a:extLst>
          </p:cNvPr>
          <p:cNvSpPr>
            <a:spLocks xmlns:a="http://schemas.openxmlformats.org/drawingml/2006/main" noGrp="1"/>
          </p:cNvSpPr>
          <p:nvPr/>
        </p:nvSpPr>
        <p:spPr>
          <a:xfrm xmlns:a="http://schemas.openxmlformats.org/drawingml/2006/main">
            <a:off x="5429250" y="4095750"/>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.12</a:t>
            </a:r>
          </a:p>
        </p:txBody>
      </p:sp>
      <p:sp>
        <p:nvSpPr>
          <p:cNvPr id="33" name="">
            <a:extLst xmlns:a="http://schemas.openxmlformats.org/drawingml/2006/main">
              <a:ext uri="{FF2B5EF4-FFF2-40B4-BE49-F238E27FC236}">
                <a16:creationId xmlns:a16="http://schemas.microsoft.com/office/drawing/2014/main" id="{69B04B7A-96CE-4499-913B-43690E915642}"/>
              </a:ext>
            </a:extLst>
          </p:cNvPr>
          <p:cNvSpPr>
            <a:spLocks xmlns:a="http://schemas.openxmlformats.org/drawingml/2006/main" noGrp="1"/>
          </p:cNvSpPr>
          <p:nvPr/>
        </p:nvSpPr>
        <p:spPr>
          <a:xfrm xmlns:a="http://schemas.openxmlformats.org/drawingml/2006/main">
            <a:off x="647700" y="4467225"/>
            <a:ext cx="5619750" cy="409575"/>
          </a:xfrm>
          <a:prstGeom xmlns:a="http://schemas.openxmlformats.org/drawingml/2006/main" prst="rect">
            <a:avLst/>
          </a:prstGeom>
          <a:solidFill xmlns:a="http://schemas.openxmlformats.org/drawingml/2006/main">
            <a:srgbClr val="FFFFFF"/>
          </a:solidFill>
          <a:ln xmlns:a="http://schemas.openxmlformats.org/drawingml/2006/main" w="5715">
            <a:solidFill>
              <a:srgbClr val="E6E8EC"/>
            </a:solidFill>
            <a:prstDash val="solid"/>
          </a:ln>
        </p:spPr>
      </p:sp>
      <p:sp>
        <p:nvSpPr>
          <p:cNvPr id="34" name="">
            <a:extLst xmlns:a="http://schemas.openxmlformats.org/drawingml/2006/main">
              <a:ext uri="{FF2B5EF4-FFF2-40B4-BE49-F238E27FC236}">
                <a16:creationId xmlns:a16="http://schemas.microsoft.com/office/drawing/2014/main" id="{05AC3400-9C12-4F4F-B059-0073F7CCB1B4}"/>
              </a:ext>
            </a:extLst>
          </p:cNvPr>
          <p:cNvSpPr>
            <a:spLocks xmlns:a="http://schemas.openxmlformats.org/drawingml/2006/main" noGrp="1"/>
          </p:cNvSpPr>
          <p:nvPr/>
        </p:nvSpPr>
        <p:spPr>
          <a:xfrm xmlns:a="http://schemas.openxmlformats.org/drawingml/2006/main">
            <a:off x="762000" y="4562475"/>
            <a:ext cx="2724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 prototype loss</a:t>
            </a:r>
          </a:p>
        </p:txBody>
      </p:sp>
      <p:sp>
        <p:nvSpPr>
          <p:cNvPr id="35" name="">
            <a:extLst xmlns:a="http://schemas.openxmlformats.org/drawingml/2006/main">
              <a:ext uri="{FF2B5EF4-FFF2-40B4-BE49-F238E27FC236}">
                <a16:creationId xmlns:a16="http://schemas.microsoft.com/office/drawing/2014/main" id="{EF6CDDE4-6B71-4793-89A2-010FF0C30909}"/>
              </a:ext>
            </a:extLst>
          </p:cNvPr>
          <p:cNvSpPr>
            <a:spLocks xmlns:a="http://schemas.openxmlformats.org/drawingml/2006/main" noGrp="1"/>
          </p:cNvSpPr>
          <p:nvPr/>
        </p:nvSpPr>
        <p:spPr>
          <a:xfrm xmlns:a="http://schemas.openxmlformats.org/drawingml/2006/main">
            <a:off x="3714750" y="4562475"/>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.79</a:t>
            </a:r>
          </a:p>
        </p:txBody>
      </p:sp>
      <p:sp>
        <p:nvSpPr>
          <p:cNvPr id="36" name="">
            <a:extLst xmlns:a="http://schemas.openxmlformats.org/drawingml/2006/main">
              <a:ext uri="{FF2B5EF4-FFF2-40B4-BE49-F238E27FC236}">
                <a16:creationId xmlns:a16="http://schemas.microsoft.com/office/drawing/2014/main" id="{DB1DFF4F-CFCA-4564-8121-1FFA8F16F696}"/>
              </a:ext>
            </a:extLst>
          </p:cNvPr>
          <p:cNvSpPr>
            <a:spLocks xmlns:a="http://schemas.openxmlformats.org/drawingml/2006/main" noGrp="1"/>
          </p:cNvSpPr>
          <p:nvPr/>
        </p:nvSpPr>
        <p:spPr>
          <a:xfrm xmlns:a="http://schemas.openxmlformats.org/drawingml/2006/main">
            <a:off x="4572000" y="4562475"/>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.58</a:t>
            </a:r>
          </a:p>
        </p:txBody>
      </p:sp>
      <p:sp>
        <p:nvSpPr>
          <p:cNvPr id="37" name="">
            <a:extLst xmlns:a="http://schemas.openxmlformats.org/drawingml/2006/main">
              <a:ext uri="{FF2B5EF4-FFF2-40B4-BE49-F238E27FC236}">
                <a16:creationId xmlns:a16="http://schemas.microsoft.com/office/drawing/2014/main" id="{D0369D50-7927-42B6-9555-E4E9208669FE}"/>
              </a:ext>
            </a:extLst>
          </p:cNvPr>
          <p:cNvSpPr>
            <a:spLocks xmlns:a="http://schemas.openxmlformats.org/drawingml/2006/main" noGrp="1"/>
          </p:cNvSpPr>
          <p:nvPr/>
        </p:nvSpPr>
        <p:spPr>
          <a:xfrm xmlns:a="http://schemas.openxmlformats.org/drawingml/2006/main">
            <a:off x="5429250" y="4562475"/>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.14</a:t>
            </a:r>
          </a:p>
        </p:txBody>
      </p:sp>
      <p:sp>
        <p:nvSpPr>
          <p:cNvPr id="38" name="">
            <a:extLst xmlns:a="http://schemas.openxmlformats.org/drawingml/2006/main">
              <a:ext uri="{FF2B5EF4-FFF2-40B4-BE49-F238E27FC236}">
                <a16:creationId xmlns:a16="http://schemas.microsoft.com/office/drawing/2014/main" id="{6FA7BB91-1290-40C8-8622-12CE278F9976}"/>
              </a:ext>
            </a:extLst>
          </p:cNvPr>
          <p:cNvSpPr>
            <a:spLocks xmlns:a="http://schemas.openxmlformats.org/drawingml/2006/main" noGrp="1"/>
          </p:cNvSpPr>
          <p:nvPr/>
        </p:nvSpPr>
        <p:spPr>
          <a:xfrm xmlns:a="http://schemas.openxmlformats.org/drawingml/2006/main">
            <a:off x="647700" y="4933950"/>
            <a:ext cx="5619750" cy="409575"/>
          </a:xfrm>
          <a:prstGeom xmlns:a="http://schemas.openxmlformats.org/drawingml/2006/main" prst="rect">
            <a:avLst/>
          </a:prstGeom>
          <a:solidFill xmlns:a="http://schemas.openxmlformats.org/drawingml/2006/main">
            <a:srgbClr val="E8F5ED"/>
          </a:solidFill>
          <a:ln xmlns:a="http://schemas.openxmlformats.org/drawingml/2006/main" w="5715">
            <a:solidFill>
              <a:srgbClr val="E6E8EC"/>
            </a:solidFill>
            <a:prstDash val="solid"/>
          </a:ln>
        </p:spPr>
      </p:sp>
      <p:sp>
        <p:nvSpPr>
          <p:cNvPr id="39" name="">
            <a:extLst xmlns:a="http://schemas.openxmlformats.org/drawingml/2006/main">
              <a:ext uri="{FF2B5EF4-FFF2-40B4-BE49-F238E27FC236}">
                <a16:creationId xmlns:a16="http://schemas.microsoft.com/office/drawing/2014/main" id="{571FB9A9-D465-40AC-953B-001E36B991B8}"/>
              </a:ext>
            </a:extLst>
          </p:cNvPr>
          <p:cNvSpPr>
            <a:spLocks xmlns:a="http://schemas.openxmlformats.org/drawingml/2006/main" noGrp="1"/>
          </p:cNvSpPr>
          <p:nvPr/>
        </p:nvSpPr>
        <p:spPr>
          <a:xfrm xmlns:a="http://schemas.openxmlformats.org/drawingml/2006/main">
            <a:off x="762000" y="5029200"/>
            <a:ext cx="2724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111318"/>
                </a:solidFill>
                <a:latin typeface="Helvetica Neue"/>
                <a:ea typeface="Helvetica Neue"/>
                <a:cs typeface="Helvetica Neue"/>
              </a:defRPr>
            </a:pPr>
            <a:r>
              <a:rPr sz="1275" b="1" i="0">
                <a:solidFill>
                  <a:srgbClr val="111318"/>
                </a:solidFill>
                <a:latin typeface="Helvetica Neue"/>
                <a:ea typeface="Helvetica Neue"/>
                <a:cs typeface="Helvetica Neue"/>
              </a:rPr>
              <a:t>+ 8× support ensemble</a:t>
            </a:r>
          </a:p>
        </p:txBody>
      </p:sp>
      <p:sp>
        <p:nvSpPr>
          <p:cNvPr id="40" name="">
            <a:extLst xmlns:a="http://schemas.openxmlformats.org/drawingml/2006/main">
              <a:ext uri="{FF2B5EF4-FFF2-40B4-BE49-F238E27FC236}">
                <a16:creationId xmlns:a16="http://schemas.microsoft.com/office/drawing/2014/main" id="{96C31C6A-7051-4325-A506-7CC621D0DFB4}"/>
              </a:ext>
            </a:extLst>
          </p:cNvPr>
          <p:cNvSpPr>
            <a:spLocks xmlns:a="http://schemas.openxmlformats.org/drawingml/2006/main" noGrp="1"/>
          </p:cNvSpPr>
          <p:nvPr/>
        </p:nvSpPr>
        <p:spPr>
          <a:xfrm xmlns:a="http://schemas.openxmlformats.org/drawingml/2006/main">
            <a:off x="3714750" y="5029200"/>
            <a:ext cx="72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11318"/>
                </a:solidFill>
                <a:latin typeface="Helvetica Neue"/>
                <a:ea typeface="Helvetica Neue"/>
                <a:cs typeface="Helvetica Neue"/>
              </a:defRPr>
            </a:pPr>
            <a:r>
              <a:rPr sz="1275" b="1" i="0">
                <a:solidFill>
                  <a:srgbClr val="111318"/>
                </a:solidFill>
                <a:latin typeface="Helvetica Neue"/>
                <a:ea typeface="Helvetica Neue"/>
                <a:cs typeface="Helvetica Neue"/>
              </a:rPr>
              <a:t>.80</a:t>
            </a:r>
          </a:p>
        </p:txBody>
      </p:sp>
      <p:sp>
        <p:nvSpPr>
          <p:cNvPr id="41" name="">
            <a:extLst xmlns:a="http://schemas.openxmlformats.org/drawingml/2006/main">
              <a:ext uri="{FF2B5EF4-FFF2-40B4-BE49-F238E27FC236}">
                <a16:creationId xmlns:a16="http://schemas.microsoft.com/office/drawing/2014/main" id="{E3300458-E339-497E-9875-5854E9A838B7}"/>
              </a:ext>
            </a:extLst>
          </p:cNvPr>
          <p:cNvSpPr>
            <a:spLocks xmlns:a="http://schemas.openxmlformats.org/drawingml/2006/main" noGrp="1"/>
          </p:cNvSpPr>
          <p:nvPr/>
        </p:nvSpPr>
        <p:spPr>
          <a:xfrm xmlns:a="http://schemas.openxmlformats.org/drawingml/2006/main">
            <a:off x="4572000" y="5029200"/>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11318"/>
                </a:solidFill>
                <a:latin typeface="Helvetica Neue"/>
                <a:ea typeface="Helvetica Neue"/>
                <a:cs typeface="Helvetica Neue"/>
              </a:defRPr>
            </a:pPr>
            <a:r>
              <a:rPr sz="1275" b="1" i="0">
                <a:solidFill>
                  <a:srgbClr val="111318"/>
                </a:solidFill>
                <a:latin typeface="Helvetica Neue"/>
                <a:ea typeface="Helvetica Neue"/>
                <a:cs typeface="Helvetica Neue"/>
              </a:rPr>
              <a:t>.58</a:t>
            </a:r>
          </a:p>
        </p:txBody>
      </p:sp>
      <p:sp>
        <p:nvSpPr>
          <p:cNvPr id="42" name="">
            <a:extLst xmlns:a="http://schemas.openxmlformats.org/drawingml/2006/main">
              <a:ext uri="{FF2B5EF4-FFF2-40B4-BE49-F238E27FC236}">
                <a16:creationId xmlns:a16="http://schemas.microsoft.com/office/drawing/2014/main" id="{D65DE5E6-77A0-438C-BC70-A156ABE6E4B1}"/>
              </a:ext>
            </a:extLst>
          </p:cNvPr>
          <p:cNvSpPr>
            <a:spLocks xmlns:a="http://schemas.openxmlformats.org/drawingml/2006/main" noGrp="1"/>
          </p:cNvSpPr>
          <p:nvPr/>
        </p:nvSpPr>
        <p:spPr>
          <a:xfrm xmlns:a="http://schemas.openxmlformats.org/drawingml/2006/main">
            <a:off x="5429250" y="5029200"/>
            <a:ext cx="628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11318"/>
                </a:solidFill>
                <a:latin typeface="Helvetica Neue"/>
                <a:ea typeface="Helvetica Neue"/>
                <a:cs typeface="Helvetica Neue"/>
              </a:defRPr>
            </a:pPr>
            <a:r>
              <a:rPr sz="1275" b="1" i="0">
                <a:solidFill>
                  <a:srgbClr val="111318"/>
                </a:solidFill>
                <a:latin typeface="Helvetica Neue"/>
                <a:ea typeface="Helvetica Neue"/>
                <a:cs typeface="Helvetica Neue"/>
              </a:rPr>
              <a:t>.23</a:t>
            </a:r>
          </a:p>
        </p:txBody>
      </p:sp>
      <p:sp>
        <p:nvSpPr>
          <p:cNvPr id="43" name="">
            <a:extLst xmlns:a="http://schemas.openxmlformats.org/drawingml/2006/main">
              <a:ext uri="{FF2B5EF4-FFF2-40B4-BE49-F238E27FC236}">
                <a16:creationId xmlns:a16="http://schemas.microsoft.com/office/drawing/2014/main" id="{2B9B4E96-7308-43C3-B40D-064F12F7DA2F}"/>
              </a:ext>
            </a:extLst>
          </p:cNvPr>
          <p:cNvSpPr>
            <a:spLocks xmlns:a="http://schemas.openxmlformats.org/drawingml/2006/main" noGrp="1"/>
          </p:cNvSpPr>
          <p:nvPr/>
        </p:nvSpPr>
        <p:spPr>
          <a:xfrm xmlns:a="http://schemas.openxmlformats.org/drawingml/2006/main">
            <a:off x="6800850" y="1828800"/>
            <a:ext cx="57150" cy="219075"/>
          </a:xfrm>
          <a:prstGeom xmlns:a="http://schemas.openxmlformats.org/drawingml/2006/main" prst="roundRect">
            <a:avLst>
              <a:gd name="adj" fmla="val 50000"/>
            </a:avLst>
          </a:prstGeom>
          <a:solidFill xmlns:a="http://schemas.openxmlformats.org/drawingml/2006/main">
            <a:srgbClr val="2D8A5B"/>
          </a:solidFill>
          <a:ln xmlns:a="http://schemas.openxmlformats.org/drawingml/2006/main" w="0">
            <a:solidFill>
              <a:srgbClr val="2D8A5B"/>
            </a:solidFill>
            <a:prstDash val="solid"/>
          </a:ln>
        </p:spPr>
      </p:sp>
      <p:sp>
        <p:nvSpPr>
          <p:cNvPr id="44" name="">
            <a:extLst xmlns:a="http://schemas.openxmlformats.org/drawingml/2006/main">
              <a:ext uri="{FF2B5EF4-FFF2-40B4-BE49-F238E27FC236}">
                <a16:creationId xmlns:a16="http://schemas.microsoft.com/office/drawing/2014/main" id="{FF1992C0-EBB9-4744-8769-E1543E23BB4C}"/>
              </a:ext>
            </a:extLst>
          </p:cNvPr>
          <p:cNvSpPr>
            <a:spLocks xmlns:a="http://schemas.openxmlformats.org/drawingml/2006/main" noGrp="1"/>
          </p:cNvSpPr>
          <p:nvPr/>
        </p:nvSpPr>
        <p:spPr>
          <a:xfrm xmlns:a="http://schemas.openxmlformats.org/drawingml/2006/main">
            <a:off x="6972300" y="1809750"/>
            <a:ext cx="421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What to believe</a:t>
            </a:r>
          </a:p>
        </p:txBody>
      </p:sp>
      <p:sp>
        <p:nvSpPr>
          <p:cNvPr id="45" name="">
            <a:extLst xmlns:a="http://schemas.openxmlformats.org/drawingml/2006/main">
              <a:ext uri="{FF2B5EF4-FFF2-40B4-BE49-F238E27FC236}">
                <a16:creationId xmlns:a16="http://schemas.microsoft.com/office/drawing/2014/main" id="{D760C9BF-F819-4CF6-A469-9E51060602F9}"/>
              </a:ext>
            </a:extLst>
          </p:cNvPr>
          <p:cNvSpPr>
            <a:spLocks xmlns:a="http://schemas.openxmlformats.org/drawingml/2006/main" noGrp="1"/>
          </p:cNvSpPr>
          <p:nvPr/>
        </p:nvSpPr>
        <p:spPr>
          <a:xfrm xmlns:a="http://schemas.openxmlformats.org/drawingml/2006/main">
            <a:off x="6800850" y="2238375"/>
            <a:ext cx="171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i="0">
                <a:solidFill>
                  <a:srgbClr val="2D8A5B"/>
                </a:solidFill>
                <a:latin typeface="Helvetica Neue"/>
                <a:ea typeface="Helvetica Neue"/>
                <a:cs typeface="Helvetica Neue"/>
              </a:defRPr>
            </a:pPr>
            <a:r>
              <a:rPr sz="4650" b="1" i="0">
                <a:solidFill>
                  <a:srgbClr val="2D8A5B"/>
                </a:solidFill>
                <a:latin typeface="Helvetica Neue"/>
                <a:ea typeface="Helvetica Neue"/>
                <a:cs typeface="Helvetica Neue"/>
              </a:rPr>
              <a:t>4.92</a:t>
            </a:r>
          </a:p>
        </p:txBody>
      </p:sp>
      <p:sp>
        <p:nvSpPr>
          <p:cNvPr id="46" name="">
            <a:extLst xmlns:a="http://schemas.openxmlformats.org/drawingml/2006/main">
              <a:ext uri="{FF2B5EF4-FFF2-40B4-BE49-F238E27FC236}">
                <a16:creationId xmlns:a16="http://schemas.microsoft.com/office/drawing/2014/main" id="{9CD2CBA8-1E10-4B08-BDF8-E02CE4F76A22}"/>
              </a:ext>
            </a:extLst>
          </p:cNvPr>
          <p:cNvSpPr>
            <a:spLocks xmlns:a="http://schemas.openxmlformats.org/drawingml/2006/main" noGrp="1"/>
          </p:cNvSpPr>
          <p:nvPr/>
        </p:nvSpPr>
        <p:spPr>
          <a:xfrm xmlns:a="http://schemas.openxmlformats.org/drawingml/2006/main">
            <a:off x="8458200" y="2352675"/>
            <a:ext cx="2724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11318"/>
                </a:solidFill>
                <a:latin typeface="Helvetica Neue"/>
                <a:ea typeface="Helvetica Neue"/>
                <a:cs typeface="Helvetica Neue"/>
              </a:defRPr>
            </a:pPr>
            <a:r>
              <a:rPr sz="1425" b="1" i="0">
                <a:solidFill>
                  <a:srgbClr val="111318"/>
                </a:solidFill>
                <a:latin typeface="Helvetica Neue"/>
                <a:ea typeface="Helvetica Neue"/>
                <a:cs typeface="Helvetica Neue"/>
              </a:rPr>
              <a:t>mean rank across 24 tasks</a:t>
            </a:r>
          </a:p>
          <a:p xmlns:a="http://schemas.openxmlformats.org/drawingml/2006/main">
            <a:pPr algn="l">
              <a:defRPr sz="1425" b="1" i="0">
                <a:solidFill>
                  <a:srgbClr val="111318"/>
                </a:solidFill>
                <a:latin typeface="Helvetica Neue"/>
                <a:ea typeface="Helvetica Neue"/>
                <a:cs typeface="Helvetica Neue"/>
              </a:defRPr>
            </a:pPr>
            <a:r>
              <a:rPr sz="1425" b="1" i="0">
                <a:solidFill>
                  <a:srgbClr val="111318"/>
                </a:solidFill>
                <a:latin typeface="Helvetica Neue"/>
                <a:ea typeface="Helvetica Neue"/>
                <a:cs typeface="Helvetica Neue"/>
              </a:rPr>
              <a:t>(best in the reported suite)</a:t>
            </a:r>
          </a:p>
        </p:txBody>
      </p:sp>
      <p:sp>
        <p:nvSpPr>
          <p:cNvPr id="47" name="">
            <a:extLst xmlns:a="http://schemas.openxmlformats.org/drawingml/2006/main">
              <a:ext uri="{FF2B5EF4-FFF2-40B4-BE49-F238E27FC236}">
                <a16:creationId xmlns:a16="http://schemas.microsoft.com/office/drawing/2014/main" id="{756AC4B0-39ED-4B89-81DD-603B20220C69}"/>
              </a:ext>
            </a:extLst>
          </p:cNvPr>
          <p:cNvSpPr>
            <a:spLocks xmlns:a="http://schemas.openxmlformats.org/drawingml/2006/main" noGrp="1"/>
          </p:cNvSpPr>
          <p:nvPr/>
        </p:nvSpPr>
        <p:spPr>
          <a:xfrm xmlns:a="http://schemas.openxmlformats.org/drawingml/2006/main">
            <a:off x="6800850" y="3114675"/>
            <a:ext cx="43815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48" name="">
            <a:extLst xmlns:a="http://schemas.openxmlformats.org/drawingml/2006/main">
              <a:ext uri="{FF2B5EF4-FFF2-40B4-BE49-F238E27FC236}">
                <a16:creationId xmlns:a16="http://schemas.microsoft.com/office/drawing/2014/main" id="{5EB862D8-BA46-4075-A399-77B44614DFE1}"/>
              </a:ext>
            </a:extLst>
          </p:cNvPr>
          <p:cNvSpPr>
            <a:spLocks xmlns:a="http://schemas.openxmlformats.org/drawingml/2006/main" noGrp="1"/>
          </p:cNvSpPr>
          <p:nvPr/>
        </p:nvSpPr>
        <p:spPr>
          <a:xfrm xmlns:a="http://schemas.openxmlformats.org/drawingml/2006/main">
            <a:off x="6800850" y="333375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11318"/>
                </a:solidFill>
                <a:latin typeface="Helvetica Neue"/>
                <a:ea typeface="Helvetica Neue"/>
                <a:cs typeface="Helvetica Neue"/>
              </a:defRPr>
            </a:pPr>
            <a:r>
              <a:rPr sz="1425" b="1" i="0">
                <a:solidFill>
                  <a:srgbClr val="111318"/>
                </a:solidFill>
                <a:latin typeface="Helvetica Neue"/>
                <a:ea typeface="Helvetica Neue"/>
                <a:cs typeface="Helvetica Neue"/>
              </a:rPr>
              <a:t>No task-specific training</a:t>
            </a:r>
          </a:p>
        </p:txBody>
      </p:sp>
      <p:sp>
        <p:nvSpPr>
          <p:cNvPr id="49" name="">
            <a:extLst xmlns:a="http://schemas.openxmlformats.org/drawingml/2006/main">
              <a:ext uri="{FF2B5EF4-FFF2-40B4-BE49-F238E27FC236}">
                <a16:creationId xmlns:a16="http://schemas.microsoft.com/office/drawing/2014/main" id="{5C729BA6-4CED-4C1A-BB22-0F87EB4FFD92}"/>
              </a:ext>
            </a:extLst>
          </p:cNvPr>
          <p:cNvSpPr>
            <a:spLocks xmlns:a="http://schemas.openxmlformats.org/drawingml/2006/main" noGrp="1"/>
          </p:cNvSpPr>
          <p:nvPr/>
        </p:nvSpPr>
        <p:spPr>
          <a:xfrm xmlns:a="http://schemas.openxmlformats.org/drawingml/2006/main">
            <a:off x="6800850" y="3705225"/>
            <a:ext cx="4381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16873"/>
                </a:solidFill>
                <a:latin typeface="Helvetica Neue"/>
                <a:ea typeface="Helvetica Neue"/>
                <a:cs typeface="Helvetica Neue"/>
              </a:defRPr>
            </a:pPr>
            <a:r>
              <a:rPr sz="1350" b="0" i="0">
                <a:solidFill>
                  <a:srgbClr val="616873"/>
                </a:solidFill>
                <a:latin typeface="Helvetica Neue"/>
                <a:ea typeface="Helvetica Neue"/>
                <a:cs typeface="Helvetica Neue"/>
              </a:rPr>
              <a:t>21.2 min total on rel-stack; versus 15.2–17.8 h for per-task RDL-GNN / RelGT in the paper’s setup.</a:t>
            </a:r>
          </a:p>
        </p:txBody>
      </p:sp>
      <p:sp>
        <p:nvSpPr>
          <p:cNvPr id="50" name="">
            <a:extLst xmlns:a="http://schemas.openxmlformats.org/drawingml/2006/main">
              <a:ext uri="{FF2B5EF4-FFF2-40B4-BE49-F238E27FC236}">
                <a16:creationId xmlns:a16="http://schemas.microsoft.com/office/drawing/2014/main" id="{DB918C47-4C94-4B26-8D9A-9A3F914E08F4}"/>
              </a:ext>
            </a:extLst>
          </p:cNvPr>
          <p:cNvSpPr>
            <a:spLocks xmlns:a="http://schemas.openxmlformats.org/drawingml/2006/main" noGrp="1"/>
          </p:cNvSpPr>
          <p:nvPr/>
        </p:nvSpPr>
        <p:spPr>
          <a:xfrm xmlns:a="http://schemas.openxmlformats.org/drawingml/2006/main">
            <a:off x="6800850" y="4495800"/>
            <a:ext cx="43815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51" name="">
            <a:extLst xmlns:a="http://schemas.openxmlformats.org/drawingml/2006/main">
              <a:ext uri="{FF2B5EF4-FFF2-40B4-BE49-F238E27FC236}">
                <a16:creationId xmlns:a16="http://schemas.microsoft.com/office/drawing/2014/main" id="{FFADD8E1-CC0F-4C17-894F-FAB370C5B188}"/>
              </a:ext>
            </a:extLst>
          </p:cNvPr>
          <p:cNvSpPr>
            <a:spLocks xmlns:a="http://schemas.openxmlformats.org/drawingml/2006/main" noGrp="1"/>
          </p:cNvSpPr>
          <p:nvPr/>
        </p:nvSpPr>
        <p:spPr>
          <a:xfrm xmlns:a="http://schemas.openxmlformats.org/drawingml/2006/main">
            <a:off x="6800850" y="47148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11318"/>
                </a:solidFill>
                <a:latin typeface="Helvetica Neue"/>
                <a:ea typeface="Helvetica Neue"/>
                <a:cs typeface="Helvetica Neue"/>
              </a:defRPr>
            </a:pPr>
            <a:r>
              <a:rPr sz="1425" b="1" i="0">
                <a:solidFill>
                  <a:srgbClr val="111318"/>
                </a:solidFill>
                <a:latin typeface="Helvetica Neue"/>
                <a:ea typeface="Helvetica Neue"/>
                <a:cs typeface="Helvetica Neue"/>
              </a:rPr>
              <a:t>Bridge ablation</a:t>
            </a:r>
          </a:p>
        </p:txBody>
      </p:sp>
      <p:sp>
        <p:nvSpPr>
          <p:cNvPr id="52" name="">
            <a:extLst xmlns:a="http://schemas.openxmlformats.org/drawingml/2006/main">
              <a:ext uri="{FF2B5EF4-FFF2-40B4-BE49-F238E27FC236}">
                <a16:creationId xmlns:a16="http://schemas.microsoft.com/office/drawing/2014/main" id="{DAF3592D-AD8A-4F89-9516-C866DD1014D8}"/>
              </a:ext>
            </a:extLst>
          </p:cNvPr>
          <p:cNvSpPr>
            <a:spLocks xmlns:a="http://schemas.openxmlformats.org/drawingml/2006/main" noGrp="1"/>
          </p:cNvSpPr>
          <p:nvPr/>
        </p:nvSpPr>
        <p:spPr>
          <a:xfrm xmlns:a="http://schemas.openxmlformats.org/drawingml/2006/main">
            <a:off x="6800850" y="5076825"/>
            <a:ext cx="438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16873"/>
                </a:solidFill>
                <a:latin typeface="Helvetica Neue"/>
                <a:ea typeface="Helvetica Neue"/>
                <a:cs typeface="Helvetica Neue"/>
              </a:defRPr>
            </a:pPr>
            <a:r>
              <a:rPr sz="1350" b="0" i="0">
                <a:solidFill>
                  <a:srgbClr val="616873"/>
                </a:solidFill>
                <a:latin typeface="Helvetica Neue"/>
                <a:ea typeface="Helvetica Neue"/>
                <a:cs typeface="Helvetica Neue"/>
              </a:rPr>
              <a:t>Normalization is critical; the original TabICL encoder beats a linear adapter; interleaving is inconsistent.</a:t>
            </a:r>
          </a:p>
        </p:txBody>
      </p:sp>
      <p:sp>
        <p:nvSpPr>
          <p:cNvPr id="53" name="">
            <a:extLst xmlns:a="http://schemas.openxmlformats.org/drawingml/2006/main">
              <a:ext uri="{FF2B5EF4-FFF2-40B4-BE49-F238E27FC236}">
                <a16:creationId xmlns:a16="http://schemas.microsoft.com/office/drawing/2014/main" id="{57461CC0-3B13-49DE-BD26-7A8747EABF1F}"/>
              </a:ext>
            </a:extLst>
          </p:cNvPr>
          <p:cNvSpPr>
            <a:spLocks xmlns:a="http://schemas.openxmlformats.org/drawingml/2006/main" noGrp="1"/>
          </p:cNvSpPr>
          <p:nvPr/>
        </p:nvSpPr>
        <p:spPr>
          <a:xfrm xmlns:a="http://schemas.openxmlformats.org/drawingml/2006/main">
            <a:off x="6800850" y="5905500"/>
            <a:ext cx="3181350" cy="295275"/>
          </a:xfrm>
          <a:prstGeom xmlns:a="http://schemas.openxmlformats.org/drawingml/2006/main" prst="roundRect">
            <a:avLst>
              <a:gd name="adj" fmla="val 48387"/>
            </a:avLst>
          </a:prstGeom>
          <a:solidFill xmlns:a="http://schemas.openxmlformats.org/drawingml/2006/main">
            <a:srgbClr val="FFF0F0"/>
          </a:solidFill>
          <a:ln xmlns:a="http://schemas.openxmlformats.org/drawingml/2006/main" w="9525">
            <a:solidFill>
              <a:srgbClr val="FFF0F0"/>
            </a:solidFill>
            <a:prstDash val="solid"/>
          </a:ln>
        </p:spPr>
      </p:sp>
      <p:sp>
        <p:nvSpPr>
          <p:cNvPr id="54" name="">
            <a:extLst xmlns:a="http://schemas.openxmlformats.org/drawingml/2006/main">
              <a:ext uri="{FF2B5EF4-FFF2-40B4-BE49-F238E27FC236}">
                <a16:creationId xmlns:a16="http://schemas.microsoft.com/office/drawing/2014/main" id="{C162A797-B791-4857-A23A-AEA1EB3D56D2}"/>
              </a:ext>
            </a:extLst>
          </p:cNvPr>
          <p:cNvSpPr>
            <a:spLocks xmlns:a="http://schemas.openxmlformats.org/drawingml/2006/main" noGrp="1"/>
          </p:cNvSpPr>
          <p:nvPr/>
        </p:nvSpPr>
        <p:spPr>
          <a:xfrm xmlns:a="http://schemas.openxmlformats.org/drawingml/2006/main">
            <a:off x="6877050" y="5953125"/>
            <a:ext cx="30289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D64B4B"/>
                </a:solidFill>
                <a:latin typeface="Helvetica Neue"/>
                <a:ea typeface="Helvetica Neue"/>
                <a:cs typeface="Helvetica Neue"/>
              </a:defRPr>
            </a:pPr>
            <a:r>
              <a:rPr sz="1050" b="1" i="0">
                <a:solidFill>
                  <a:srgbClr val="D64B4B"/>
                </a:solidFill>
                <a:latin typeface="Helvetica Neue"/>
                <a:ea typeface="Helvetica Neue"/>
                <a:cs typeface="Helvetica Neue"/>
              </a:rPr>
              <a:t>v1 preprint · different suite from RelArena</a:t>
            </a:r>
          </a:p>
        </p:txBody>
      </p:sp>
      <p:sp>
        <p:nvSpPr>
          <p:cNvPr id="55" name="">
            <a:extLst xmlns:a="http://schemas.openxmlformats.org/drawingml/2006/main">
              <a:ext uri="{FF2B5EF4-FFF2-40B4-BE49-F238E27FC236}">
                <a16:creationId xmlns:a16="http://schemas.microsoft.com/office/drawing/2014/main" id="{3FC95483-2C2A-47CA-8F66-04C9BBFC1626}"/>
              </a:ext>
            </a:extLst>
          </p:cNvPr>
          <p:cNvSpPr>
            <a:spLocks xmlns:a="http://schemas.openxmlformats.org/drawingml/2006/main" noGrp="1"/>
          </p:cNvSpPr>
          <p:nvPr/>
        </p:nvSpPr>
        <p:spPr>
          <a:xfrm xmlns:a="http://schemas.openxmlformats.org/drawingml/2006/main">
            <a:off x="647700" y="64198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Sources and methodological caveats are in speaker notes</a:t>
            </a:r>
          </a:p>
        </p:txBody>
      </p:sp>
    </p:spTree>
    <p:extLst>
      <p:ext uri="{BB962C8B-B14F-4D97-AF65-F5344CB8AC3E}">
        <p14:creationId xmlns:p14="http://schemas.microsoft.com/office/powerpoint/2010/main" val="19937782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B45177B-CD82-4A51-AF05-911AF5C11A3A}"/>
              </a:ext>
            </a:extLst>
          </p:cNvPr>
          <p:cNvSpPr>
            <a:spLocks xmlns:a="http://schemas.openxmlformats.org/drawingml/2006/main" noGrp="1"/>
          </p:cNvSpPr>
          <p:nvPr/>
        </p:nvSpPr>
        <p:spPr>
          <a:xfrm xmlns:a="http://schemas.openxmlformats.org/drawingml/2006/main">
            <a:off x="647700" y="3238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16873"/>
                </a:solidFill>
                <a:latin typeface="Helvetica Neue"/>
                <a:ea typeface="Helvetica Neue"/>
                <a:cs typeface="Helvetica Neue"/>
              </a:defRPr>
            </a:pPr>
            <a:r>
              <a:rPr sz="1050" b="1" i="0">
                <a:solidFill>
                  <a:srgbClr val="616873"/>
                </a:solidFill>
                <a:latin typeface="Helvetica Neue"/>
                <a:ea typeface="Helvetica Neue"/>
                <a:cs typeface="Helvetica Neue"/>
              </a:rPr>
              <a:t>TABPFN-REL · MECHANISM</a:t>
            </a:r>
          </a:p>
        </p:txBody>
      </p:sp>
      <p:sp>
        <p:nvSpPr>
          <p:cNvPr id="2" name="">
            <a:extLst xmlns:a="http://schemas.openxmlformats.org/drawingml/2006/main">
              <a:ext uri="{FF2B5EF4-FFF2-40B4-BE49-F238E27FC236}">
                <a16:creationId xmlns:a16="http://schemas.microsoft.com/office/drawing/2014/main" id="{5DF934FE-683A-4776-AF27-0DD4CB030366}"/>
              </a:ext>
            </a:extLst>
          </p:cNvPr>
          <p:cNvSpPr>
            <a:spLocks xmlns:a="http://schemas.openxmlformats.org/drawingml/2006/main" noGrp="1"/>
          </p:cNvSpPr>
          <p:nvPr/>
        </p:nvSpPr>
        <p:spPr>
          <a:xfrm xmlns:a="http://schemas.openxmlformats.org/drawingml/2006/main">
            <a:off x="647700" y="60960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000000"/>
                </a:solidFill>
                <a:latin typeface="Helvetica Neue"/>
                <a:ea typeface="Helvetica Neue"/>
                <a:cs typeface="Helvetica Neue"/>
              </a:defRPr>
            </a:pPr>
            <a:r>
              <a:rPr sz="3225" b="1" i="0">
                <a:solidFill>
                  <a:srgbClr val="000000"/>
                </a:solidFill>
                <a:latin typeface="Helvetica Neue"/>
                <a:ea typeface="Helvetica Neue"/>
                <a:cs typeface="Helvetica Neue"/>
              </a:rPr>
              <a:t>Flatten first; let a frozen tabular FM adapt in context</a:t>
            </a:r>
          </a:p>
        </p:txBody>
      </p:sp>
      <p:sp>
        <p:nvSpPr>
          <p:cNvPr id="3" name="">
            <a:extLst xmlns:a="http://schemas.openxmlformats.org/drawingml/2006/main">
              <a:ext uri="{FF2B5EF4-FFF2-40B4-BE49-F238E27FC236}">
                <a16:creationId xmlns:a16="http://schemas.microsoft.com/office/drawing/2014/main" id="{E29F6D86-BEB0-4DE2-955B-86A6F8BD5B1A}"/>
              </a:ext>
            </a:extLst>
          </p:cNvPr>
          <p:cNvSpPr>
            <a:spLocks xmlns:a="http://schemas.openxmlformats.org/drawingml/2006/main" noGrp="1"/>
          </p:cNvSpPr>
          <p:nvPr/>
        </p:nvSpPr>
        <p:spPr>
          <a:xfrm xmlns:a="http://schemas.openxmlformats.org/drawingml/2006/main">
            <a:off x="647700" y="11715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616873"/>
                </a:solidFill>
                <a:latin typeface="Helvetica Neue"/>
                <a:ea typeface="Helvetica Neue"/>
                <a:cs typeface="Helvetica Neue"/>
              </a:defRPr>
            </a:pPr>
            <a:r>
              <a:rPr sz="1425" b="0" i="0">
                <a:solidFill>
                  <a:srgbClr val="616873"/>
                </a:solidFill>
                <a:latin typeface="Helvetica Neue"/>
                <a:ea typeface="Helvetica Neue"/>
                <a:cs typeface="Helvetica Neue"/>
              </a:rPr>
              <a:t>The harness is simple, strong and label-rich—its relational inductive bias lives in feature synthesis.</a:t>
            </a:r>
          </a:p>
        </p:txBody>
      </p:sp>
      <p:sp>
        <p:nvSpPr>
          <p:cNvPr id="4" name="">
            <a:extLst xmlns:a="http://schemas.openxmlformats.org/drawingml/2006/main">
              <a:ext uri="{FF2B5EF4-FFF2-40B4-BE49-F238E27FC236}">
                <a16:creationId xmlns:a16="http://schemas.microsoft.com/office/drawing/2014/main" id="{636430D5-413D-43ED-9187-E5E4920433E9}"/>
              </a:ext>
            </a:extLst>
          </p:cNvPr>
          <p:cNvSpPr>
            <a:spLocks xmlns:a="http://schemas.openxmlformats.org/drawingml/2006/main" noGrp="1"/>
          </p:cNvSpPr>
          <p:nvPr/>
        </p:nvSpPr>
        <p:spPr>
          <a:xfrm xmlns:a="http://schemas.openxmlformats.org/drawingml/2006/main">
            <a:off x="647700" y="1533525"/>
            <a:ext cx="108966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5" name="">
            <a:extLst xmlns:a="http://schemas.openxmlformats.org/drawingml/2006/main">
              <a:ext uri="{FF2B5EF4-FFF2-40B4-BE49-F238E27FC236}">
                <a16:creationId xmlns:a16="http://schemas.microsoft.com/office/drawing/2014/main" id="{F2497F28-4CDA-4E45-B707-417A727D9869}"/>
              </a:ext>
            </a:extLst>
          </p:cNvPr>
          <p:cNvSpPr>
            <a:spLocks xmlns:a="http://schemas.openxmlformats.org/drawingml/2006/main" noGrp="1"/>
          </p:cNvSpPr>
          <p:nvPr/>
        </p:nvSpPr>
        <p:spPr>
          <a:xfrm xmlns:a="http://schemas.openxmlformats.org/drawingml/2006/main">
            <a:off x="11068050" y="63912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B8BCC4"/>
                </a:solidFill>
                <a:latin typeface="Helvetica Neue"/>
                <a:ea typeface="Helvetica Neue"/>
                <a:cs typeface="Helvetica Neue"/>
              </a:defRPr>
            </a:pPr>
            <a:r>
              <a:rPr sz="1050" b="1" i="0">
                <a:solidFill>
                  <a:srgbClr val="B8BCC4"/>
                </a:solidFill>
                <a:latin typeface="Helvetica Neue"/>
                <a:ea typeface="Helvetica Neue"/>
                <a:cs typeface="Helvetica Neue"/>
              </a:rPr>
              <a:t>06</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bed6b4ee0d94db7"/>
          <a:stretch xmlns:a="http://schemas.openxmlformats.org/drawingml/2006/main"/>
        </p:blipFill>
        <p:spPr>
          <a:xfrm xmlns:a="http://schemas.openxmlformats.org/drawingml/2006/main">
            <a:off x="656463" y="1790700"/>
            <a:ext cx="7221474" cy="4457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AF1B84B-3077-4CA3-8498-F7C7F6BE7537}"/>
              </a:ext>
            </a:extLst>
          </p:cNvPr>
          <p:cNvSpPr>
            <a:spLocks xmlns:a="http://schemas.openxmlformats.org/drawingml/2006/main" noGrp="1"/>
          </p:cNvSpPr>
          <p:nvPr/>
        </p:nvSpPr>
        <p:spPr>
          <a:xfrm xmlns:a="http://schemas.openxmlformats.org/drawingml/2006/main">
            <a:off x="647700" y="6153150"/>
            <a:ext cx="3714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Figure 1 · official TabPFN-Rel pipeline</a:t>
            </a:r>
          </a:p>
        </p:txBody>
      </p:sp>
      <p:sp>
        <p:nvSpPr>
          <p:cNvPr id="8" name="">
            <a:extLst xmlns:a="http://schemas.openxmlformats.org/drawingml/2006/main">
              <a:ext uri="{FF2B5EF4-FFF2-40B4-BE49-F238E27FC236}">
                <a16:creationId xmlns:a16="http://schemas.microsoft.com/office/drawing/2014/main" id="{F6007661-1E95-4537-8AA3-1BEAB5D2D97F}"/>
              </a:ext>
            </a:extLst>
          </p:cNvPr>
          <p:cNvSpPr>
            <a:spLocks xmlns:a="http://schemas.openxmlformats.org/drawingml/2006/main" noGrp="1"/>
          </p:cNvSpPr>
          <p:nvPr/>
        </p:nvSpPr>
        <p:spPr>
          <a:xfrm xmlns:a="http://schemas.openxmlformats.org/drawingml/2006/main">
            <a:off x="8153400" y="1828800"/>
            <a:ext cx="57150" cy="219075"/>
          </a:xfrm>
          <a:prstGeom xmlns:a="http://schemas.openxmlformats.org/drawingml/2006/main" prst="roundRect">
            <a:avLst>
              <a:gd name="adj" fmla="val 50000"/>
            </a:avLst>
          </a:prstGeom>
          <a:solidFill xmlns:a="http://schemas.openxmlformats.org/drawingml/2006/main">
            <a:srgbClr val="B76591"/>
          </a:solidFill>
          <a:ln xmlns:a="http://schemas.openxmlformats.org/drawingml/2006/main" w="0">
            <a:solidFill>
              <a:srgbClr val="B76591"/>
            </a:solidFill>
            <a:prstDash val="solid"/>
          </a:ln>
        </p:spPr>
      </p:sp>
      <p:sp>
        <p:nvSpPr>
          <p:cNvPr id="9" name="">
            <a:extLst xmlns:a="http://schemas.openxmlformats.org/drawingml/2006/main">
              <a:ext uri="{FF2B5EF4-FFF2-40B4-BE49-F238E27FC236}">
                <a16:creationId xmlns:a16="http://schemas.microsoft.com/office/drawing/2014/main" id="{FCD4DA14-A178-4E26-855C-963F302F4162}"/>
              </a:ext>
            </a:extLst>
          </p:cNvPr>
          <p:cNvSpPr>
            <a:spLocks xmlns:a="http://schemas.openxmlformats.org/drawingml/2006/main" noGrp="1"/>
          </p:cNvSpPr>
          <p:nvPr/>
        </p:nvSpPr>
        <p:spPr>
          <a:xfrm xmlns:a="http://schemas.openxmlformats.org/drawingml/2006/main">
            <a:off x="8324850" y="180975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Release configuration</a:t>
            </a:r>
          </a:p>
        </p:txBody>
      </p:sp>
      <p:sp>
        <p:nvSpPr>
          <p:cNvPr id="10" name="">
            <a:extLst xmlns:a="http://schemas.openxmlformats.org/drawingml/2006/main">
              <a:ext uri="{FF2B5EF4-FFF2-40B4-BE49-F238E27FC236}">
                <a16:creationId xmlns:a16="http://schemas.microsoft.com/office/drawing/2014/main" id="{9B163488-2746-4840-9960-0B7949BA2DB0}"/>
              </a:ext>
            </a:extLst>
          </p:cNvPr>
          <p:cNvSpPr>
            <a:spLocks xmlns:a="http://schemas.openxmlformats.org/drawingml/2006/main" noGrp="1"/>
          </p:cNvSpPr>
          <p:nvPr/>
        </p:nvSpPr>
        <p:spPr>
          <a:xfrm xmlns:a="http://schemas.openxmlformats.org/drawingml/2006/main">
            <a:off x="8153400" y="2266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616873"/>
                </a:solidFill>
                <a:latin typeface="Helvetica Neue"/>
                <a:ea typeface="Helvetica Neue"/>
                <a:cs typeface="Helvetica Neue"/>
              </a:defRPr>
            </a:pPr>
            <a:r>
              <a:rPr sz="1275" b="0" i="0">
                <a:solidFill>
                  <a:srgbClr val="616873"/>
                </a:solidFill>
                <a:latin typeface="Helvetica Neue"/>
                <a:ea typeface="Helvetica Neue"/>
                <a:cs typeface="Helvetica Neue"/>
              </a:rPr>
              <a:t>DFS depth</a:t>
            </a:r>
          </a:p>
        </p:txBody>
      </p:sp>
      <p:sp>
        <p:nvSpPr>
          <p:cNvPr id="11" name="">
            <a:extLst xmlns:a="http://schemas.openxmlformats.org/drawingml/2006/main">
              <a:ext uri="{FF2B5EF4-FFF2-40B4-BE49-F238E27FC236}">
                <a16:creationId xmlns:a16="http://schemas.microsoft.com/office/drawing/2014/main" id="{8480584A-03FD-4912-995C-2754043FE910}"/>
              </a:ext>
            </a:extLst>
          </p:cNvPr>
          <p:cNvSpPr>
            <a:spLocks xmlns:a="http://schemas.openxmlformats.org/drawingml/2006/main" noGrp="1"/>
          </p:cNvSpPr>
          <p:nvPr/>
        </p:nvSpPr>
        <p:spPr>
          <a:xfrm xmlns:a="http://schemas.openxmlformats.org/drawingml/2006/main">
            <a:off x="9829800" y="22098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00" b="1" i="0">
                <a:solidFill>
                  <a:srgbClr val="B76591"/>
                </a:solidFill>
                <a:latin typeface="Helvetica Neue"/>
                <a:ea typeface="Helvetica Neue"/>
                <a:cs typeface="Helvetica Neue"/>
              </a:defRPr>
            </a:pPr>
            <a:r>
              <a:rPr sz="1800" b="1" i="0">
                <a:solidFill>
                  <a:srgbClr val="B76591"/>
                </a:solidFill>
                <a:latin typeface="Helvetica Neue"/>
                <a:ea typeface="Helvetica Neue"/>
                <a:cs typeface="Helvetica Neue"/>
              </a:rPr>
              <a:t>2 / 3 / 4</a:t>
            </a:r>
          </a:p>
        </p:txBody>
      </p:sp>
      <p:sp>
        <p:nvSpPr>
          <p:cNvPr id="12" name="">
            <a:extLst xmlns:a="http://schemas.openxmlformats.org/drawingml/2006/main">
              <a:ext uri="{FF2B5EF4-FFF2-40B4-BE49-F238E27FC236}">
                <a16:creationId xmlns:a16="http://schemas.microsoft.com/office/drawing/2014/main" id="{E58D88C6-3940-47A1-ABE1-28F654FA846E}"/>
              </a:ext>
            </a:extLst>
          </p:cNvPr>
          <p:cNvSpPr>
            <a:spLocks xmlns:a="http://schemas.openxmlformats.org/drawingml/2006/main" noGrp="1"/>
          </p:cNvSpPr>
          <p:nvPr/>
        </p:nvSpPr>
        <p:spPr>
          <a:xfrm xmlns:a="http://schemas.openxmlformats.org/drawingml/2006/main">
            <a:off x="8153400" y="2647950"/>
            <a:ext cx="314325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13" name="">
            <a:extLst xmlns:a="http://schemas.openxmlformats.org/drawingml/2006/main">
              <a:ext uri="{FF2B5EF4-FFF2-40B4-BE49-F238E27FC236}">
                <a16:creationId xmlns:a16="http://schemas.microsoft.com/office/drawing/2014/main" id="{2E7EFA3D-6F95-488B-A6DC-B66288DF533E}"/>
              </a:ext>
            </a:extLst>
          </p:cNvPr>
          <p:cNvSpPr>
            <a:spLocks xmlns:a="http://schemas.openxmlformats.org/drawingml/2006/main" noGrp="1"/>
          </p:cNvSpPr>
          <p:nvPr/>
        </p:nvSpPr>
        <p:spPr>
          <a:xfrm xmlns:a="http://schemas.openxmlformats.org/drawingml/2006/main">
            <a:off x="8153400" y="28479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616873"/>
                </a:solidFill>
                <a:latin typeface="Helvetica Neue"/>
                <a:ea typeface="Helvetica Neue"/>
                <a:cs typeface="Helvetica Neue"/>
              </a:defRPr>
            </a:pPr>
            <a:r>
              <a:rPr sz="1275" b="0" i="0">
                <a:solidFill>
                  <a:srgbClr val="616873"/>
                </a:solidFill>
                <a:latin typeface="Helvetica Neue"/>
                <a:ea typeface="Helvetica Neue"/>
                <a:cs typeface="Helvetica Neue"/>
              </a:rPr>
              <a:t>Estimators</a:t>
            </a:r>
          </a:p>
        </p:txBody>
      </p:sp>
      <p:sp>
        <p:nvSpPr>
          <p:cNvPr id="14" name="">
            <a:extLst xmlns:a="http://schemas.openxmlformats.org/drawingml/2006/main">
              <a:ext uri="{FF2B5EF4-FFF2-40B4-BE49-F238E27FC236}">
                <a16:creationId xmlns:a16="http://schemas.microsoft.com/office/drawing/2014/main" id="{7BFB3438-C0C5-462F-BE3F-16F5F0EECD55}"/>
              </a:ext>
            </a:extLst>
          </p:cNvPr>
          <p:cNvSpPr>
            <a:spLocks xmlns:a="http://schemas.openxmlformats.org/drawingml/2006/main" noGrp="1"/>
          </p:cNvSpPr>
          <p:nvPr/>
        </p:nvSpPr>
        <p:spPr>
          <a:xfrm xmlns:a="http://schemas.openxmlformats.org/drawingml/2006/main">
            <a:off x="10401300" y="2790825"/>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75" b="1" i="0">
                <a:solidFill>
                  <a:srgbClr val="B76591"/>
                </a:solidFill>
                <a:latin typeface="Helvetica Neue"/>
                <a:ea typeface="Helvetica Neue"/>
                <a:cs typeface="Helvetica Neue"/>
              </a:defRPr>
            </a:pPr>
            <a:r>
              <a:rPr sz="1875" b="1" i="0">
                <a:solidFill>
                  <a:srgbClr val="B76591"/>
                </a:solidFill>
                <a:latin typeface="Helvetica Neue"/>
                <a:ea typeface="Helvetica Neue"/>
                <a:cs typeface="Helvetica Neue"/>
              </a:rPr>
              <a:t>8</a:t>
            </a:r>
          </a:p>
        </p:txBody>
      </p:sp>
      <p:sp>
        <p:nvSpPr>
          <p:cNvPr id="15" name="">
            <a:extLst xmlns:a="http://schemas.openxmlformats.org/drawingml/2006/main">
              <a:ext uri="{FF2B5EF4-FFF2-40B4-BE49-F238E27FC236}">
                <a16:creationId xmlns:a16="http://schemas.microsoft.com/office/drawing/2014/main" id="{011D6E42-62EA-4936-87E8-C2E65910B832}"/>
              </a:ext>
            </a:extLst>
          </p:cNvPr>
          <p:cNvSpPr>
            <a:spLocks xmlns:a="http://schemas.openxmlformats.org/drawingml/2006/main" noGrp="1"/>
          </p:cNvSpPr>
          <p:nvPr/>
        </p:nvSpPr>
        <p:spPr>
          <a:xfrm xmlns:a="http://schemas.openxmlformats.org/drawingml/2006/main">
            <a:off x="8153400" y="3228975"/>
            <a:ext cx="314325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16" name="">
            <a:extLst xmlns:a="http://schemas.openxmlformats.org/drawingml/2006/main">
              <a:ext uri="{FF2B5EF4-FFF2-40B4-BE49-F238E27FC236}">
                <a16:creationId xmlns:a16="http://schemas.microsoft.com/office/drawing/2014/main" id="{A797B3B6-DDEB-49EF-8D08-41492EC3FBBE}"/>
              </a:ext>
            </a:extLst>
          </p:cNvPr>
          <p:cNvSpPr>
            <a:spLocks xmlns:a="http://schemas.openxmlformats.org/drawingml/2006/main" noGrp="1"/>
          </p:cNvSpPr>
          <p:nvPr/>
        </p:nvSpPr>
        <p:spPr>
          <a:xfrm xmlns:a="http://schemas.openxmlformats.org/drawingml/2006/main">
            <a:off x="8153400" y="34290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616873"/>
                </a:solidFill>
                <a:latin typeface="Helvetica Neue"/>
                <a:ea typeface="Helvetica Neue"/>
                <a:cs typeface="Helvetica Neue"/>
              </a:defRPr>
            </a:pPr>
            <a:r>
              <a:rPr sz="1275" b="0" i="0">
                <a:solidFill>
                  <a:srgbClr val="616873"/>
                </a:solidFill>
                <a:latin typeface="Helvetica Neue"/>
                <a:ea typeface="Helvetica Neue"/>
                <a:cs typeface="Helvetica Neue"/>
              </a:rPr>
              <a:t>Context / estimator</a:t>
            </a:r>
          </a:p>
        </p:txBody>
      </p:sp>
      <p:sp>
        <p:nvSpPr>
          <p:cNvPr id="17" name="">
            <a:extLst xmlns:a="http://schemas.openxmlformats.org/drawingml/2006/main">
              <a:ext uri="{FF2B5EF4-FFF2-40B4-BE49-F238E27FC236}">
                <a16:creationId xmlns:a16="http://schemas.microsoft.com/office/drawing/2014/main" id="{875BBC43-239F-4891-82EE-DAEABD766F1C}"/>
              </a:ext>
            </a:extLst>
          </p:cNvPr>
          <p:cNvSpPr>
            <a:spLocks xmlns:a="http://schemas.openxmlformats.org/drawingml/2006/main" noGrp="1"/>
          </p:cNvSpPr>
          <p:nvPr/>
        </p:nvSpPr>
        <p:spPr>
          <a:xfrm xmlns:a="http://schemas.openxmlformats.org/drawingml/2006/main">
            <a:off x="10001250" y="337185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75" b="1" i="0">
                <a:solidFill>
                  <a:srgbClr val="B76591"/>
                </a:solidFill>
                <a:latin typeface="Helvetica Neue"/>
                <a:ea typeface="Helvetica Neue"/>
                <a:cs typeface="Helvetica Neue"/>
              </a:defRPr>
            </a:pPr>
            <a:r>
              <a:rPr sz="1875" b="1" i="0">
                <a:solidFill>
                  <a:srgbClr val="B76591"/>
                </a:solidFill>
                <a:latin typeface="Helvetica Neue"/>
                <a:ea typeface="Helvetica Neue"/>
                <a:cs typeface="Helvetica Neue"/>
              </a:rPr>
              <a:t>100k</a:t>
            </a:r>
          </a:p>
        </p:txBody>
      </p:sp>
      <p:sp>
        <p:nvSpPr>
          <p:cNvPr id="18" name="">
            <a:extLst xmlns:a="http://schemas.openxmlformats.org/drawingml/2006/main">
              <a:ext uri="{FF2B5EF4-FFF2-40B4-BE49-F238E27FC236}">
                <a16:creationId xmlns:a16="http://schemas.microsoft.com/office/drawing/2014/main" id="{581645F1-DDE8-44FC-811F-C85F9B103CB1}"/>
              </a:ext>
            </a:extLst>
          </p:cNvPr>
          <p:cNvSpPr>
            <a:spLocks xmlns:a="http://schemas.openxmlformats.org/drawingml/2006/main" noGrp="1"/>
          </p:cNvSpPr>
          <p:nvPr/>
        </p:nvSpPr>
        <p:spPr>
          <a:xfrm xmlns:a="http://schemas.openxmlformats.org/drawingml/2006/main">
            <a:off x="8153400" y="3781425"/>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sampled from the 400k most recent candidates</a:t>
            </a:r>
          </a:p>
        </p:txBody>
      </p:sp>
      <p:sp>
        <p:nvSpPr>
          <p:cNvPr id="19" name="">
            <a:extLst xmlns:a="http://schemas.openxmlformats.org/drawingml/2006/main">
              <a:ext uri="{FF2B5EF4-FFF2-40B4-BE49-F238E27FC236}">
                <a16:creationId xmlns:a16="http://schemas.microsoft.com/office/drawing/2014/main" id="{E9A69979-0840-4BE7-8314-ED706F7D1618}"/>
              </a:ext>
            </a:extLst>
          </p:cNvPr>
          <p:cNvSpPr>
            <a:spLocks xmlns:a="http://schemas.openxmlformats.org/drawingml/2006/main" noGrp="1"/>
          </p:cNvSpPr>
          <p:nvPr/>
        </p:nvSpPr>
        <p:spPr>
          <a:xfrm xmlns:a="http://schemas.openxmlformats.org/drawingml/2006/main">
            <a:off x="8153400" y="4362450"/>
            <a:ext cx="314325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20" name="">
            <a:extLst xmlns:a="http://schemas.openxmlformats.org/drawingml/2006/main">
              <a:ext uri="{FF2B5EF4-FFF2-40B4-BE49-F238E27FC236}">
                <a16:creationId xmlns:a16="http://schemas.microsoft.com/office/drawing/2014/main" id="{91556A87-2BF3-4422-8358-9FC9290E72C8}"/>
              </a:ext>
            </a:extLst>
          </p:cNvPr>
          <p:cNvSpPr>
            <a:spLocks xmlns:a="http://schemas.openxmlformats.org/drawingml/2006/main" noGrp="1"/>
          </p:cNvSpPr>
          <p:nvPr/>
        </p:nvSpPr>
        <p:spPr>
          <a:xfrm xmlns:a="http://schemas.openxmlformats.org/drawingml/2006/main">
            <a:off x="8153400" y="45720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616873"/>
                </a:solidFill>
                <a:latin typeface="Helvetica Neue"/>
                <a:ea typeface="Helvetica Neue"/>
                <a:cs typeface="Helvetica Neue"/>
              </a:defRPr>
            </a:pPr>
            <a:r>
              <a:rPr sz="1275" b="0" i="0">
                <a:solidFill>
                  <a:srgbClr val="616873"/>
                </a:solidFill>
                <a:latin typeface="Helvetica Neue"/>
                <a:ea typeface="Helvetica Neue"/>
                <a:cs typeface="Helvetica Neue"/>
              </a:rPr>
              <a:t>Test context</a:t>
            </a:r>
          </a:p>
        </p:txBody>
      </p:sp>
      <p:sp>
        <p:nvSpPr>
          <p:cNvPr id="21" name="">
            <a:extLst xmlns:a="http://schemas.openxmlformats.org/drawingml/2006/main">
              <a:ext uri="{FF2B5EF4-FFF2-40B4-BE49-F238E27FC236}">
                <a16:creationId xmlns:a16="http://schemas.microsoft.com/office/drawing/2014/main" id="{C4CF3BE0-FBFB-461B-8DDC-21BB21ECE6B0}"/>
              </a:ext>
            </a:extLst>
          </p:cNvPr>
          <p:cNvSpPr>
            <a:spLocks xmlns:a="http://schemas.openxmlformats.org/drawingml/2006/main" noGrp="1"/>
          </p:cNvSpPr>
          <p:nvPr/>
        </p:nvSpPr>
        <p:spPr>
          <a:xfrm xmlns:a="http://schemas.openxmlformats.org/drawingml/2006/main">
            <a:off x="8153400" y="4895850"/>
            <a:ext cx="3143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11318"/>
                </a:solidFill>
                <a:latin typeface="Helvetica Neue"/>
                <a:ea typeface="Helvetica Neue"/>
                <a:cs typeface="Helvetica Neue"/>
              </a:defRPr>
            </a:pPr>
            <a:r>
              <a:rPr sz="1425" b="1" i="0">
                <a:solidFill>
                  <a:srgbClr val="111318"/>
                </a:solidFill>
                <a:latin typeface="Helvetica Neue"/>
                <a:ea typeface="Helvetica Neue"/>
                <a:cs typeface="Helvetica Neue"/>
              </a:rPr>
              <a:t>train + validation labels</a:t>
            </a:r>
          </a:p>
        </p:txBody>
      </p:sp>
      <p:sp>
        <p:nvSpPr>
          <p:cNvPr id="22" name="">
            <a:extLst xmlns:a="http://schemas.openxmlformats.org/drawingml/2006/main">
              <a:ext uri="{FF2B5EF4-FFF2-40B4-BE49-F238E27FC236}">
                <a16:creationId xmlns:a16="http://schemas.microsoft.com/office/drawing/2014/main" id="{F750B88F-932D-4C73-A102-73A5DBB8C03A}"/>
              </a:ext>
            </a:extLst>
          </p:cNvPr>
          <p:cNvSpPr>
            <a:spLocks xmlns:a="http://schemas.openxmlformats.org/drawingml/2006/main" noGrp="1"/>
          </p:cNvSpPr>
          <p:nvPr/>
        </p:nvSpPr>
        <p:spPr>
          <a:xfrm xmlns:a="http://schemas.openxmlformats.org/drawingml/2006/main">
            <a:off x="8153400" y="5305425"/>
            <a:ext cx="314325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23" name="">
            <a:extLst xmlns:a="http://schemas.openxmlformats.org/drawingml/2006/main">
              <a:ext uri="{FF2B5EF4-FFF2-40B4-BE49-F238E27FC236}">
                <a16:creationId xmlns:a16="http://schemas.microsoft.com/office/drawing/2014/main" id="{CCA446FB-076E-4C6B-A5DC-AC2D90B42485}"/>
              </a:ext>
            </a:extLst>
          </p:cNvPr>
          <p:cNvSpPr>
            <a:spLocks xmlns:a="http://schemas.openxmlformats.org/drawingml/2006/main" noGrp="1"/>
          </p:cNvSpPr>
          <p:nvPr/>
        </p:nvSpPr>
        <p:spPr>
          <a:xfrm xmlns:a="http://schemas.openxmlformats.org/drawingml/2006/main">
            <a:off x="8153400" y="55054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11318"/>
                </a:solidFill>
                <a:latin typeface="Helvetica Neue"/>
                <a:ea typeface="Helvetica Neue"/>
                <a:cs typeface="Helvetica Neue"/>
              </a:defRPr>
            </a:pPr>
            <a:r>
              <a:rPr sz="1350" b="1" i="0">
                <a:solidFill>
                  <a:srgbClr val="111318"/>
                </a:solidFill>
                <a:latin typeface="Helvetica Neue"/>
                <a:ea typeface="Helvetica Neue"/>
                <a:cs typeface="Helvetica Neue"/>
              </a:rPr>
              <a:t>API adds raw anchor-table text; OSS is text-free.</a:t>
            </a:r>
          </a:p>
        </p:txBody>
      </p:sp>
      <p:sp>
        <p:nvSpPr>
          <p:cNvPr id="24" name="">
            <a:extLst xmlns:a="http://schemas.openxmlformats.org/drawingml/2006/main">
              <a:ext uri="{FF2B5EF4-FFF2-40B4-BE49-F238E27FC236}">
                <a16:creationId xmlns:a16="http://schemas.microsoft.com/office/drawing/2014/main" id="{C56945BA-4A8D-4B9C-8650-82626E66E7E2}"/>
              </a:ext>
            </a:extLst>
          </p:cNvPr>
          <p:cNvSpPr>
            <a:spLocks xmlns:a="http://schemas.openxmlformats.org/drawingml/2006/main" noGrp="1"/>
          </p:cNvSpPr>
          <p:nvPr/>
        </p:nvSpPr>
        <p:spPr>
          <a:xfrm xmlns:a="http://schemas.openxmlformats.org/drawingml/2006/main">
            <a:off x="647700" y="64198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Sources and methodological caveats are in speaker notes</a:t>
            </a:r>
          </a:p>
        </p:txBody>
      </p:sp>
    </p:spTree>
    <p:extLst>
      <p:ext uri="{BB962C8B-B14F-4D97-AF65-F5344CB8AC3E}">
        <p14:creationId xmlns:p14="http://schemas.microsoft.com/office/powerpoint/2010/main" val="17674124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9D57D3D-2F48-4BF1-A27C-13F7B3F718B2}"/>
              </a:ext>
            </a:extLst>
          </p:cNvPr>
          <p:cNvSpPr>
            <a:spLocks xmlns:a="http://schemas.openxmlformats.org/drawingml/2006/main" noGrp="1"/>
          </p:cNvSpPr>
          <p:nvPr/>
        </p:nvSpPr>
        <p:spPr>
          <a:xfrm xmlns:a="http://schemas.openxmlformats.org/drawingml/2006/main">
            <a:off x="647700" y="3238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16873"/>
                </a:solidFill>
                <a:latin typeface="Helvetica Neue"/>
                <a:ea typeface="Helvetica Neue"/>
                <a:cs typeface="Helvetica Neue"/>
              </a:defRPr>
            </a:pPr>
            <a:r>
              <a:rPr sz="1050" b="1" i="0">
                <a:solidFill>
                  <a:srgbClr val="616873"/>
                </a:solidFill>
                <a:latin typeface="Helvetica Neue"/>
                <a:ea typeface="Helvetica Neue"/>
                <a:cs typeface="Helvetica Neue"/>
              </a:rPr>
              <a:t>TABPFN-REL · EVIDENCE</a:t>
            </a:r>
          </a:p>
        </p:txBody>
      </p:sp>
      <p:sp>
        <p:nvSpPr>
          <p:cNvPr id="2" name="">
            <a:extLst xmlns:a="http://schemas.openxmlformats.org/drawingml/2006/main">
              <a:ext uri="{FF2B5EF4-FFF2-40B4-BE49-F238E27FC236}">
                <a16:creationId xmlns:a16="http://schemas.microsoft.com/office/drawing/2014/main" id="{348EF5CB-05B9-422D-8585-8E306D9B51F6}"/>
              </a:ext>
            </a:extLst>
          </p:cNvPr>
          <p:cNvSpPr>
            <a:spLocks xmlns:a="http://schemas.openxmlformats.org/drawingml/2006/main" noGrp="1"/>
          </p:cNvSpPr>
          <p:nvPr/>
        </p:nvSpPr>
        <p:spPr>
          <a:xfrm xmlns:a="http://schemas.openxmlformats.org/drawingml/2006/main">
            <a:off x="647700" y="60960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i="0">
                <a:solidFill>
                  <a:srgbClr val="000000"/>
                </a:solidFill>
                <a:latin typeface="Helvetica Neue"/>
                <a:ea typeface="Helvetica Neue"/>
                <a:cs typeface="Helvetica Neue"/>
              </a:defRPr>
            </a:pPr>
            <a:r>
              <a:rPr sz="3225" b="1" i="0">
                <a:solidFill>
                  <a:srgbClr val="000000"/>
                </a:solidFill>
                <a:latin typeface="Helvetica Neue"/>
                <a:ea typeface="Helvetica Neue"/>
                <a:cs typeface="Helvetica Neue"/>
              </a:rPr>
              <a:t>#1 standardized model—yet not the #1 overall system</a:t>
            </a:r>
          </a:p>
        </p:txBody>
      </p:sp>
      <p:sp>
        <p:nvSpPr>
          <p:cNvPr id="3" name="">
            <a:extLst xmlns:a="http://schemas.openxmlformats.org/drawingml/2006/main">
              <a:ext uri="{FF2B5EF4-FFF2-40B4-BE49-F238E27FC236}">
                <a16:creationId xmlns:a16="http://schemas.microsoft.com/office/drawing/2014/main" id="{6759EE50-49CB-4BE4-951C-915821B5247D}"/>
              </a:ext>
            </a:extLst>
          </p:cNvPr>
          <p:cNvSpPr>
            <a:spLocks xmlns:a="http://schemas.openxmlformats.org/drawingml/2006/main" noGrp="1"/>
          </p:cNvSpPr>
          <p:nvPr/>
        </p:nvSpPr>
        <p:spPr>
          <a:xfrm xmlns:a="http://schemas.openxmlformats.org/drawingml/2006/main">
            <a:off x="647700" y="11715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616873"/>
                </a:solidFill>
                <a:latin typeface="Helvetica Neue"/>
                <a:ea typeface="Helvetica Neue"/>
                <a:cs typeface="Helvetica Neue"/>
              </a:defRPr>
            </a:pPr>
            <a:r>
              <a:rPr sz="1425" b="0" i="0">
                <a:solidFill>
                  <a:srgbClr val="616873"/>
                </a:solidFill>
                <a:latin typeface="Helvetica Neue"/>
                <a:ea typeface="Helvetica Neue"/>
                <a:cs typeface="Helvetica Neue"/>
              </a:rPr>
              <a:t>RelArena-α makes the result interpretable, and also exposes the remaining confounders.</a:t>
            </a:r>
          </a:p>
        </p:txBody>
      </p:sp>
      <p:sp>
        <p:nvSpPr>
          <p:cNvPr id="4" name="">
            <a:extLst xmlns:a="http://schemas.openxmlformats.org/drawingml/2006/main">
              <a:ext uri="{FF2B5EF4-FFF2-40B4-BE49-F238E27FC236}">
                <a16:creationId xmlns:a16="http://schemas.microsoft.com/office/drawing/2014/main" id="{07ACD1EA-2D6C-4438-90E1-D16B792CFFA0}"/>
              </a:ext>
            </a:extLst>
          </p:cNvPr>
          <p:cNvSpPr>
            <a:spLocks xmlns:a="http://schemas.openxmlformats.org/drawingml/2006/main" noGrp="1"/>
          </p:cNvSpPr>
          <p:nvPr/>
        </p:nvSpPr>
        <p:spPr>
          <a:xfrm xmlns:a="http://schemas.openxmlformats.org/drawingml/2006/main">
            <a:off x="647700" y="1533525"/>
            <a:ext cx="108966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5" name="">
            <a:extLst xmlns:a="http://schemas.openxmlformats.org/drawingml/2006/main">
              <a:ext uri="{FF2B5EF4-FFF2-40B4-BE49-F238E27FC236}">
                <a16:creationId xmlns:a16="http://schemas.microsoft.com/office/drawing/2014/main" id="{BE866B83-0605-4D78-857E-6FED400AC3ED}"/>
              </a:ext>
            </a:extLst>
          </p:cNvPr>
          <p:cNvSpPr>
            <a:spLocks xmlns:a="http://schemas.openxmlformats.org/drawingml/2006/main" noGrp="1"/>
          </p:cNvSpPr>
          <p:nvPr/>
        </p:nvSpPr>
        <p:spPr>
          <a:xfrm xmlns:a="http://schemas.openxmlformats.org/drawingml/2006/main">
            <a:off x="11068050" y="63912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B8BCC4"/>
                </a:solidFill>
                <a:latin typeface="Helvetica Neue"/>
                <a:ea typeface="Helvetica Neue"/>
                <a:cs typeface="Helvetica Neue"/>
              </a:defRPr>
            </a:pPr>
            <a:r>
              <a:rPr sz="1050" b="1" i="0">
                <a:solidFill>
                  <a:srgbClr val="B8BCC4"/>
                </a:solidFill>
                <a:latin typeface="Helvetica Neue"/>
                <a:ea typeface="Helvetica Neue"/>
                <a:cs typeface="Helvetica Neue"/>
              </a:rPr>
              <a:t>07</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6e8c77149334645"/>
          <a:stretch xmlns:a="http://schemas.openxmlformats.org/drawingml/2006/main"/>
        </p:blipFill>
        <p:spPr>
          <a:xfrm xmlns:a="http://schemas.openxmlformats.org/drawingml/2006/main">
            <a:off x="647700" y="1814424"/>
            <a:ext cx="7143750" cy="315295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B0FEF25-C9A2-4AE0-8C0C-EB29DEF8A61D}"/>
              </a:ext>
            </a:extLst>
          </p:cNvPr>
          <p:cNvSpPr>
            <a:spLocks xmlns:a="http://schemas.openxmlformats.org/drawingml/2006/main" noGrp="1"/>
          </p:cNvSpPr>
          <p:nvPr/>
        </p:nvSpPr>
        <p:spPr>
          <a:xfrm xmlns:a="http://schemas.openxmlformats.org/drawingml/2006/main">
            <a:off x="647700" y="4991100"/>
            <a:ext cx="4476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Figure 2 · 21 RelArena-α entity-forecasting tasks</a:t>
            </a:r>
          </a:p>
        </p:txBody>
      </p:sp>
      <p:sp>
        <p:nvSpPr>
          <p:cNvPr id="8" name="">
            <a:extLst xmlns:a="http://schemas.openxmlformats.org/drawingml/2006/main">
              <a:ext uri="{FF2B5EF4-FFF2-40B4-BE49-F238E27FC236}">
                <a16:creationId xmlns:a16="http://schemas.microsoft.com/office/drawing/2014/main" id="{7615926C-ED9C-4E1D-9728-327A9585318D}"/>
              </a:ext>
            </a:extLst>
          </p:cNvPr>
          <p:cNvSpPr>
            <a:spLocks xmlns:a="http://schemas.openxmlformats.org/drawingml/2006/main" noGrp="1"/>
          </p:cNvSpPr>
          <p:nvPr/>
        </p:nvSpPr>
        <p:spPr>
          <a:xfrm xmlns:a="http://schemas.openxmlformats.org/drawingml/2006/main">
            <a:off x="8134350" y="1828800"/>
            <a:ext cx="57150" cy="219075"/>
          </a:xfrm>
          <a:prstGeom xmlns:a="http://schemas.openxmlformats.org/drawingml/2006/main" prst="roundRect">
            <a:avLst>
              <a:gd name="adj" fmla="val 50000"/>
            </a:avLst>
          </a:prstGeom>
          <a:solidFill xmlns:a="http://schemas.openxmlformats.org/drawingml/2006/main">
            <a:srgbClr val="B76591"/>
          </a:solidFill>
          <a:ln xmlns:a="http://schemas.openxmlformats.org/drawingml/2006/main" w="0">
            <a:solidFill>
              <a:srgbClr val="B76591"/>
            </a:solidFill>
            <a:prstDash val="solid"/>
          </a:ln>
        </p:spPr>
      </p:sp>
      <p:sp>
        <p:nvSpPr>
          <p:cNvPr id="9" name="">
            <a:extLst xmlns:a="http://schemas.openxmlformats.org/drawingml/2006/main">
              <a:ext uri="{FF2B5EF4-FFF2-40B4-BE49-F238E27FC236}">
                <a16:creationId xmlns:a16="http://schemas.microsoft.com/office/drawing/2014/main" id="{C39F6B85-29DF-4B55-B011-6ED7CBF3965A}"/>
              </a:ext>
            </a:extLst>
          </p:cNvPr>
          <p:cNvSpPr>
            <a:spLocks xmlns:a="http://schemas.openxmlformats.org/drawingml/2006/main" noGrp="1"/>
          </p:cNvSpPr>
          <p:nvPr/>
        </p:nvSpPr>
        <p:spPr>
          <a:xfrm xmlns:a="http://schemas.openxmlformats.org/drawingml/2006/main">
            <a:off x="8305800" y="18097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Readout</a:t>
            </a:r>
          </a:p>
        </p:txBody>
      </p:sp>
      <p:sp>
        <p:nvSpPr>
          <p:cNvPr id="10" name="">
            <a:extLst xmlns:a="http://schemas.openxmlformats.org/drawingml/2006/main">
              <a:ext uri="{FF2B5EF4-FFF2-40B4-BE49-F238E27FC236}">
                <a16:creationId xmlns:a16="http://schemas.microsoft.com/office/drawing/2014/main" id="{D5A8EBE5-0056-4BBE-8A14-48118DF1DD44}"/>
              </a:ext>
            </a:extLst>
          </p:cNvPr>
          <p:cNvSpPr>
            <a:spLocks xmlns:a="http://schemas.openxmlformats.org/drawingml/2006/main" noGrp="1"/>
          </p:cNvSpPr>
          <p:nvPr/>
        </p:nvSpPr>
        <p:spPr>
          <a:xfrm xmlns:a="http://schemas.openxmlformats.org/drawingml/2006/main">
            <a:off x="8134350" y="2238375"/>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defRPr sz="3900" b="1" i="0">
                <a:solidFill>
                  <a:srgbClr val="B76591"/>
                </a:solidFill>
                <a:latin typeface="Helvetica Neue"/>
                <a:ea typeface="Helvetica Neue"/>
                <a:cs typeface="Helvetica Neue"/>
              </a:defRPr>
            </a:pPr>
            <a:r>
              <a:rPr sz="3900" b="1" i="0">
                <a:solidFill>
                  <a:srgbClr val="B76591"/>
                </a:solidFill>
                <a:latin typeface="Helvetica Neue"/>
                <a:ea typeface="Helvetica Neue"/>
                <a:cs typeface="Helvetica Neue"/>
              </a:rPr>
              <a:t>1821</a:t>
            </a:r>
          </a:p>
        </p:txBody>
      </p:sp>
      <p:sp>
        <p:nvSpPr>
          <p:cNvPr id="11" name="">
            <a:extLst xmlns:a="http://schemas.openxmlformats.org/drawingml/2006/main">
              <a:ext uri="{FF2B5EF4-FFF2-40B4-BE49-F238E27FC236}">
                <a16:creationId xmlns:a16="http://schemas.microsoft.com/office/drawing/2014/main" id="{6D8098A2-91F4-411D-9191-F5FC4E62A3DF}"/>
              </a:ext>
            </a:extLst>
          </p:cNvPr>
          <p:cNvSpPr>
            <a:spLocks xmlns:a="http://schemas.openxmlformats.org/drawingml/2006/main" noGrp="1"/>
          </p:cNvSpPr>
          <p:nvPr/>
        </p:nvSpPr>
        <p:spPr>
          <a:xfrm xmlns:a="http://schemas.openxmlformats.org/drawingml/2006/main">
            <a:off x="9677400" y="24003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11318"/>
                </a:solidFill>
                <a:latin typeface="Helvetica Neue"/>
                <a:ea typeface="Helvetica Neue"/>
                <a:cs typeface="Helvetica Neue"/>
              </a:defRPr>
            </a:pPr>
            <a:r>
              <a:rPr sz="1500" b="1" i="0">
                <a:solidFill>
                  <a:srgbClr val="111318"/>
                </a:solidFill>
                <a:latin typeface="Helvetica Neue"/>
                <a:ea typeface="Helvetica Neue"/>
                <a:cs typeface="Helvetica Neue"/>
              </a:rPr>
              <a:t>API model Elo</a:t>
            </a:r>
          </a:p>
        </p:txBody>
      </p:sp>
      <p:sp>
        <p:nvSpPr>
          <p:cNvPr id="12" name="">
            <a:extLst xmlns:a="http://schemas.openxmlformats.org/drawingml/2006/main">
              <a:ext uri="{FF2B5EF4-FFF2-40B4-BE49-F238E27FC236}">
                <a16:creationId xmlns:a16="http://schemas.microsoft.com/office/drawing/2014/main" id="{29E72E23-50F9-4131-B207-71CC031F4322}"/>
              </a:ext>
            </a:extLst>
          </p:cNvPr>
          <p:cNvSpPr>
            <a:spLocks xmlns:a="http://schemas.openxmlformats.org/drawingml/2006/main" noGrp="1"/>
          </p:cNvSpPr>
          <p:nvPr/>
        </p:nvSpPr>
        <p:spPr>
          <a:xfrm xmlns:a="http://schemas.openxmlformats.org/drawingml/2006/main">
            <a:off x="8134350" y="2981325"/>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B76591"/>
                </a:solidFill>
                <a:latin typeface="Helvetica Neue"/>
                <a:ea typeface="Helvetica Neue"/>
                <a:cs typeface="Helvetica Neue"/>
              </a:defRPr>
            </a:pPr>
            <a:r>
              <a:rPr sz="2850" b="1" i="0">
                <a:solidFill>
                  <a:srgbClr val="B76591"/>
                </a:solidFill>
                <a:latin typeface="Helvetica Neue"/>
                <a:ea typeface="Helvetica Neue"/>
                <a:cs typeface="Helvetica Neue"/>
              </a:rPr>
              <a:t>1706</a:t>
            </a:r>
          </a:p>
        </p:txBody>
      </p:sp>
      <p:sp>
        <p:nvSpPr>
          <p:cNvPr id="13" name="">
            <a:extLst xmlns:a="http://schemas.openxmlformats.org/drawingml/2006/main">
              <a:ext uri="{FF2B5EF4-FFF2-40B4-BE49-F238E27FC236}">
                <a16:creationId xmlns:a16="http://schemas.microsoft.com/office/drawing/2014/main" id="{D0295F1C-62C5-4357-8570-BAA0077CED06}"/>
              </a:ext>
            </a:extLst>
          </p:cNvPr>
          <p:cNvSpPr>
            <a:spLocks xmlns:a="http://schemas.openxmlformats.org/drawingml/2006/main" noGrp="1"/>
          </p:cNvSpPr>
          <p:nvPr/>
        </p:nvSpPr>
        <p:spPr>
          <a:xfrm xmlns:a="http://schemas.openxmlformats.org/drawingml/2006/main">
            <a:off x="9677400" y="3086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11318"/>
                </a:solidFill>
                <a:latin typeface="Helvetica Neue"/>
                <a:ea typeface="Helvetica Neue"/>
                <a:cs typeface="Helvetica Neue"/>
              </a:defRPr>
            </a:pPr>
            <a:r>
              <a:rPr sz="1425" b="1" i="0">
                <a:solidFill>
                  <a:srgbClr val="111318"/>
                </a:solidFill>
                <a:latin typeface="Helvetica Neue"/>
                <a:ea typeface="Helvetica Neue"/>
                <a:cs typeface="Helvetica Neue"/>
              </a:rPr>
              <a:t>OSS · no text</a:t>
            </a:r>
          </a:p>
        </p:txBody>
      </p:sp>
      <p:sp>
        <p:nvSpPr>
          <p:cNvPr id="14" name="">
            <a:extLst xmlns:a="http://schemas.openxmlformats.org/drawingml/2006/main">
              <a:ext uri="{FF2B5EF4-FFF2-40B4-BE49-F238E27FC236}">
                <a16:creationId xmlns:a16="http://schemas.microsoft.com/office/drawing/2014/main" id="{CF1A5C9C-8240-45F6-93C0-26D50D51CD8C}"/>
              </a:ext>
            </a:extLst>
          </p:cNvPr>
          <p:cNvSpPr>
            <a:spLocks xmlns:a="http://schemas.openxmlformats.org/drawingml/2006/main" noGrp="1"/>
          </p:cNvSpPr>
          <p:nvPr/>
        </p:nvSpPr>
        <p:spPr>
          <a:xfrm xmlns:a="http://schemas.openxmlformats.org/drawingml/2006/main">
            <a:off x="8134350" y="3638550"/>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17136F"/>
                </a:solidFill>
                <a:latin typeface="Helvetica Neue"/>
                <a:ea typeface="Helvetica Neue"/>
                <a:cs typeface="Helvetica Neue"/>
              </a:defRPr>
            </a:pPr>
            <a:r>
              <a:rPr sz="2850" b="1" i="0">
                <a:solidFill>
                  <a:srgbClr val="17136F"/>
                </a:solidFill>
                <a:latin typeface="Helvetica Neue"/>
                <a:ea typeface="Helvetica Neue"/>
                <a:cs typeface="Helvetica Neue"/>
              </a:rPr>
              <a:t>1861</a:t>
            </a:r>
          </a:p>
        </p:txBody>
      </p:sp>
      <p:sp>
        <p:nvSpPr>
          <p:cNvPr id="15" name="">
            <a:extLst xmlns:a="http://schemas.openxmlformats.org/drawingml/2006/main">
              <a:ext uri="{FF2B5EF4-FFF2-40B4-BE49-F238E27FC236}">
                <a16:creationId xmlns:a16="http://schemas.microsoft.com/office/drawing/2014/main" id="{0D23DE56-CAC6-4146-A0E9-83DAAB3E057C}"/>
              </a:ext>
            </a:extLst>
          </p:cNvPr>
          <p:cNvSpPr>
            <a:spLocks xmlns:a="http://schemas.openxmlformats.org/drawingml/2006/main" noGrp="1"/>
          </p:cNvSpPr>
          <p:nvPr/>
        </p:nvSpPr>
        <p:spPr>
          <a:xfrm xmlns:a="http://schemas.openxmlformats.org/drawingml/2006/main">
            <a:off x="9677400" y="37433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111318"/>
                </a:solidFill>
                <a:latin typeface="Helvetica Neue"/>
                <a:ea typeface="Helvetica Neue"/>
                <a:cs typeface="Helvetica Neue"/>
              </a:defRPr>
            </a:pPr>
            <a:r>
              <a:rPr sz="1425" b="1" i="0">
                <a:solidFill>
                  <a:srgbClr val="111318"/>
                </a:solidFill>
                <a:latin typeface="Helvetica Neue"/>
                <a:ea typeface="Helvetica Neue"/>
                <a:cs typeface="Helvetica Neue"/>
              </a:rPr>
              <a:t>RT-PluRel system</a:t>
            </a:r>
          </a:p>
        </p:txBody>
      </p:sp>
      <p:sp>
        <p:nvSpPr>
          <p:cNvPr id="16" name="">
            <a:extLst xmlns:a="http://schemas.openxmlformats.org/drawingml/2006/main">
              <a:ext uri="{FF2B5EF4-FFF2-40B4-BE49-F238E27FC236}">
                <a16:creationId xmlns:a16="http://schemas.microsoft.com/office/drawing/2014/main" id="{1A61306A-CBD6-4BA7-AFEF-CFCD002AEF1E}"/>
              </a:ext>
            </a:extLst>
          </p:cNvPr>
          <p:cNvSpPr>
            <a:spLocks xmlns:a="http://schemas.openxmlformats.org/drawingml/2006/main" noGrp="1"/>
          </p:cNvSpPr>
          <p:nvPr/>
        </p:nvSpPr>
        <p:spPr>
          <a:xfrm xmlns:a="http://schemas.openxmlformats.org/drawingml/2006/main">
            <a:off x="8134350" y="4324350"/>
            <a:ext cx="3162300" cy="971550"/>
          </a:xfrm>
          <a:prstGeom xmlns:a="http://schemas.openxmlformats.org/drawingml/2006/main" prst="roundRect">
            <a:avLst>
              <a:gd name="adj" fmla="val 13725"/>
            </a:avLst>
          </a:prstGeom>
          <a:solidFill xmlns:a="http://schemas.openxmlformats.org/drawingml/2006/main">
            <a:srgbClr val="F6F7F9"/>
          </a:solidFill>
          <a:ln xmlns:a="http://schemas.openxmlformats.org/drawingml/2006/main" w="9525">
            <a:solidFill>
              <a:srgbClr val="E6E8EC"/>
            </a:solidFill>
            <a:prstDash val="solid"/>
          </a:ln>
        </p:spPr>
      </p:sp>
      <p:sp>
        <p:nvSpPr>
          <p:cNvPr id="17" name="">
            <a:extLst xmlns:a="http://schemas.openxmlformats.org/drawingml/2006/main">
              <a:ext uri="{FF2B5EF4-FFF2-40B4-BE49-F238E27FC236}">
                <a16:creationId xmlns:a16="http://schemas.microsoft.com/office/drawing/2014/main" id="{D550F924-3488-401E-BE95-B52BDEC0ED8A}"/>
              </a:ext>
            </a:extLst>
          </p:cNvPr>
          <p:cNvSpPr>
            <a:spLocks xmlns:a="http://schemas.openxmlformats.org/drawingml/2006/main" noGrp="1"/>
          </p:cNvSpPr>
          <p:nvPr/>
        </p:nvSpPr>
        <p:spPr>
          <a:xfrm xmlns:a="http://schemas.openxmlformats.org/drawingml/2006/main">
            <a:off x="8343900" y="45148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D64B4B"/>
                </a:solidFill>
                <a:latin typeface="Helvetica Neue"/>
                <a:ea typeface="Helvetica Neue"/>
                <a:cs typeface="Helvetica Neue"/>
              </a:defRPr>
            </a:pPr>
            <a:r>
              <a:rPr sz="1200" b="1" i="0">
                <a:solidFill>
                  <a:srgbClr val="D64B4B"/>
                </a:solidFill>
                <a:latin typeface="Helvetica Neue"/>
                <a:ea typeface="Helvetica Neue"/>
                <a:cs typeface="Helvetica Neue"/>
              </a:rPr>
              <a:t>Important</a:t>
            </a:r>
          </a:p>
        </p:txBody>
      </p:sp>
      <p:sp>
        <p:nvSpPr>
          <p:cNvPr id="18" name="">
            <a:extLst xmlns:a="http://schemas.openxmlformats.org/drawingml/2006/main">
              <a:ext uri="{FF2B5EF4-FFF2-40B4-BE49-F238E27FC236}">
                <a16:creationId xmlns:a16="http://schemas.microsoft.com/office/drawing/2014/main" id="{BDF86859-D775-4131-A0CC-871ECE002D8C}"/>
              </a:ext>
            </a:extLst>
          </p:cNvPr>
          <p:cNvSpPr>
            <a:spLocks xmlns:a="http://schemas.openxmlformats.org/drawingml/2006/main" noGrp="1"/>
          </p:cNvSpPr>
          <p:nvPr/>
        </p:nvSpPr>
        <p:spPr>
          <a:xfrm xmlns:a="http://schemas.openxmlformats.org/drawingml/2006/main">
            <a:off x="8343900" y="4800600"/>
            <a:ext cx="2724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34"/>
          </a:bodyPr>
          <a:lstStyle xmlns:a="http://schemas.openxmlformats.org/drawingml/2006/main"/>
          <a:p xmlns:a="http://schemas.openxmlformats.org/drawingml/2006/main">
            <a:pPr algn="l">
              <a:defRPr sz="1200" b="1" i="0">
                <a:solidFill>
                  <a:srgbClr val="111318"/>
                </a:solidFill>
                <a:latin typeface="Helvetica Neue"/>
                <a:ea typeface="Helvetica Neue"/>
                <a:cs typeface="Helvetica Neue"/>
              </a:defRPr>
            </a:pPr>
            <a:r>
              <a:rPr sz="1200" b="1" i="0">
                <a:solidFill>
                  <a:srgbClr val="111318"/>
                </a:solidFill>
                <a:latin typeface="Helvetica Neue"/>
                <a:ea typeface="Helvetica Neue"/>
                <a:cs typeface="Helvetica Neue"/>
              </a:rPr>
              <a:t>Only TabPFN-Rel and RT-PluRel beat the per-entity constant on all 21 tasks.</a:t>
            </a:r>
          </a:p>
        </p:txBody>
      </p:sp>
      <p:sp>
        <p:nvSpPr>
          <p:cNvPr id="19" name="">
            <a:extLst xmlns:a="http://schemas.openxmlformats.org/drawingml/2006/main">
              <a:ext uri="{FF2B5EF4-FFF2-40B4-BE49-F238E27FC236}">
                <a16:creationId xmlns:a16="http://schemas.microsoft.com/office/drawing/2014/main" id="{7D661D1D-028A-44A8-958E-2F428E0A8E8D}"/>
              </a:ext>
            </a:extLst>
          </p:cNvPr>
          <p:cNvSpPr>
            <a:spLocks xmlns:a="http://schemas.openxmlformats.org/drawingml/2006/main" noGrp="1"/>
          </p:cNvSpPr>
          <p:nvPr/>
        </p:nvSpPr>
        <p:spPr>
          <a:xfrm xmlns:a="http://schemas.openxmlformats.org/drawingml/2006/main">
            <a:off x="647700" y="5410200"/>
            <a:ext cx="106489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0" indent="-12" algn="l">
              <a:spcAft>
                <a:spcPts val="3"/>
              </a:spcAft>
              <a:buChar cha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one seed; entity forecasting only</a:t>
            </a:r>
          </a:p>
          <a:p xmlns:a="http://schemas.openxmlformats.org/drawingml/2006/main">
            <a:pPr marL="20" indent="-12" algn="l">
              <a:spcAft>
                <a:spcPts val="3"/>
              </a:spcAft>
              <a:buChar cha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CPU feature synthesis excluded from headline runtime</a:t>
            </a:r>
          </a:p>
          <a:p xmlns:a="http://schemas.openxmlformats.org/drawingml/2006/main">
            <a:pPr marL="20" indent="-12" algn="l">
              <a:spcAft>
                <a:spcPts val="3"/>
              </a:spcAft>
              <a:buChar cha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API→OSS gap is dominated by two text-heavy tasks</a:t>
            </a:r>
          </a:p>
          <a:p xmlns:a="http://schemas.openxmlformats.org/drawingml/2006/main">
            <a:pPr marL="20" indent="-12" algn="l">
              <a:spcAft>
                <a:spcPts val="3"/>
              </a:spcAft>
              <a:buChar char="•"/>
              <a:defRPr sz="1275" b="0" i="0">
                <a:solidFill>
                  <a:srgbClr val="111318"/>
                </a:solidFill>
                <a:latin typeface="Helvetica Neue"/>
                <a:ea typeface="Helvetica Neue"/>
                <a:cs typeface="Helvetica Neue"/>
              </a:defRPr>
            </a:pPr>
            <a:r>
              <a:rPr sz="1275" b="0" i="0">
                <a:solidFill>
                  <a:srgbClr val="111318"/>
                </a:solidFill>
                <a:latin typeface="Helvetica Neue"/>
                <a:ea typeface="Helvetica Neue"/>
                <a:cs typeface="Helvetica Neue"/>
              </a:rPr>
              <a:t>depth 2 is often competitive; deeper paths grow rapidly</a:t>
            </a:r>
          </a:p>
        </p:txBody>
      </p:sp>
      <p:sp>
        <p:nvSpPr>
          <p:cNvPr id="20" name="">
            <a:extLst xmlns:a="http://schemas.openxmlformats.org/drawingml/2006/main">
              <a:ext uri="{FF2B5EF4-FFF2-40B4-BE49-F238E27FC236}">
                <a16:creationId xmlns:a16="http://schemas.microsoft.com/office/drawing/2014/main" id="{6EAC506B-48C8-41F5-9EAD-E919F4384F6A}"/>
              </a:ext>
            </a:extLst>
          </p:cNvPr>
          <p:cNvSpPr>
            <a:spLocks xmlns:a="http://schemas.openxmlformats.org/drawingml/2006/main" noGrp="1"/>
          </p:cNvSpPr>
          <p:nvPr/>
        </p:nvSpPr>
        <p:spPr>
          <a:xfrm xmlns:a="http://schemas.openxmlformats.org/drawingml/2006/main">
            <a:off x="647700" y="64198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Sources and methodological caveats are in speaker notes</a:t>
            </a:r>
          </a:p>
        </p:txBody>
      </p:sp>
    </p:spTree>
    <p:extLst>
      <p:ext uri="{BB962C8B-B14F-4D97-AF65-F5344CB8AC3E}">
        <p14:creationId xmlns:p14="http://schemas.microsoft.com/office/powerpoint/2010/main" val="15181036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8D97FCD6-EF51-48B9-8A0E-EF4D77F8037E}"/>
              </a:ext>
            </a:extLst>
          </p:cNvPr>
          <p:cNvSpPr>
            <a:spLocks xmlns:a="http://schemas.openxmlformats.org/drawingml/2006/main" noGrp="1"/>
          </p:cNvSpPr>
          <p:nvPr/>
        </p:nvSpPr>
        <p:spPr>
          <a:xfrm xmlns:a="http://schemas.openxmlformats.org/drawingml/2006/main">
            <a:off x="647700" y="3238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16873"/>
                </a:solidFill>
                <a:latin typeface="Helvetica Neue"/>
                <a:ea typeface="Helvetica Neue"/>
                <a:cs typeface="Helvetica Neue"/>
              </a:defRPr>
            </a:pPr>
            <a:r>
              <a:rPr sz="1050" b="1" i="0">
                <a:solidFill>
                  <a:srgbClr val="616873"/>
                </a:solidFill>
                <a:latin typeface="Helvetica Neue"/>
                <a:ea typeface="Helvetica Neue"/>
                <a:cs typeface="Helvetica Neue"/>
              </a:rPr>
              <a:t>SYNTHESIS</a:t>
            </a:r>
          </a:p>
        </p:txBody>
      </p:sp>
      <p:sp>
        <p:nvSpPr>
          <p:cNvPr id="2" name="">
            <a:extLst xmlns:a="http://schemas.openxmlformats.org/drawingml/2006/main">
              <a:ext uri="{FF2B5EF4-FFF2-40B4-BE49-F238E27FC236}">
                <a16:creationId xmlns:a16="http://schemas.microsoft.com/office/drawing/2014/main" id="{30F29999-5AEC-41C9-8648-E34468AE99C7}"/>
              </a:ext>
            </a:extLst>
          </p:cNvPr>
          <p:cNvSpPr>
            <a:spLocks xmlns:a="http://schemas.openxmlformats.org/drawingml/2006/main" noGrp="1"/>
          </p:cNvSpPr>
          <p:nvPr/>
        </p:nvSpPr>
        <p:spPr>
          <a:xfrm xmlns:a="http://schemas.openxmlformats.org/drawingml/2006/main">
            <a:off x="647700" y="60960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210"/>
          </a:bodyPr>
          <a:lstStyle xmlns:a="http://schemas.openxmlformats.org/drawingml/2006/main"/>
          <a:p xmlns:a="http://schemas.openxmlformats.org/drawingml/2006/main">
            <a:pPr algn="l">
              <a:defRPr sz="3225" b="1" i="0">
                <a:solidFill>
                  <a:srgbClr val="000000"/>
                </a:solidFill>
                <a:latin typeface="Helvetica Neue"/>
                <a:ea typeface="Helvetica Neue"/>
                <a:cs typeface="Helvetica Neue"/>
              </a:defRPr>
            </a:pPr>
            <a:r>
              <a:rPr sz="3225" b="1" i="0">
                <a:solidFill>
                  <a:srgbClr val="000000"/>
                </a:solidFill>
                <a:latin typeface="Helvetica Neue"/>
                <a:ea typeface="Helvetica Neue"/>
                <a:cs typeface="Helvetica Neue"/>
              </a:rPr>
              <a:t>The missing experiment: equal support + equal compute</a:t>
            </a:r>
          </a:p>
        </p:txBody>
      </p:sp>
      <p:sp>
        <p:nvSpPr>
          <p:cNvPr id="3" name="">
            <a:extLst xmlns:a="http://schemas.openxmlformats.org/drawingml/2006/main">
              <a:ext uri="{FF2B5EF4-FFF2-40B4-BE49-F238E27FC236}">
                <a16:creationId xmlns:a16="http://schemas.microsoft.com/office/drawing/2014/main" id="{5560CE1A-AF81-4CFB-A822-96B83ACC8A99}"/>
              </a:ext>
            </a:extLst>
          </p:cNvPr>
          <p:cNvSpPr>
            <a:spLocks xmlns:a="http://schemas.openxmlformats.org/drawingml/2006/main" noGrp="1"/>
          </p:cNvSpPr>
          <p:nvPr/>
        </p:nvSpPr>
        <p:spPr>
          <a:xfrm xmlns:a="http://schemas.openxmlformats.org/drawingml/2006/main">
            <a:off x="647700" y="11715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616873"/>
                </a:solidFill>
                <a:latin typeface="Helvetica Neue"/>
                <a:ea typeface="Helvetica Neue"/>
                <a:cs typeface="Helvetica Neue"/>
              </a:defRPr>
            </a:pPr>
            <a:r>
              <a:rPr sz="1425" b="0" i="0">
                <a:solidFill>
                  <a:srgbClr val="616873"/>
                </a:solidFill>
                <a:latin typeface="Helvetica Neue"/>
                <a:ea typeface="Helvetica Neue"/>
                <a:cs typeface="Helvetica Neue"/>
              </a:rPr>
              <a:t>Today’s papers answer different questions; a common protocol would reveal when learned topology earns its cost.</a:t>
            </a:r>
          </a:p>
        </p:txBody>
      </p:sp>
      <p:sp>
        <p:nvSpPr>
          <p:cNvPr id="4" name="">
            <a:extLst xmlns:a="http://schemas.openxmlformats.org/drawingml/2006/main">
              <a:ext uri="{FF2B5EF4-FFF2-40B4-BE49-F238E27FC236}">
                <a16:creationId xmlns:a16="http://schemas.microsoft.com/office/drawing/2014/main" id="{CF735CC0-AD6B-4C9C-BF4E-B24970633A53}"/>
              </a:ext>
            </a:extLst>
          </p:cNvPr>
          <p:cNvSpPr>
            <a:spLocks xmlns:a="http://schemas.openxmlformats.org/drawingml/2006/main" noGrp="1"/>
          </p:cNvSpPr>
          <p:nvPr/>
        </p:nvSpPr>
        <p:spPr>
          <a:xfrm xmlns:a="http://schemas.openxmlformats.org/drawingml/2006/main">
            <a:off x="647700" y="1533525"/>
            <a:ext cx="10896600" cy="0"/>
          </a:xfrm>
          <a:prstGeom xmlns:a="http://schemas.openxmlformats.org/drawingml/2006/main" prst="line">
            <a:avLst/>
          </a:prstGeom>
          <a:noFill xmlns:a="http://schemas.openxmlformats.org/drawingml/2006/main"/>
          <a:ln xmlns:a="http://schemas.openxmlformats.org/drawingml/2006/main" w="9525">
            <a:solidFill>
              <a:srgbClr val="E6E8EC"/>
            </a:solidFill>
            <a:prstDash val="solid"/>
          </a:ln>
        </p:spPr>
      </p:sp>
      <p:sp>
        <p:nvSpPr>
          <p:cNvPr id="5" name="">
            <a:extLst xmlns:a="http://schemas.openxmlformats.org/drawingml/2006/main">
              <a:ext uri="{FF2B5EF4-FFF2-40B4-BE49-F238E27FC236}">
                <a16:creationId xmlns:a16="http://schemas.microsoft.com/office/drawing/2014/main" id="{501D45D6-925A-4CDF-97B5-3868BE11C458}"/>
              </a:ext>
            </a:extLst>
          </p:cNvPr>
          <p:cNvSpPr>
            <a:spLocks xmlns:a="http://schemas.openxmlformats.org/drawingml/2006/main" noGrp="1"/>
          </p:cNvSpPr>
          <p:nvPr/>
        </p:nvSpPr>
        <p:spPr>
          <a:xfrm xmlns:a="http://schemas.openxmlformats.org/drawingml/2006/main">
            <a:off x="11068050" y="63912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B8BCC4"/>
                </a:solidFill>
                <a:latin typeface="Helvetica Neue"/>
                <a:ea typeface="Helvetica Neue"/>
                <a:cs typeface="Helvetica Neue"/>
              </a:defRPr>
            </a:pPr>
            <a:r>
              <a:rPr sz="1050" b="1" i="0">
                <a:solidFill>
                  <a:srgbClr val="B8BCC4"/>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64F46D05-F550-408A-A97C-F59AA028F3B4}"/>
              </a:ext>
            </a:extLst>
          </p:cNvPr>
          <p:cNvSpPr>
            <a:spLocks xmlns:a="http://schemas.openxmlformats.org/drawingml/2006/main" noGrp="1"/>
          </p:cNvSpPr>
          <p:nvPr/>
        </p:nvSpPr>
        <p:spPr>
          <a:xfrm xmlns:a="http://schemas.openxmlformats.org/drawingml/2006/main">
            <a:off x="647700" y="1809750"/>
            <a:ext cx="2514600" cy="400050"/>
          </a:xfrm>
          <a:prstGeom xmlns:a="http://schemas.openxmlformats.org/drawingml/2006/main" prst="rect">
            <a:avLst/>
          </a:prstGeom>
          <a:solidFill xmlns:a="http://schemas.openxmlformats.org/drawingml/2006/main">
            <a:srgbClr val="000000"/>
          </a:solidFill>
          <a:ln xmlns:a="http://schemas.openxmlformats.org/drawingml/2006/main" w="4763">
            <a:solidFill>
              <a:srgbClr val="FFFFFF"/>
            </a:solidFill>
            <a:prstDash val="solid"/>
          </a:ln>
        </p:spPr>
      </p:sp>
      <p:sp>
        <p:nvSpPr>
          <p:cNvPr id="7" name="">
            <a:extLst xmlns:a="http://schemas.openxmlformats.org/drawingml/2006/main">
              <a:ext uri="{FF2B5EF4-FFF2-40B4-BE49-F238E27FC236}">
                <a16:creationId xmlns:a16="http://schemas.microsoft.com/office/drawing/2014/main" id="{BED58477-ECA6-49DF-841C-3051B2623275}"/>
              </a:ext>
            </a:extLst>
          </p:cNvPr>
          <p:cNvSpPr>
            <a:spLocks xmlns:a="http://schemas.openxmlformats.org/drawingml/2006/main" noGrp="1"/>
          </p:cNvSpPr>
          <p:nvPr/>
        </p:nvSpPr>
        <p:spPr>
          <a:xfrm xmlns:a="http://schemas.openxmlformats.org/drawingml/2006/main">
            <a:off x="762000" y="19145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Dimension</a:t>
            </a:r>
          </a:p>
        </p:txBody>
      </p:sp>
      <p:sp>
        <p:nvSpPr>
          <p:cNvPr id="8" name="">
            <a:extLst xmlns:a="http://schemas.openxmlformats.org/drawingml/2006/main">
              <a:ext uri="{FF2B5EF4-FFF2-40B4-BE49-F238E27FC236}">
                <a16:creationId xmlns:a16="http://schemas.microsoft.com/office/drawing/2014/main" id="{55814DAA-B0F7-4287-9154-B520C1BDB94A}"/>
              </a:ext>
            </a:extLst>
          </p:cNvPr>
          <p:cNvSpPr>
            <a:spLocks xmlns:a="http://schemas.openxmlformats.org/drawingml/2006/main" noGrp="1"/>
          </p:cNvSpPr>
          <p:nvPr/>
        </p:nvSpPr>
        <p:spPr>
          <a:xfrm xmlns:a="http://schemas.openxmlformats.org/drawingml/2006/main">
            <a:off x="3162300" y="1809750"/>
            <a:ext cx="2743200" cy="400050"/>
          </a:xfrm>
          <a:prstGeom xmlns:a="http://schemas.openxmlformats.org/drawingml/2006/main" prst="rect">
            <a:avLst/>
          </a:prstGeom>
          <a:solidFill xmlns:a="http://schemas.openxmlformats.org/drawingml/2006/main">
            <a:srgbClr val="22252B"/>
          </a:solidFill>
          <a:ln xmlns:a="http://schemas.openxmlformats.org/drawingml/2006/main" w="4763">
            <a:solidFill>
              <a:srgbClr val="FFFFFF"/>
            </a:solidFill>
            <a:prstDash val="solid"/>
          </a:ln>
        </p:spPr>
      </p:sp>
      <p:sp>
        <p:nvSpPr>
          <p:cNvPr id="9" name="">
            <a:extLst xmlns:a="http://schemas.openxmlformats.org/drawingml/2006/main">
              <a:ext uri="{FF2B5EF4-FFF2-40B4-BE49-F238E27FC236}">
                <a16:creationId xmlns:a16="http://schemas.microsoft.com/office/drawing/2014/main" id="{1520E557-C61B-49D6-A289-4037D2ADBEBB}"/>
              </a:ext>
            </a:extLst>
          </p:cNvPr>
          <p:cNvSpPr>
            <a:spLocks xmlns:a="http://schemas.openxmlformats.org/drawingml/2006/main" noGrp="1"/>
          </p:cNvSpPr>
          <p:nvPr/>
        </p:nvSpPr>
        <p:spPr>
          <a:xfrm xmlns:a="http://schemas.openxmlformats.org/drawingml/2006/main">
            <a:off x="3276600" y="1914525"/>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OpenRFM</a:t>
            </a:r>
          </a:p>
        </p:txBody>
      </p:sp>
      <p:sp>
        <p:nvSpPr>
          <p:cNvPr id="10" name="">
            <a:extLst xmlns:a="http://schemas.openxmlformats.org/drawingml/2006/main">
              <a:ext uri="{FF2B5EF4-FFF2-40B4-BE49-F238E27FC236}">
                <a16:creationId xmlns:a16="http://schemas.microsoft.com/office/drawing/2014/main" id="{B3E8DF6F-EAB7-4F7D-897A-4BBF32C45997}"/>
              </a:ext>
            </a:extLst>
          </p:cNvPr>
          <p:cNvSpPr>
            <a:spLocks xmlns:a="http://schemas.openxmlformats.org/drawingml/2006/main" noGrp="1"/>
          </p:cNvSpPr>
          <p:nvPr/>
        </p:nvSpPr>
        <p:spPr>
          <a:xfrm xmlns:a="http://schemas.openxmlformats.org/drawingml/2006/main">
            <a:off x="5905500" y="1809750"/>
            <a:ext cx="2667000" cy="400050"/>
          </a:xfrm>
          <a:prstGeom xmlns:a="http://schemas.openxmlformats.org/drawingml/2006/main" prst="rect">
            <a:avLst/>
          </a:prstGeom>
          <a:solidFill xmlns:a="http://schemas.openxmlformats.org/drawingml/2006/main">
            <a:srgbClr val="22252B"/>
          </a:solidFill>
          <a:ln xmlns:a="http://schemas.openxmlformats.org/drawingml/2006/main" w="4763">
            <a:solidFill>
              <a:srgbClr val="FFFFFF"/>
            </a:solidFill>
            <a:prstDash val="solid"/>
          </a:ln>
        </p:spPr>
      </p:sp>
      <p:sp>
        <p:nvSpPr>
          <p:cNvPr id="11" name="">
            <a:extLst xmlns:a="http://schemas.openxmlformats.org/drawingml/2006/main">
              <a:ext uri="{FF2B5EF4-FFF2-40B4-BE49-F238E27FC236}">
                <a16:creationId xmlns:a16="http://schemas.microsoft.com/office/drawing/2014/main" id="{6AE0444E-A174-4F21-85AF-F4BA72AC5978}"/>
              </a:ext>
            </a:extLst>
          </p:cNvPr>
          <p:cNvSpPr>
            <a:spLocks xmlns:a="http://schemas.openxmlformats.org/drawingml/2006/main" noGrp="1"/>
          </p:cNvSpPr>
          <p:nvPr/>
        </p:nvSpPr>
        <p:spPr>
          <a:xfrm xmlns:a="http://schemas.openxmlformats.org/drawingml/2006/main">
            <a:off x="6019800" y="1914525"/>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TabPFN-Rel</a:t>
            </a:r>
          </a:p>
        </p:txBody>
      </p:sp>
      <p:sp>
        <p:nvSpPr>
          <p:cNvPr id="12" name="">
            <a:extLst xmlns:a="http://schemas.openxmlformats.org/drawingml/2006/main">
              <a:ext uri="{FF2B5EF4-FFF2-40B4-BE49-F238E27FC236}">
                <a16:creationId xmlns:a16="http://schemas.microsoft.com/office/drawing/2014/main" id="{70D8046B-DE63-406A-8FF2-82862AAA4C6E}"/>
              </a:ext>
            </a:extLst>
          </p:cNvPr>
          <p:cNvSpPr>
            <a:spLocks xmlns:a="http://schemas.openxmlformats.org/drawingml/2006/main" noGrp="1"/>
          </p:cNvSpPr>
          <p:nvPr/>
        </p:nvSpPr>
        <p:spPr>
          <a:xfrm xmlns:a="http://schemas.openxmlformats.org/drawingml/2006/main">
            <a:off x="8572500" y="1809750"/>
            <a:ext cx="2819400" cy="400050"/>
          </a:xfrm>
          <a:prstGeom xmlns:a="http://schemas.openxmlformats.org/drawingml/2006/main" prst="rect">
            <a:avLst/>
          </a:prstGeom>
          <a:solidFill xmlns:a="http://schemas.openxmlformats.org/drawingml/2006/main">
            <a:srgbClr val="22252B"/>
          </a:solidFill>
          <a:ln xmlns:a="http://schemas.openxmlformats.org/drawingml/2006/main" w="4763">
            <a:solidFill>
              <a:srgbClr val="FFFFFF"/>
            </a:solidFill>
            <a:prstDash val="solid"/>
          </a:ln>
        </p:spPr>
      </p:sp>
      <p:sp>
        <p:nvSpPr>
          <p:cNvPr id="13" name="">
            <a:extLst xmlns:a="http://schemas.openxmlformats.org/drawingml/2006/main">
              <a:ext uri="{FF2B5EF4-FFF2-40B4-BE49-F238E27FC236}">
                <a16:creationId xmlns:a16="http://schemas.microsoft.com/office/drawing/2014/main" id="{2087B400-76D8-4B15-AB29-B0BD9CAE830A}"/>
              </a:ext>
            </a:extLst>
          </p:cNvPr>
          <p:cNvSpPr>
            <a:spLocks xmlns:a="http://schemas.openxmlformats.org/drawingml/2006/main" noGrp="1"/>
          </p:cNvSpPr>
          <p:nvPr/>
        </p:nvSpPr>
        <p:spPr>
          <a:xfrm xmlns:a="http://schemas.openxmlformats.org/drawingml/2006/main">
            <a:off x="8686800" y="1914525"/>
            <a:ext cx="2590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Common test</a:t>
            </a:r>
          </a:p>
        </p:txBody>
      </p:sp>
      <p:sp>
        <p:nvSpPr>
          <p:cNvPr id="14" name="">
            <a:extLst xmlns:a="http://schemas.openxmlformats.org/drawingml/2006/main">
              <a:ext uri="{FF2B5EF4-FFF2-40B4-BE49-F238E27FC236}">
                <a16:creationId xmlns:a16="http://schemas.microsoft.com/office/drawing/2014/main" id="{5B933C60-600F-4743-85B4-E1B5567956AC}"/>
              </a:ext>
            </a:extLst>
          </p:cNvPr>
          <p:cNvSpPr>
            <a:spLocks xmlns:a="http://schemas.openxmlformats.org/drawingml/2006/main" noGrp="1"/>
          </p:cNvSpPr>
          <p:nvPr/>
        </p:nvSpPr>
        <p:spPr>
          <a:xfrm xmlns:a="http://schemas.openxmlformats.org/drawingml/2006/main">
            <a:off x="647700" y="2219325"/>
            <a:ext cx="25146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15" name="">
            <a:extLst xmlns:a="http://schemas.openxmlformats.org/drawingml/2006/main">
              <a:ext uri="{FF2B5EF4-FFF2-40B4-BE49-F238E27FC236}">
                <a16:creationId xmlns:a16="http://schemas.microsoft.com/office/drawing/2014/main" id="{959F713E-494A-4E61-83FF-B97ED1A7F578}"/>
              </a:ext>
            </a:extLst>
          </p:cNvPr>
          <p:cNvSpPr>
            <a:spLocks xmlns:a="http://schemas.openxmlformats.org/drawingml/2006/main" noGrp="1"/>
          </p:cNvSpPr>
          <p:nvPr/>
        </p:nvSpPr>
        <p:spPr>
          <a:xfrm xmlns:a="http://schemas.openxmlformats.org/drawingml/2006/main">
            <a:off x="762000" y="2333625"/>
            <a:ext cx="2286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111318"/>
                </a:solidFill>
                <a:latin typeface="Helvetica Neue"/>
                <a:ea typeface="Helvetica Neue"/>
                <a:cs typeface="Helvetica Neue"/>
              </a:defRPr>
            </a:pPr>
            <a:r>
              <a:rPr sz="1125" b="1" i="0">
                <a:solidFill>
                  <a:srgbClr val="111318"/>
                </a:solidFill>
                <a:latin typeface="Helvetica Neue"/>
                <a:ea typeface="Helvetica Neue"/>
                <a:cs typeface="Helvetica Neue"/>
              </a:rPr>
              <a:t>Relational representation</a:t>
            </a:r>
          </a:p>
        </p:txBody>
      </p:sp>
      <p:sp>
        <p:nvSpPr>
          <p:cNvPr id="16" name="">
            <a:extLst xmlns:a="http://schemas.openxmlformats.org/drawingml/2006/main">
              <a:ext uri="{FF2B5EF4-FFF2-40B4-BE49-F238E27FC236}">
                <a16:creationId xmlns:a16="http://schemas.microsoft.com/office/drawing/2014/main" id="{F71BA183-F078-4754-8E56-5B6672AE100A}"/>
              </a:ext>
            </a:extLst>
          </p:cNvPr>
          <p:cNvSpPr>
            <a:spLocks xmlns:a="http://schemas.openxmlformats.org/drawingml/2006/main" noGrp="1"/>
          </p:cNvSpPr>
          <p:nvPr/>
        </p:nvSpPr>
        <p:spPr>
          <a:xfrm xmlns:a="http://schemas.openxmlformats.org/drawingml/2006/main">
            <a:off x="3162300" y="2219325"/>
            <a:ext cx="27432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17" name="">
            <a:extLst xmlns:a="http://schemas.openxmlformats.org/drawingml/2006/main">
              <a:ext uri="{FF2B5EF4-FFF2-40B4-BE49-F238E27FC236}">
                <a16:creationId xmlns:a16="http://schemas.microsoft.com/office/drawing/2014/main" id="{06549414-7AB9-4EB2-9C46-1AA26500BFE7}"/>
              </a:ext>
            </a:extLst>
          </p:cNvPr>
          <p:cNvSpPr>
            <a:spLocks xmlns:a="http://schemas.openxmlformats.org/drawingml/2006/main" noGrp="1"/>
          </p:cNvSpPr>
          <p:nvPr/>
        </p:nvSpPr>
        <p:spPr>
          <a:xfrm xmlns:a="http://schemas.openxmlformats.org/drawingml/2006/main">
            <a:off x="3276600" y="2333625"/>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learned RT embedding</a:t>
            </a:r>
          </a:p>
        </p:txBody>
      </p:sp>
      <p:sp>
        <p:nvSpPr>
          <p:cNvPr id="18" name="">
            <a:extLst xmlns:a="http://schemas.openxmlformats.org/drawingml/2006/main">
              <a:ext uri="{FF2B5EF4-FFF2-40B4-BE49-F238E27FC236}">
                <a16:creationId xmlns:a16="http://schemas.microsoft.com/office/drawing/2014/main" id="{4CBB1F61-12E0-4F83-B527-80AECAD4D8B9}"/>
              </a:ext>
            </a:extLst>
          </p:cNvPr>
          <p:cNvSpPr>
            <a:spLocks xmlns:a="http://schemas.openxmlformats.org/drawingml/2006/main" noGrp="1"/>
          </p:cNvSpPr>
          <p:nvPr/>
        </p:nvSpPr>
        <p:spPr>
          <a:xfrm xmlns:a="http://schemas.openxmlformats.org/drawingml/2006/main">
            <a:off x="5905500" y="2219325"/>
            <a:ext cx="26670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19" name="">
            <a:extLst xmlns:a="http://schemas.openxmlformats.org/drawingml/2006/main">
              <a:ext uri="{FF2B5EF4-FFF2-40B4-BE49-F238E27FC236}">
                <a16:creationId xmlns:a16="http://schemas.microsoft.com/office/drawing/2014/main" id="{9FC6382C-9BBA-4B10-9E03-D6AB73B6636A}"/>
              </a:ext>
            </a:extLst>
          </p:cNvPr>
          <p:cNvSpPr>
            <a:spLocks xmlns:a="http://schemas.openxmlformats.org/drawingml/2006/main" noGrp="1"/>
          </p:cNvSpPr>
          <p:nvPr/>
        </p:nvSpPr>
        <p:spPr>
          <a:xfrm xmlns:a="http://schemas.openxmlformats.org/drawingml/2006/main">
            <a:off x="6019800" y="2333625"/>
            <a:ext cx="2438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DFS aggregate columns</a:t>
            </a:r>
          </a:p>
        </p:txBody>
      </p:sp>
      <p:sp>
        <p:nvSpPr>
          <p:cNvPr id="20" name="">
            <a:extLst xmlns:a="http://schemas.openxmlformats.org/drawingml/2006/main">
              <a:ext uri="{FF2B5EF4-FFF2-40B4-BE49-F238E27FC236}">
                <a16:creationId xmlns:a16="http://schemas.microsoft.com/office/drawing/2014/main" id="{C2C74E94-C0BF-4B84-BA6D-19E36CF1A9A9}"/>
              </a:ext>
            </a:extLst>
          </p:cNvPr>
          <p:cNvSpPr>
            <a:spLocks xmlns:a="http://schemas.openxmlformats.org/drawingml/2006/main" noGrp="1"/>
          </p:cNvSpPr>
          <p:nvPr/>
        </p:nvSpPr>
        <p:spPr>
          <a:xfrm xmlns:a="http://schemas.openxmlformats.org/drawingml/2006/main">
            <a:off x="8572500" y="2219325"/>
            <a:ext cx="28194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21" name="">
            <a:extLst xmlns:a="http://schemas.openxmlformats.org/drawingml/2006/main">
              <a:ext uri="{FF2B5EF4-FFF2-40B4-BE49-F238E27FC236}">
                <a16:creationId xmlns:a16="http://schemas.microsoft.com/office/drawing/2014/main" id="{7312F89F-AD41-4333-AA8F-31F2F2AAEAC0}"/>
              </a:ext>
            </a:extLst>
          </p:cNvPr>
          <p:cNvSpPr>
            <a:spLocks xmlns:a="http://schemas.openxmlformats.org/drawingml/2006/main" noGrp="1"/>
          </p:cNvSpPr>
          <p:nvPr/>
        </p:nvSpPr>
        <p:spPr>
          <a:xfrm xmlns:a="http://schemas.openxmlformats.org/drawingml/2006/main">
            <a:off x="8686800" y="2333625"/>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same temporal snapshots</a:t>
            </a:r>
          </a:p>
        </p:txBody>
      </p:sp>
      <p:sp>
        <p:nvSpPr>
          <p:cNvPr id="22" name="">
            <a:extLst xmlns:a="http://schemas.openxmlformats.org/drawingml/2006/main">
              <a:ext uri="{FF2B5EF4-FFF2-40B4-BE49-F238E27FC236}">
                <a16:creationId xmlns:a16="http://schemas.microsoft.com/office/drawing/2014/main" id="{878A02A6-907D-4B7F-9284-3E22131C4189}"/>
              </a:ext>
            </a:extLst>
          </p:cNvPr>
          <p:cNvSpPr>
            <a:spLocks xmlns:a="http://schemas.openxmlformats.org/drawingml/2006/main" noGrp="1"/>
          </p:cNvSpPr>
          <p:nvPr/>
        </p:nvSpPr>
        <p:spPr>
          <a:xfrm xmlns:a="http://schemas.openxmlformats.org/drawingml/2006/main">
            <a:off x="647700" y="2819400"/>
            <a:ext cx="2514600" cy="590550"/>
          </a:xfrm>
          <a:prstGeom xmlns:a="http://schemas.openxmlformats.org/drawingml/2006/main" prst="rect">
            <a:avLst/>
          </a:prstGeom>
          <a:solidFill xmlns:a="http://schemas.openxmlformats.org/drawingml/2006/main">
            <a:srgbClr val="FFFFFF"/>
          </a:solidFill>
          <a:ln xmlns:a="http://schemas.openxmlformats.org/drawingml/2006/main" w="6668">
            <a:solidFill>
              <a:srgbClr val="E6E8EC"/>
            </a:solidFill>
            <a:prstDash val="solid"/>
          </a:ln>
        </p:spPr>
      </p:sp>
      <p:sp>
        <p:nvSpPr>
          <p:cNvPr id="23" name="">
            <a:extLst xmlns:a="http://schemas.openxmlformats.org/drawingml/2006/main">
              <a:ext uri="{FF2B5EF4-FFF2-40B4-BE49-F238E27FC236}">
                <a16:creationId xmlns:a16="http://schemas.microsoft.com/office/drawing/2014/main" id="{40DB4794-D960-4BF7-9369-0C19E53CA95B}"/>
              </a:ext>
            </a:extLst>
          </p:cNvPr>
          <p:cNvSpPr>
            <a:spLocks xmlns:a="http://schemas.openxmlformats.org/drawingml/2006/main" noGrp="1"/>
          </p:cNvSpPr>
          <p:nvPr/>
        </p:nvSpPr>
        <p:spPr>
          <a:xfrm xmlns:a="http://schemas.openxmlformats.org/drawingml/2006/main">
            <a:off x="762000" y="2933700"/>
            <a:ext cx="2286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111318"/>
                </a:solidFill>
                <a:latin typeface="Helvetica Neue"/>
                <a:ea typeface="Helvetica Neue"/>
                <a:cs typeface="Helvetica Neue"/>
              </a:defRPr>
            </a:pPr>
            <a:r>
              <a:rPr sz="1125" b="1" i="0">
                <a:solidFill>
                  <a:srgbClr val="111318"/>
                </a:solidFill>
                <a:latin typeface="Helvetica Neue"/>
                <a:ea typeface="Helvetica Neue"/>
                <a:cs typeface="Helvetica Neue"/>
              </a:rPr>
              <a:t>Relational pretraining</a:t>
            </a:r>
          </a:p>
        </p:txBody>
      </p:sp>
      <p:sp>
        <p:nvSpPr>
          <p:cNvPr id="24" name="">
            <a:extLst xmlns:a="http://schemas.openxmlformats.org/drawingml/2006/main">
              <a:ext uri="{FF2B5EF4-FFF2-40B4-BE49-F238E27FC236}">
                <a16:creationId xmlns:a16="http://schemas.microsoft.com/office/drawing/2014/main" id="{DB02739C-5D87-45E6-B4B2-94E174086C30}"/>
              </a:ext>
            </a:extLst>
          </p:cNvPr>
          <p:cNvSpPr>
            <a:spLocks xmlns:a="http://schemas.openxmlformats.org/drawingml/2006/main" noGrp="1"/>
          </p:cNvSpPr>
          <p:nvPr/>
        </p:nvSpPr>
        <p:spPr>
          <a:xfrm xmlns:a="http://schemas.openxmlformats.org/drawingml/2006/main">
            <a:off x="3162300" y="2819400"/>
            <a:ext cx="2743200" cy="590550"/>
          </a:xfrm>
          <a:prstGeom xmlns:a="http://schemas.openxmlformats.org/drawingml/2006/main" prst="rect">
            <a:avLst/>
          </a:prstGeom>
          <a:solidFill xmlns:a="http://schemas.openxmlformats.org/drawingml/2006/main">
            <a:srgbClr val="FFFFFF"/>
          </a:solidFill>
          <a:ln xmlns:a="http://schemas.openxmlformats.org/drawingml/2006/main" w="6668">
            <a:solidFill>
              <a:srgbClr val="E6E8EC"/>
            </a:solidFill>
            <a:prstDash val="solid"/>
          </a:ln>
        </p:spPr>
      </p:sp>
      <p:sp>
        <p:nvSpPr>
          <p:cNvPr id="25" name="">
            <a:extLst xmlns:a="http://schemas.openxmlformats.org/drawingml/2006/main">
              <a:ext uri="{FF2B5EF4-FFF2-40B4-BE49-F238E27FC236}">
                <a16:creationId xmlns:a16="http://schemas.microsoft.com/office/drawing/2014/main" id="{9826CAEC-1A5D-4FDB-8B6C-2301A6F0F697}"/>
              </a:ext>
            </a:extLst>
          </p:cNvPr>
          <p:cNvSpPr>
            <a:spLocks xmlns:a="http://schemas.openxmlformats.org/drawingml/2006/main" noGrp="1"/>
          </p:cNvSpPr>
          <p:nvPr/>
        </p:nvSpPr>
        <p:spPr>
          <a:xfrm xmlns:a="http://schemas.openxmlformats.org/drawingml/2006/main">
            <a:off x="3276600" y="2933700"/>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yes: synth. + real</a:t>
            </a:r>
          </a:p>
        </p:txBody>
      </p:sp>
      <p:sp>
        <p:nvSpPr>
          <p:cNvPr id="26" name="">
            <a:extLst xmlns:a="http://schemas.openxmlformats.org/drawingml/2006/main">
              <a:ext uri="{FF2B5EF4-FFF2-40B4-BE49-F238E27FC236}">
                <a16:creationId xmlns:a16="http://schemas.microsoft.com/office/drawing/2014/main" id="{3CDE9ABC-DDD6-408F-9A0C-B87EB2D5B4B4}"/>
              </a:ext>
            </a:extLst>
          </p:cNvPr>
          <p:cNvSpPr>
            <a:spLocks xmlns:a="http://schemas.openxmlformats.org/drawingml/2006/main" noGrp="1"/>
          </p:cNvSpPr>
          <p:nvPr/>
        </p:nvSpPr>
        <p:spPr>
          <a:xfrm xmlns:a="http://schemas.openxmlformats.org/drawingml/2006/main">
            <a:off x="5905500" y="2819400"/>
            <a:ext cx="2667000" cy="590550"/>
          </a:xfrm>
          <a:prstGeom xmlns:a="http://schemas.openxmlformats.org/drawingml/2006/main" prst="rect">
            <a:avLst/>
          </a:prstGeom>
          <a:solidFill xmlns:a="http://schemas.openxmlformats.org/drawingml/2006/main">
            <a:srgbClr val="FFFFFF"/>
          </a:solidFill>
          <a:ln xmlns:a="http://schemas.openxmlformats.org/drawingml/2006/main" w="6668">
            <a:solidFill>
              <a:srgbClr val="E6E8EC"/>
            </a:solidFill>
            <a:prstDash val="solid"/>
          </a:ln>
        </p:spPr>
      </p:sp>
      <p:sp>
        <p:nvSpPr>
          <p:cNvPr id="27" name="">
            <a:extLst xmlns:a="http://schemas.openxmlformats.org/drawingml/2006/main">
              <a:ext uri="{FF2B5EF4-FFF2-40B4-BE49-F238E27FC236}">
                <a16:creationId xmlns:a16="http://schemas.microsoft.com/office/drawing/2014/main" id="{13F9F99F-06B2-4AD2-B399-5FA41D710532}"/>
              </a:ext>
            </a:extLst>
          </p:cNvPr>
          <p:cNvSpPr>
            <a:spLocks xmlns:a="http://schemas.openxmlformats.org/drawingml/2006/main" noGrp="1"/>
          </p:cNvSpPr>
          <p:nvPr/>
        </p:nvSpPr>
        <p:spPr>
          <a:xfrm xmlns:a="http://schemas.openxmlformats.org/drawingml/2006/main">
            <a:off x="6019800" y="2933700"/>
            <a:ext cx="2438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none in harness</a:t>
            </a:r>
          </a:p>
        </p:txBody>
      </p:sp>
      <p:sp>
        <p:nvSpPr>
          <p:cNvPr id="28" name="">
            <a:extLst xmlns:a="http://schemas.openxmlformats.org/drawingml/2006/main">
              <a:ext uri="{FF2B5EF4-FFF2-40B4-BE49-F238E27FC236}">
                <a16:creationId xmlns:a16="http://schemas.microsoft.com/office/drawing/2014/main" id="{5091631C-104D-4EFC-9369-DF8E3D6405A7}"/>
              </a:ext>
            </a:extLst>
          </p:cNvPr>
          <p:cNvSpPr>
            <a:spLocks xmlns:a="http://schemas.openxmlformats.org/drawingml/2006/main" noGrp="1"/>
          </p:cNvSpPr>
          <p:nvPr/>
        </p:nvSpPr>
        <p:spPr>
          <a:xfrm xmlns:a="http://schemas.openxmlformats.org/drawingml/2006/main">
            <a:off x="8572500" y="2819400"/>
            <a:ext cx="2819400" cy="590550"/>
          </a:xfrm>
          <a:prstGeom xmlns:a="http://schemas.openxmlformats.org/drawingml/2006/main" prst="rect">
            <a:avLst/>
          </a:prstGeom>
          <a:solidFill xmlns:a="http://schemas.openxmlformats.org/drawingml/2006/main">
            <a:srgbClr val="FFFFFF"/>
          </a:solidFill>
          <a:ln xmlns:a="http://schemas.openxmlformats.org/drawingml/2006/main" w="6668">
            <a:solidFill>
              <a:srgbClr val="E6E8EC"/>
            </a:solidFill>
            <a:prstDash val="solid"/>
          </a:ln>
        </p:spPr>
      </p:sp>
      <p:sp>
        <p:nvSpPr>
          <p:cNvPr id="29" name="">
            <a:extLst xmlns:a="http://schemas.openxmlformats.org/drawingml/2006/main">
              <a:ext uri="{FF2B5EF4-FFF2-40B4-BE49-F238E27FC236}">
                <a16:creationId xmlns:a16="http://schemas.microsoft.com/office/drawing/2014/main" id="{1F4F1AC6-2F39-46EC-B276-6EE544E29628}"/>
              </a:ext>
            </a:extLst>
          </p:cNvPr>
          <p:cNvSpPr>
            <a:spLocks xmlns:a="http://schemas.openxmlformats.org/drawingml/2006/main" noGrp="1"/>
          </p:cNvSpPr>
          <p:nvPr/>
        </p:nvSpPr>
        <p:spPr>
          <a:xfrm xmlns:a="http://schemas.openxmlformats.org/drawingml/2006/main">
            <a:off x="8686800" y="293370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held-out databases</a:t>
            </a:r>
          </a:p>
        </p:txBody>
      </p:sp>
      <p:sp>
        <p:nvSpPr>
          <p:cNvPr id="30" name="">
            <a:extLst xmlns:a="http://schemas.openxmlformats.org/drawingml/2006/main">
              <a:ext uri="{FF2B5EF4-FFF2-40B4-BE49-F238E27FC236}">
                <a16:creationId xmlns:a16="http://schemas.microsoft.com/office/drawing/2014/main" id="{6D788BD7-66A7-4A5C-A312-E6D81C234D8F}"/>
              </a:ext>
            </a:extLst>
          </p:cNvPr>
          <p:cNvSpPr>
            <a:spLocks xmlns:a="http://schemas.openxmlformats.org/drawingml/2006/main" noGrp="1"/>
          </p:cNvSpPr>
          <p:nvPr/>
        </p:nvSpPr>
        <p:spPr>
          <a:xfrm xmlns:a="http://schemas.openxmlformats.org/drawingml/2006/main">
            <a:off x="647700" y="3419475"/>
            <a:ext cx="25146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31" name="">
            <a:extLst xmlns:a="http://schemas.openxmlformats.org/drawingml/2006/main">
              <a:ext uri="{FF2B5EF4-FFF2-40B4-BE49-F238E27FC236}">
                <a16:creationId xmlns:a16="http://schemas.microsoft.com/office/drawing/2014/main" id="{E39FD150-27DF-412E-87B3-69E0EB0E9D0D}"/>
              </a:ext>
            </a:extLst>
          </p:cNvPr>
          <p:cNvSpPr>
            <a:spLocks xmlns:a="http://schemas.openxmlformats.org/drawingml/2006/main" noGrp="1"/>
          </p:cNvSpPr>
          <p:nvPr/>
        </p:nvSpPr>
        <p:spPr>
          <a:xfrm xmlns:a="http://schemas.openxmlformats.org/drawingml/2006/main">
            <a:off x="762000" y="3533775"/>
            <a:ext cx="2286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111318"/>
                </a:solidFill>
                <a:latin typeface="Helvetica Neue"/>
                <a:ea typeface="Helvetica Neue"/>
                <a:cs typeface="Helvetica Neue"/>
              </a:defRPr>
            </a:pPr>
            <a:r>
              <a:rPr sz="1125" b="1" i="0">
                <a:solidFill>
                  <a:srgbClr val="111318"/>
                </a:solidFill>
                <a:latin typeface="Helvetica Neue"/>
                <a:ea typeface="Helvetica Neue"/>
                <a:cs typeface="Helvetica Neue"/>
              </a:rPr>
              <a:t>Support budget</a:t>
            </a:r>
          </a:p>
        </p:txBody>
      </p:sp>
      <p:sp>
        <p:nvSpPr>
          <p:cNvPr id="32" name="">
            <a:extLst xmlns:a="http://schemas.openxmlformats.org/drawingml/2006/main">
              <a:ext uri="{FF2B5EF4-FFF2-40B4-BE49-F238E27FC236}">
                <a16:creationId xmlns:a16="http://schemas.microsoft.com/office/drawing/2014/main" id="{74B3CA16-60DE-4CC0-AB05-3723A38A0BA7}"/>
              </a:ext>
            </a:extLst>
          </p:cNvPr>
          <p:cNvSpPr>
            <a:spLocks xmlns:a="http://schemas.openxmlformats.org/drawingml/2006/main" noGrp="1"/>
          </p:cNvSpPr>
          <p:nvPr/>
        </p:nvSpPr>
        <p:spPr>
          <a:xfrm xmlns:a="http://schemas.openxmlformats.org/drawingml/2006/main">
            <a:off x="3162300" y="3419475"/>
            <a:ext cx="27432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33" name="">
            <a:extLst xmlns:a="http://schemas.openxmlformats.org/drawingml/2006/main">
              <a:ext uri="{FF2B5EF4-FFF2-40B4-BE49-F238E27FC236}">
                <a16:creationId xmlns:a16="http://schemas.microsoft.com/office/drawing/2014/main" id="{FFA863B3-90B4-4CCF-95F2-67F6263F9D3A}"/>
              </a:ext>
            </a:extLst>
          </p:cNvPr>
          <p:cNvSpPr>
            <a:spLocks xmlns:a="http://schemas.openxmlformats.org/drawingml/2006/main" noGrp="1"/>
          </p:cNvSpPr>
          <p:nvPr/>
        </p:nvSpPr>
        <p:spPr>
          <a:xfrm xmlns:a="http://schemas.openxmlformats.org/drawingml/2006/main">
            <a:off x="3276600" y="3533775"/>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≤2,048; usually 1,024 × 8</a:t>
            </a:r>
          </a:p>
        </p:txBody>
      </p:sp>
      <p:sp>
        <p:nvSpPr>
          <p:cNvPr id="34" name="">
            <a:extLst xmlns:a="http://schemas.openxmlformats.org/drawingml/2006/main">
              <a:ext uri="{FF2B5EF4-FFF2-40B4-BE49-F238E27FC236}">
                <a16:creationId xmlns:a16="http://schemas.microsoft.com/office/drawing/2014/main" id="{63CC7AF2-81CA-44CA-BB94-F65DAB2A7EE1}"/>
              </a:ext>
            </a:extLst>
          </p:cNvPr>
          <p:cNvSpPr>
            <a:spLocks xmlns:a="http://schemas.openxmlformats.org/drawingml/2006/main" noGrp="1"/>
          </p:cNvSpPr>
          <p:nvPr/>
        </p:nvSpPr>
        <p:spPr>
          <a:xfrm xmlns:a="http://schemas.openxmlformats.org/drawingml/2006/main">
            <a:off x="5905500" y="3419475"/>
            <a:ext cx="26670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35" name="">
            <a:extLst xmlns:a="http://schemas.openxmlformats.org/drawingml/2006/main">
              <a:ext uri="{FF2B5EF4-FFF2-40B4-BE49-F238E27FC236}">
                <a16:creationId xmlns:a16="http://schemas.microsoft.com/office/drawing/2014/main" id="{3B38ECD3-9669-4824-A679-425D3AF79601}"/>
              </a:ext>
            </a:extLst>
          </p:cNvPr>
          <p:cNvSpPr>
            <a:spLocks xmlns:a="http://schemas.openxmlformats.org/drawingml/2006/main" noGrp="1"/>
          </p:cNvSpPr>
          <p:nvPr/>
        </p:nvSpPr>
        <p:spPr>
          <a:xfrm xmlns:a="http://schemas.openxmlformats.org/drawingml/2006/main">
            <a:off x="6019800" y="3533775"/>
            <a:ext cx="2438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100k × 8</a:t>
            </a:r>
          </a:p>
        </p:txBody>
      </p:sp>
      <p:sp>
        <p:nvSpPr>
          <p:cNvPr id="36" name="">
            <a:extLst xmlns:a="http://schemas.openxmlformats.org/drawingml/2006/main">
              <a:ext uri="{FF2B5EF4-FFF2-40B4-BE49-F238E27FC236}">
                <a16:creationId xmlns:a16="http://schemas.microsoft.com/office/drawing/2014/main" id="{7B5F5DB0-71AF-4B1F-B397-B25D103F69DE}"/>
              </a:ext>
            </a:extLst>
          </p:cNvPr>
          <p:cNvSpPr>
            <a:spLocks xmlns:a="http://schemas.openxmlformats.org/drawingml/2006/main" noGrp="1"/>
          </p:cNvSpPr>
          <p:nvPr/>
        </p:nvSpPr>
        <p:spPr>
          <a:xfrm xmlns:a="http://schemas.openxmlformats.org/drawingml/2006/main">
            <a:off x="8572500" y="3419475"/>
            <a:ext cx="28194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37" name="">
            <a:extLst xmlns:a="http://schemas.openxmlformats.org/drawingml/2006/main">
              <a:ext uri="{FF2B5EF4-FFF2-40B4-BE49-F238E27FC236}">
                <a16:creationId xmlns:a16="http://schemas.microsoft.com/office/drawing/2014/main" id="{D0BCCD8C-4584-4599-81F7-740DED774EB1}"/>
              </a:ext>
            </a:extLst>
          </p:cNvPr>
          <p:cNvSpPr>
            <a:spLocks xmlns:a="http://schemas.openxmlformats.org/drawingml/2006/main" noGrp="1"/>
          </p:cNvSpPr>
          <p:nvPr/>
        </p:nvSpPr>
        <p:spPr>
          <a:xfrm xmlns:a="http://schemas.openxmlformats.org/drawingml/2006/main">
            <a:off x="8686800" y="3533775"/>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0 / 8 / 32 / 128 / 1k / 100k</a:t>
            </a:r>
          </a:p>
        </p:txBody>
      </p:sp>
      <p:sp>
        <p:nvSpPr>
          <p:cNvPr id="38" name="">
            <a:extLst xmlns:a="http://schemas.openxmlformats.org/drawingml/2006/main">
              <a:ext uri="{FF2B5EF4-FFF2-40B4-BE49-F238E27FC236}">
                <a16:creationId xmlns:a16="http://schemas.microsoft.com/office/drawing/2014/main" id="{7B98815F-DD8D-411D-B77C-3056BE075CB9}"/>
              </a:ext>
            </a:extLst>
          </p:cNvPr>
          <p:cNvSpPr>
            <a:spLocks xmlns:a="http://schemas.openxmlformats.org/drawingml/2006/main" noGrp="1"/>
          </p:cNvSpPr>
          <p:nvPr/>
        </p:nvSpPr>
        <p:spPr>
          <a:xfrm xmlns:a="http://schemas.openxmlformats.org/drawingml/2006/main">
            <a:off x="647700" y="4019550"/>
            <a:ext cx="2514600" cy="590550"/>
          </a:xfrm>
          <a:prstGeom xmlns:a="http://schemas.openxmlformats.org/drawingml/2006/main" prst="rect">
            <a:avLst/>
          </a:prstGeom>
          <a:solidFill xmlns:a="http://schemas.openxmlformats.org/drawingml/2006/main">
            <a:srgbClr val="FFFFFF"/>
          </a:solidFill>
          <a:ln xmlns:a="http://schemas.openxmlformats.org/drawingml/2006/main" w="6668">
            <a:solidFill>
              <a:srgbClr val="E6E8EC"/>
            </a:solidFill>
            <a:prstDash val="solid"/>
          </a:ln>
        </p:spPr>
      </p:sp>
      <p:sp>
        <p:nvSpPr>
          <p:cNvPr id="39" name="">
            <a:extLst xmlns:a="http://schemas.openxmlformats.org/drawingml/2006/main">
              <a:ext uri="{FF2B5EF4-FFF2-40B4-BE49-F238E27FC236}">
                <a16:creationId xmlns:a16="http://schemas.microsoft.com/office/drawing/2014/main" id="{972DEDD3-8884-4CD7-92E9-094D922F3C29}"/>
              </a:ext>
            </a:extLst>
          </p:cNvPr>
          <p:cNvSpPr>
            <a:spLocks xmlns:a="http://schemas.openxmlformats.org/drawingml/2006/main" noGrp="1"/>
          </p:cNvSpPr>
          <p:nvPr/>
        </p:nvSpPr>
        <p:spPr>
          <a:xfrm xmlns:a="http://schemas.openxmlformats.org/drawingml/2006/main">
            <a:off x="762000" y="4133850"/>
            <a:ext cx="2286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111318"/>
                </a:solidFill>
                <a:latin typeface="Helvetica Neue"/>
                <a:ea typeface="Helvetica Neue"/>
                <a:cs typeface="Helvetica Neue"/>
              </a:defRPr>
            </a:pPr>
            <a:r>
              <a:rPr sz="1125" b="1" i="0">
                <a:solidFill>
                  <a:srgbClr val="111318"/>
                </a:solidFill>
                <a:latin typeface="Helvetica Neue"/>
                <a:ea typeface="Helvetica Neue"/>
                <a:cs typeface="Helvetica Neue"/>
              </a:rPr>
              <a:t>Published benchmark</a:t>
            </a:r>
          </a:p>
        </p:txBody>
      </p:sp>
      <p:sp>
        <p:nvSpPr>
          <p:cNvPr id="40" name="">
            <a:extLst xmlns:a="http://schemas.openxmlformats.org/drawingml/2006/main">
              <a:ext uri="{FF2B5EF4-FFF2-40B4-BE49-F238E27FC236}">
                <a16:creationId xmlns:a16="http://schemas.microsoft.com/office/drawing/2014/main" id="{997ED636-DF20-4E1E-8D86-12ADC5632B25}"/>
              </a:ext>
            </a:extLst>
          </p:cNvPr>
          <p:cNvSpPr>
            <a:spLocks xmlns:a="http://schemas.openxmlformats.org/drawingml/2006/main" noGrp="1"/>
          </p:cNvSpPr>
          <p:nvPr/>
        </p:nvSpPr>
        <p:spPr>
          <a:xfrm xmlns:a="http://schemas.openxmlformats.org/drawingml/2006/main">
            <a:off x="3162300" y="4019550"/>
            <a:ext cx="2743200" cy="590550"/>
          </a:xfrm>
          <a:prstGeom xmlns:a="http://schemas.openxmlformats.org/drawingml/2006/main" prst="rect">
            <a:avLst/>
          </a:prstGeom>
          <a:solidFill xmlns:a="http://schemas.openxmlformats.org/drawingml/2006/main">
            <a:srgbClr val="FFFFFF"/>
          </a:solidFill>
          <a:ln xmlns:a="http://schemas.openxmlformats.org/drawingml/2006/main" w="6668">
            <a:solidFill>
              <a:srgbClr val="E6E8EC"/>
            </a:solidFill>
            <a:prstDash val="solid"/>
          </a:ln>
        </p:spPr>
      </p:sp>
      <p:sp>
        <p:nvSpPr>
          <p:cNvPr id="41" name="">
            <a:extLst xmlns:a="http://schemas.openxmlformats.org/drawingml/2006/main">
              <a:ext uri="{FF2B5EF4-FFF2-40B4-BE49-F238E27FC236}">
                <a16:creationId xmlns:a16="http://schemas.microsoft.com/office/drawing/2014/main" id="{6D949265-5649-4A9C-9064-C16DF96E6A8F}"/>
              </a:ext>
            </a:extLst>
          </p:cNvPr>
          <p:cNvSpPr>
            <a:spLocks xmlns:a="http://schemas.openxmlformats.org/drawingml/2006/main" noGrp="1"/>
          </p:cNvSpPr>
          <p:nvPr/>
        </p:nvSpPr>
        <p:spPr>
          <a:xfrm xmlns:a="http://schemas.openxmlformats.org/drawingml/2006/main">
            <a:off x="3276600" y="4133850"/>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24-task mixed suite</a:t>
            </a:r>
          </a:p>
        </p:txBody>
      </p:sp>
      <p:sp>
        <p:nvSpPr>
          <p:cNvPr id="42" name="">
            <a:extLst xmlns:a="http://schemas.openxmlformats.org/drawingml/2006/main">
              <a:ext uri="{FF2B5EF4-FFF2-40B4-BE49-F238E27FC236}">
                <a16:creationId xmlns:a16="http://schemas.microsoft.com/office/drawing/2014/main" id="{B01458B9-C597-4137-AAA1-79434FC46C91}"/>
              </a:ext>
            </a:extLst>
          </p:cNvPr>
          <p:cNvSpPr>
            <a:spLocks xmlns:a="http://schemas.openxmlformats.org/drawingml/2006/main" noGrp="1"/>
          </p:cNvSpPr>
          <p:nvPr/>
        </p:nvSpPr>
        <p:spPr>
          <a:xfrm xmlns:a="http://schemas.openxmlformats.org/drawingml/2006/main">
            <a:off x="5905500" y="4019550"/>
            <a:ext cx="2667000" cy="590550"/>
          </a:xfrm>
          <a:prstGeom xmlns:a="http://schemas.openxmlformats.org/drawingml/2006/main" prst="rect">
            <a:avLst/>
          </a:prstGeom>
          <a:solidFill xmlns:a="http://schemas.openxmlformats.org/drawingml/2006/main">
            <a:srgbClr val="FFFFFF"/>
          </a:solidFill>
          <a:ln xmlns:a="http://schemas.openxmlformats.org/drawingml/2006/main" w="6668">
            <a:solidFill>
              <a:srgbClr val="E6E8EC"/>
            </a:solidFill>
            <a:prstDash val="solid"/>
          </a:ln>
        </p:spPr>
      </p:sp>
      <p:sp>
        <p:nvSpPr>
          <p:cNvPr id="43" name="">
            <a:extLst xmlns:a="http://schemas.openxmlformats.org/drawingml/2006/main">
              <a:ext uri="{FF2B5EF4-FFF2-40B4-BE49-F238E27FC236}">
                <a16:creationId xmlns:a16="http://schemas.microsoft.com/office/drawing/2014/main" id="{7C41F378-1E2B-4A6D-85D8-2C445D44423F}"/>
              </a:ext>
            </a:extLst>
          </p:cNvPr>
          <p:cNvSpPr>
            <a:spLocks xmlns:a="http://schemas.openxmlformats.org/drawingml/2006/main" noGrp="1"/>
          </p:cNvSpPr>
          <p:nvPr/>
        </p:nvSpPr>
        <p:spPr>
          <a:xfrm xmlns:a="http://schemas.openxmlformats.org/drawingml/2006/main">
            <a:off x="6019800" y="4133850"/>
            <a:ext cx="2438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21 RelArena tasks</a:t>
            </a:r>
          </a:p>
        </p:txBody>
      </p:sp>
      <p:sp>
        <p:nvSpPr>
          <p:cNvPr id="44" name="">
            <a:extLst xmlns:a="http://schemas.openxmlformats.org/drawingml/2006/main">
              <a:ext uri="{FF2B5EF4-FFF2-40B4-BE49-F238E27FC236}">
                <a16:creationId xmlns:a16="http://schemas.microsoft.com/office/drawing/2014/main" id="{4012BB7C-2CF5-4B5D-ACB8-FB7057678A07}"/>
              </a:ext>
            </a:extLst>
          </p:cNvPr>
          <p:cNvSpPr>
            <a:spLocks xmlns:a="http://schemas.openxmlformats.org/drawingml/2006/main" noGrp="1"/>
          </p:cNvSpPr>
          <p:nvPr/>
        </p:nvSpPr>
        <p:spPr>
          <a:xfrm xmlns:a="http://schemas.openxmlformats.org/drawingml/2006/main">
            <a:off x="8572500" y="4019550"/>
            <a:ext cx="2819400" cy="590550"/>
          </a:xfrm>
          <a:prstGeom xmlns:a="http://schemas.openxmlformats.org/drawingml/2006/main" prst="rect">
            <a:avLst/>
          </a:prstGeom>
          <a:solidFill xmlns:a="http://schemas.openxmlformats.org/drawingml/2006/main">
            <a:srgbClr val="FFFFFF"/>
          </a:solidFill>
          <a:ln xmlns:a="http://schemas.openxmlformats.org/drawingml/2006/main" w="6668">
            <a:solidFill>
              <a:srgbClr val="E6E8EC"/>
            </a:solidFill>
            <a:prstDash val="solid"/>
          </a:ln>
        </p:spPr>
      </p:sp>
      <p:sp>
        <p:nvSpPr>
          <p:cNvPr id="45" name="">
            <a:extLst xmlns:a="http://schemas.openxmlformats.org/drawingml/2006/main">
              <a:ext uri="{FF2B5EF4-FFF2-40B4-BE49-F238E27FC236}">
                <a16:creationId xmlns:a16="http://schemas.microsoft.com/office/drawing/2014/main" id="{99439ADF-3CD3-48E3-BD8A-603ABD53CCF4}"/>
              </a:ext>
            </a:extLst>
          </p:cNvPr>
          <p:cNvSpPr>
            <a:spLocks xmlns:a="http://schemas.openxmlformats.org/drawingml/2006/main" noGrp="1"/>
          </p:cNvSpPr>
          <p:nvPr/>
        </p:nvSpPr>
        <p:spPr>
          <a:xfrm xmlns:a="http://schemas.openxmlformats.org/drawingml/2006/main">
            <a:off x="8686800" y="4133850"/>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RelArena + link / retrieval tasks</a:t>
            </a:r>
          </a:p>
        </p:txBody>
      </p:sp>
      <p:sp>
        <p:nvSpPr>
          <p:cNvPr id="46" name="">
            <a:extLst xmlns:a="http://schemas.openxmlformats.org/drawingml/2006/main">
              <a:ext uri="{FF2B5EF4-FFF2-40B4-BE49-F238E27FC236}">
                <a16:creationId xmlns:a16="http://schemas.microsoft.com/office/drawing/2014/main" id="{BE1C49F3-2818-439A-AA19-3F6B7424BE76}"/>
              </a:ext>
            </a:extLst>
          </p:cNvPr>
          <p:cNvSpPr>
            <a:spLocks xmlns:a="http://schemas.openxmlformats.org/drawingml/2006/main" noGrp="1"/>
          </p:cNvSpPr>
          <p:nvPr/>
        </p:nvSpPr>
        <p:spPr>
          <a:xfrm xmlns:a="http://schemas.openxmlformats.org/drawingml/2006/main">
            <a:off x="647700" y="4619625"/>
            <a:ext cx="25146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47" name="">
            <a:extLst xmlns:a="http://schemas.openxmlformats.org/drawingml/2006/main">
              <a:ext uri="{FF2B5EF4-FFF2-40B4-BE49-F238E27FC236}">
                <a16:creationId xmlns:a16="http://schemas.microsoft.com/office/drawing/2014/main" id="{BC7AEFEE-A644-4D67-9B37-2B946D714451}"/>
              </a:ext>
            </a:extLst>
          </p:cNvPr>
          <p:cNvSpPr>
            <a:spLocks xmlns:a="http://schemas.openxmlformats.org/drawingml/2006/main" noGrp="1"/>
          </p:cNvSpPr>
          <p:nvPr/>
        </p:nvSpPr>
        <p:spPr>
          <a:xfrm xmlns:a="http://schemas.openxmlformats.org/drawingml/2006/main">
            <a:off x="762000" y="4733925"/>
            <a:ext cx="2286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111318"/>
                </a:solidFill>
                <a:latin typeface="Helvetica Neue"/>
                <a:ea typeface="Helvetica Neue"/>
                <a:cs typeface="Helvetica Neue"/>
              </a:defRPr>
            </a:pPr>
            <a:r>
              <a:rPr sz="1125" b="1" i="0">
                <a:solidFill>
                  <a:srgbClr val="111318"/>
                </a:solidFill>
                <a:latin typeface="Helvetica Neue"/>
                <a:ea typeface="Helvetica Neue"/>
                <a:cs typeface="Helvetica Neue"/>
              </a:rPr>
              <a:t>Main bottleneck</a:t>
            </a:r>
          </a:p>
        </p:txBody>
      </p:sp>
      <p:sp>
        <p:nvSpPr>
          <p:cNvPr id="48" name="">
            <a:extLst xmlns:a="http://schemas.openxmlformats.org/drawingml/2006/main">
              <a:ext uri="{FF2B5EF4-FFF2-40B4-BE49-F238E27FC236}">
                <a16:creationId xmlns:a16="http://schemas.microsoft.com/office/drawing/2014/main" id="{4365BCBF-1C1E-43F0-8393-0C1970EFF9C4}"/>
              </a:ext>
            </a:extLst>
          </p:cNvPr>
          <p:cNvSpPr>
            <a:spLocks xmlns:a="http://schemas.openxmlformats.org/drawingml/2006/main" noGrp="1"/>
          </p:cNvSpPr>
          <p:nvPr/>
        </p:nvSpPr>
        <p:spPr>
          <a:xfrm xmlns:a="http://schemas.openxmlformats.org/drawingml/2006/main">
            <a:off x="3162300" y="4619625"/>
            <a:ext cx="27432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49" name="">
            <a:extLst xmlns:a="http://schemas.openxmlformats.org/drawingml/2006/main">
              <a:ext uri="{FF2B5EF4-FFF2-40B4-BE49-F238E27FC236}">
                <a16:creationId xmlns:a16="http://schemas.microsoft.com/office/drawing/2014/main" id="{F0A29B1B-EA60-430D-9488-6BD8FFE4FF2F}"/>
              </a:ext>
            </a:extLst>
          </p:cNvPr>
          <p:cNvSpPr>
            <a:spLocks xmlns:a="http://schemas.openxmlformats.org/drawingml/2006/main" noGrp="1"/>
          </p:cNvSpPr>
          <p:nvPr/>
        </p:nvSpPr>
        <p:spPr>
          <a:xfrm xmlns:a="http://schemas.openxmlformats.org/drawingml/2006/main">
            <a:off x="3276600" y="4733925"/>
            <a:ext cx="2514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reachable labels + prior</a:t>
            </a:r>
          </a:p>
        </p:txBody>
      </p:sp>
      <p:sp>
        <p:nvSpPr>
          <p:cNvPr id="50" name="">
            <a:extLst xmlns:a="http://schemas.openxmlformats.org/drawingml/2006/main">
              <a:ext uri="{FF2B5EF4-FFF2-40B4-BE49-F238E27FC236}">
                <a16:creationId xmlns:a16="http://schemas.microsoft.com/office/drawing/2014/main" id="{A5802FFD-9097-4025-9C4C-677A64BA6494}"/>
              </a:ext>
            </a:extLst>
          </p:cNvPr>
          <p:cNvSpPr>
            <a:spLocks xmlns:a="http://schemas.openxmlformats.org/drawingml/2006/main" noGrp="1"/>
          </p:cNvSpPr>
          <p:nvPr/>
        </p:nvSpPr>
        <p:spPr>
          <a:xfrm xmlns:a="http://schemas.openxmlformats.org/drawingml/2006/main">
            <a:off x="5905500" y="4619625"/>
            <a:ext cx="26670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51" name="">
            <a:extLst xmlns:a="http://schemas.openxmlformats.org/drawingml/2006/main">
              <a:ext uri="{FF2B5EF4-FFF2-40B4-BE49-F238E27FC236}">
                <a16:creationId xmlns:a16="http://schemas.microsoft.com/office/drawing/2014/main" id="{7AB59290-FB13-459C-B3EE-137973084E6F}"/>
              </a:ext>
            </a:extLst>
          </p:cNvPr>
          <p:cNvSpPr>
            <a:spLocks xmlns:a="http://schemas.openxmlformats.org/drawingml/2006/main" noGrp="1"/>
          </p:cNvSpPr>
          <p:nvPr/>
        </p:nvSpPr>
        <p:spPr>
          <a:xfrm xmlns:a="http://schemas.openxmlformats.org/drawingml/2006/main">
            <a:off x="6019800" y="4733925"/>
            <a:ext cx="2438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feature synthesis + context</a:t>
            </a:r>
          </a:p>
        </p:txBody>
      </p:sp>
      <p:sp>
        <p:nvSpPr>
          <p:cNvPr id="52" name="">
            <a:extLst xmlns:a="http://schemas.openxmlformats.org/drawingml/2006/main">
              <a:ext uri="{FF2B5EF4-FFF2-40B4-BE49-F238E27FC236}">
                <a16:creationId xmlns:a16="http://schemas.microsoft.com/office/drawing/2014/main" id="{E93635E4-4E45-479B-9ED1-36D79550267B}"/>
              </a:ext>
            </a:extLst>
          </p:cNvPr>
          <p:cNvSpPr>
            <a:spLocks xmlns:a="http://schemas.openxmlformats.org/drawingml/2006/main" noGrp="1"/>
          </p:cNvSpPr>
          <p:nvPr/>
        </p:nvSpPr>
        <p:spPr>
          <a:xfrm xmlns:a="http://schemas.openxmlformats.org/drawingml/2006/main">
            <a:off x="8572500" y="4619625"/>
            <a:ext cx="2819400" cy="590550"/>
          </a:xfrm>
          <a:prstGeom xmlns:a="http://schemas.openxmlformats.org/drawingml/2006/main" prst="rect">
            <a:avLst/>
          </a:prstGeom>
          <a:solidFill xmlns:a="http://schemas.openxmlformats.org/drawingml/2006/main">
            <a:srgbClr val="F6F7F9"/>
          </a:solidFill>
          <a:ln xmlns:a="http://schemas.openxmlformats.org/drawingml/2006/main" w="6668">
            <a:solidFill>
              <a:srgbClr val="E6E8EC"/>
            </a:solidFill>
            <a:prstDash val="solid"/>
          </a:ln>
        </p:spPr>
      </p:sp>
      <p:sp>
        <p:nvSpPr>
          <p:cNvPr id="53" name="">
            <a:extLst xmlns:a="http://schemas.openxmlformats.org/drawingml/2006/main">
              <a:ext uri="{FF2B5EF4-FFF2-40B4-BE49-F238E27FC236}">
                <a16:creationId xmlns:a16="http://schemas.microsoft.com/office/drawing/2014/main" id="{1871DDC2-1B72-43D7-BC1C-35DDEE8502F3}"/>
              </a:ext>
            </a:extLst>
          </p:cNvPr>
          <p:cNvSpPr>
            <a:spLocks xmlns:a="http://schemas.openxmlformats.org/drawingml/2006/main" noGrp="1"/>
          </p:cNvSpPr>
          <p:nvPr/>
        </p:nvSpPr>
        <p:spPr>
          <a:xfrm xmlns:a="http://schemas.openxmlformats.org/drawingml/2006/main">
            <a:off x="8686800" y="4733925"/>
            <a:ext cx="2590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i="0">
                <a:solidFill>
                  <a:srgbClr val="616873"/>
                </a:solidFill>
                <a:latin typeface="Helvetica Neue"/>
                <a:ea typeface="Helvetica Neue"/>
                <a:cs typeface="Helvetica Neue"/>
              </a:defRPr>
            </a:pPr>
            <a:r>
              <a:rPr sz="1125" b="0" i="0">
                <a:solidFill>
                  <a:srgbClr val="616873"/>
                </a:solidFill>
                <a:latin typeface="Helvetica Neue"/>
                <a:ea typeface="Helvetica Neue"/>
                <a:cs typeface="Helvetica Neue"/>
              </a:rPr>
              <a:t>wall-clock + memory + accuracy</a:t>
            </a:r>
          </a:p>
        </p:txBody>
      </p:sp>
      <p:sp>
        <p:nvSpPr>
          <p:cNvPr id="54" name="">
            <a:extLst xmlns:a="http://schemas.openxmlformats.org/drawingml/2006/main">
              <a:ext uri="{FF2B5EF4-FFF2-40B4-BE49-F238E27FC236}">
                <a16:creationId xmlns:a16="http://schemas.microsoft.com/office/drawing/2014/main" id="{A00F88F0-D291-4932-A684-62CE9E74DC0A}"/>
              </a:ext>
            </a:extLst>
          </p:cNvPr>
          <p:cNvSpPr>
            <a:spLocks xmlns:a="http://schemas.openxmlformats.org/drawingml/2006/main" noGrp="1"/>
          </p:cNvSpPr>
          <p:nvPr/>
        </p:nvSpPr>
        <p:spPr>
          <a:xfrm xmlns:a="http://schemas.openxmlformats.org/drawingml/2006/main">
            <a:off x="647700" y="5391150"/>
            <a:ext cx="10744200" cy="838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916E5EF0-3126-4A1D-BBEA-99F04912BCD8}"/>
              </a:ext>
            </a:extLst>
          </p:cNvPr>
          <p:cNvSpPr>
            <a:spLocks xmlns:a="http://schemas.openxmlformats.org/drawingml/2006/main" noGrp="1"/>
          </p:cNvSpPr>
          <p:nvPr/>
        </p:nvSpPr>
        <p:spPr>
          <a:xfrm xmlns:a="http://schemas.openxmlformats.org/drawingml/2006/main">
            <a:off x="876300" y="55816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6DCBF4"/>
                </a:solidFill>
                <a:latin typeface="Helvetica Neue"/>
                <a:ea typeface="Helvetica Neue"/>
                <a:cs typeface="Helvetica Neue"/>
              </a:defRPr>
            </a:pPr>
            <a:r>
              <a:rPr sz="1275" b="1" i="0">
                <a:solidFill>
                  <a:srgbClr val="6DCBF4"/>
                </a:solidFill>
                <a:latin typeface="Helvetica Neue"/>
                <a:ea typeface="Helvetica Neue"/>
                <a:cs typeface="Helvetica Neue"/>
              </a:rPr>
              <a:t>RelGT-FM hypothesis</a:t>
            </a:r>
          </a:p>
        </p:txBody>
      </p:sp>
      <p:sp>
        <p:nvSpPr>
          <p:cNvPr id="56" name="">
            <a:extLst xmlns:a="http://schemas.openxmlformats.org/drawingml/2006/main">
              <a:ext uri="{FF2B5EF4-FFF2-40B4-BE49-F238E27FC236}">
                <a16:creationId xmlns:a16="http://schemas.microsoft.com/office/drawing/2014/main" id="{7A963250-F703-4435-9C4A-BB343D0B502D}"/>
              </a:ext>
            </a:extLst>
          </p:cNvPr>
          <p:cNvSpPr>
            <a:spLocks xmlns:a="http://schemas.openxmlformats.org/drawingml/2006/main" noGrp="1"/>
          </p:cNvSpPr>
          <p:nvPr/>
        </p:nvSpPr>
        <p:spPr>
          <a:xfrm xmlns:a="http://schemas.openxmlformats.org/drawingml/2006/main">
            <a:off x="2762250" y="5543550"/>
            <a:ext cx="4324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16"/>
          </a:bodyPr>
          <a:lstStyle xmlns:a="http://schemas.openxmlformats.org/drawingml/2006/main"/>
          <a:p xmlns:a="http://schemas.openxmlformats.org/drawingml/2006/main">
            <a:pPr algn="l">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Learned graph encoder → normalization → batch ICL</a:t>
            </a:r>
          </a:p>
        </p:txBody>
      </p:sp>
      <p:sp>
        <p:nvSpPr>
          <p:cNvPr id="57" name="">
            <a:extLst xmlns:a="http://schemas.openxmlformats.org/drawingml/2006/main">
              <a:ext uri="{FF2B5EF4-FFF2-40B4-BE49-F238E27FC236}">
                <a16:creationId xmlns:a16="http://schemas.microsoft.com/office/drawing/2014/main" id="{2619841A-B2F6-4973-B9EA-DA561F987EE5}"/>
              </a:ext>
            </a:extLst>
          </p:cNvPr>
          <p:cNvSpPr>
            <a:spLocks xmlns:a="http://schemas.openxmlformats.org/drawingml/2006/main" noGrp="1"/>
          </p:cNvSpPr>
          <p:nvPr/>
        </p:nvSpPr>
        <p:spPr>
          <a:xfrm xmlns:a="http://schemas.openxmlformats.org/drawingml/2006/main">
            <a:off x="2762250" y="5876925"/>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B8BCC4"/>
                </a:solidFill>
                <a:latin typeface="Helvetica Neue"/>
                <a:ea typeface="Helvetica Neue"/>
                <a:cs typeface="Helvetica Neue"/>
              </a:defRPr>
            </a:pPr>
            <a:r>
              <a:rPr sz="1275" b="0" i="0">
                <a:solidFill>
                  <a:srgbClr val="B8BCC4"/>
                </a:solidFill>
                <a:latin typeface="Helvetica Neue"/>
                <a:ea typeface="Helvetica Neue"/>
                <a:cs typeface="Helvetica Neue"/>
              </a:rPr>
              <a:t>+ optional cheap DFS residual branch</a:t>
            </a:r>
          </a:p>
        </p:txBody>
      </p:sp>
      <p:sp>
        <p:nvSpPr>
          <p:cNvPr id="58" name="">
            <a:extLst xmlns:a="http://schemas.openxmlformats.org/drawingml/2006/main">
              <a:ext uri="{FF2B5EF4-FFF2-40B4-BE49-F238E27FC236}">
                <a16:creationId xmlns:a16="http://schemas.microsoft.com/office/drawing/2014/main" id="{237D1C2B-3AB6-424D-8A77-E25D3367A00A}"/>
              </a:ext>
            </a:extLst>
          </p:cNvPr>
          <p:cNvSpPr>
            <a:spLocks xmlns:a="http://schemas.openxmlformats.org/drawingml/2006/main" noGrp="1"/>
          </p:cNvSpPr>
          <p:nvPr/>
        </p:nvSpPr>
        <p:spPr>
          <a:xfrm xmlns:a="http://schemas.openxmlformats.org/drawingml/2006/main">
            <a:off x="7448550" y="5581650"/>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68"/>
          </a:bodyPr>
          <a:lstStyle xmlns:a="http://schemas.openxmlformats.org/drawingml/2006/main"/>
          <a:p xmlns:a="http://schemas.openxmlformats.org/drawingml/2006/main">
            <a:pPr algn="l">
              <a:defRPr sz="1275" b="1" i="0">
                <a:solidFill>
                  <a:srgbClr val="B76591"/>
                </a:solidFill>
                <a:latin typeface="Helvetica Neue"/>
                <a:ea typeface="Helvetica Neue"/>
                <a:cs typeface="Helvetica Neue"/>
              </a:defRPr>
            </a:pPr>
            <a:r>
              <a:rPr sz="1275" b="1" i="0">
                <a:solidFill>
                  <a:srgbClr val="B76591"/>
                </a:solidFill>
                <a:latin typeface="Helvetica Neue"/>
                <a:ea typeface="Helvetica Neue"/>
                <a:cs typeface="Helvetica Neue"/>
              </a:rPr>
              <a:t>Testable prediction</a:t>
            </a:r>
          </a:p>
        </p:txBody>
      </p:sp>
      <p:sp>
        <p:nvSpPr>
          <p:cNvPr id="59" name="">
            <a:extLst xmlns:a="http://schemas.openxmlformats.org/drawingml/2006/main">
              <a:ext uri="{FF2B5EF4-FFF2-40B4-BE49-F238E27FC236}">
                <a16:creationId xmlns:a16="http://schemas.microsoft.com/office/drawing/2014/main" id="{F9ECAE0A-4722-4A4B-8D64-72B5A7DD23F4}"/>
              </a:ext>
            </a:extLst>
          </p:cNvPr>
          <p:cNvSpPr>
            <a:spLocks xmlns:a="http://schemas.openxmlformats.org/drawingml/2006/main" noGrp="1"/>
          </p:cNvSpPr>
          <p:nvPr/>
        </p:nvSpPr>
        <p:spPr>
          <a:xfrm xmlns:a="http://schemas.openxmlformats.org/drawingml/2006/main">
            <a:off x="8915400" y="5524500"/>
            <a:ext cx="2266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1703"/>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OpenRFM-like models should win at low labels and on topology-dependent tasks; TabPFN-Rel should remain formidable when aggregates + abundant labels suffice.</a:t>
            </a:r>
          </a:p>
        </p:txBody>
      </p:sp>
      <p:sp>
        <p:nvSpPr>
          <p:cNvPr id="60" name="">
            <a:extLst xmlns:a="http://schemas.openxmlformats.org/drawingml/2006/main">
              <a:ext uri="{FF2B5EF4-FFF2-40B4-BE49-F238E27FC236}">
                <a16:creationId xmlns:a16="http://schemas.microsoft.com/office/drawing/2014/main" id="{4DD6C64E-9954-4E54-8078-0A3EA2E2AF60}"/>
              </a:ext>
            </a:extLst>
          </p:cNvPr>
          <p:cNvSpPr>
            <a:spLocks xmlns:a="http://schemas.openxmlformats.org/drawingml/2006/main" noGrp="1"/>
          </p:cNvSpPr>
          <p:nvPr/>
        </p:nvSpPr>
        <p:spPr>
          <a:xfrm xmlns:a="http://schemas.openxmlformats.org/drawingml/2006/main">
            <a:off x="647700" y="6419850"/>
            <a:ext cx="8096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B8BCC4"/>
                </a:solidFill>
                <a:latin typeface="Helvetica Neue"/>
                <a:ea typeface="Helvetica Neue"/>
                <a:cs typeface="Helvetica Neue"/>
              </a:defRPr>
            </a:pPr>
            <a:r>
              <a:rPr sz="900" b="0" i="0">
                <a:solidFill>
                  <a:srgbClr val="B8BCC4"/>
                </a:solidFill>
                <a:latin typeface="Helvetica Neue"/>
                <a:ea typeface="Helvetica Neue"/>
                <a:cs typeface="Helvetica Neue"/>
              </a:rPr>
              <a:t>Sources and methodological caveats are in speaker notes</a:t>
            </a:r>
          </a:p>
        </p:txBody>
      </p:sp>
    </p:spTree>
    <p:extLst>
      <p:ext uri="{BB962C8B-B14F-4D97-AF65-F5344CB8AC3E}">
        <p14:creationId xmlns:p14="http://schemas.microsoft.com/office/powerpoint/2010/main" val="1460839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2026-08-21T05:12:28.4200000Z</dcterms:created>
  <dcterms:modified xsi:type="dcterms:W3CDTF">2026-08-21T05:12:28.4200000Z</dcterms:modified>
</coreProperties>
</file>